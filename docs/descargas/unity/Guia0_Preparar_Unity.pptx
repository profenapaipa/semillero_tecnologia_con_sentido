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Hola. Antes de programar una sola línea vamos a dejar el computador listo. Parece un paso aburrido, pero casi todos los problemas que tuvimos en agosto y septiembre vinieron de aquí: una versión distinta de Unity, un editor de código que no conectaba y un proyecto guardado en OneDrive. Son cinco pasos. Al final vas a ver un mensaje verde que dice Kit listo. Si lo ves, ya no vuelves a hacer esta guía en ese computador.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En el semillero todos usamos la misma versión: 2019.4.38f1. Fíjense en los últimos números, porque ahí está la trampa. En una ficha técnica apareció 2019.4.41f1. Se parecen, pero no son la misma, y si un proyecto se abre con la otra, Unity lo convierte y ya no hay vuelta atrás. Abran Unity Hub, vayan a Installs y miren qué versiones tienen. Muéstrenme la pantalla.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versión ya está instalada en la sala, así que aquí solo revisamos que tenga dos complementos, que Unity llama módulos. Installs, los tres puntos de la tarjeta, Add modules. Marquen Visual Studio, para escribir código, y WebGL, para que al final el juego se pueda jugar en la página del semillero. Si en algún computador no aparece la versión, la dirección del recuadro naranja la instala directo, sin buscarla.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Ahora creamos el proyecto, una sola vez. Lo importante es dónde se guarda. En una foto de septiembre el proyecto estaba en OneDrive y se llamaba My project 7: eso quiere decir que cada clase se creaba uno nuevo y se perdía lo anterior. OneDrive además intenta subir los archivos mientras Unity los está escribiendo, y eso daña el proyecto. Guárdenlo en C:\Unity. Y la próxima vez lo abren desde Projects, nunca creando otro.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Esto ya lo vieron en el tutorial de interfaz, así que es un repaso con una sola idea nueva. Las cinco zonas: Hierarchy, Scene y Game, Inspector, Project y Console. La idea nueva: la Console no es decorativa. Si ahí hay un mensaje rojo, el botón Play no funciona. Y un error muy común: cambiar cosas mientras el juego está en Play. Todo lo que cambien en Play se pierde al detenerlo. Por eso el botón se pone de otro color: es la alarma.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Unity no escribe el código: lo escribimos en otro programa. En agosto intentaron con VS Code y salió este error de .NET. No es culpa de ustedes: esa extensión es para versiones de Unity más nuevas. Usen Visual Studio Community, que se instaló en el paso 1. Edit, Preferences, External Tools, y eligen Visual Studio. Para comprobarlo abren un script y escriben transform punto: si salen sugerencias, quedó conectado.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kit son las piezas que les preparé: scripts, imágenes y sonidos. Viene en un solo archivo terminado en unitypackage. Assets, Import Package, Custom Package, lo eligen y Import, sin desmarcar nada. Luego abren la escena de prueba y le dan Play. Si sale Kit listo en verde, todo está bien: la versión, el kit y que no haya errores. Ese verde es lo que les voy a pedir que me muestren antes de seguir.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Tarde o temprano la consola se pone roja, y no es grave si saben leerla. El mensaje tiene cuatro partes: el archivo, la línea, la columna y qué no entendió. Este es real, de agosto: la línea 23 quedó a medias. Doble clic en el error y Visual Studio abre justo ahí. Miren esa línea y la de arriba: casi siempre falta un punto y coma o una llave. Guardan con Control S, vuelven a Unity y la consola se actualiza sola.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Antes de irse revisen las cinco casillas. La última es la evidencia: una captura del letrero verde en la carpeta del equipo, con el nombre Fase0_listo. Con eso sé que el computador quedó listo y el 28 arrancamos directo con el juego.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extBox 2"/>
          <p:cNvSpPr txBox="1"/>
          <p:nvPr/>
        </p:nvSpPr>
        <p:spPr>
          <a:xfrm>
            <a:off x="548640" y="1417320"/>
            <a:ext cx="6583680" cy="365760"/>
          </a:xfrm>
          <a:prstGeom prst="rect">
            <a:avLst/>
          </a:prstGeom>
          <a:noFill/>
        </p:spPr>
        <p:txBody>
          <a:bodyPr wrap="square" lIns="0" rIns="0" tIns="0" bIns="0" anchor="t">
            <a:spAutoFit/>
          </a:bodyPr>
          <a:lstStyle/>
          <a:p>
            <a:pPr algn="l">
              <a:spcAft>
                <a:spcPts val="600"/>
              </a:spcAft>
            </a:pPr>
            <a:r>
              <a:rPr sz="1400" b="1" i="0">
                <a:solidFill>
                  <a:srgbClr val="C59BFF"/>
                </a:solidFill>
                <a:latin typeface="Calibri"/>
              </a:rPr>
              <a:t>GUÍA 0  ·  ANTES DE PROGRAMAR</a:t>
            </a:r>
          </a:p>
        </p:txBody>
      </p:sp>
      <p:sp>
        <p:nvSpPr>
          <p:cNvPr id="4" name="Título"/>
          <p:cNvSpPr txBox="1"/>
          <p:nvPr/>
        </p:nvSpPr>
        <p:spPr>
          <a:xfrm>
            <a:off x="548640" y="1874519"/>
            <a:ext cx="6400800" cy="2011680"/>
          </a:xfrm>
          <a:prstGeom prst="rect">
            <a:avLst/>
          </a:prstGeom>
          <a:noFill/>
        </p:spPr>
        <p:txBody>
          <a:bodyPr wrap="square" lIns="0" rIns="0" tIns="0" bIns="0" anchor="t">
            <a:spAutoFit/>
          </a:bodyPr>
          <a:lstStyle/>
          <a:p>
            <a:pPr algn="l">
              <a:spcAft>
                <a:spcPts val="600"/>
              </a:spcAft>
            </a:pPr>
            <a:r>
              <a:rPr sz="4400" b="1" i="0">
                <a:solidFill>
                  <a:srgbClr val="E9EEFB"/>
                </a:solidFill>
                <a:latin typeface="Cambria"/>
              </a:rPr>
              <a:t>Preparar Unity para que nada se rompa</a:t>
            </a:r>
          </a:p>
        </p:txBody>
      </p:sp>
      <p:sp>
        <p:nvSpPr>
          <p:cNvPr id="5" name="TextBox 4"/>
          <p:cNvSpPr txBox="1"/>
          <p:nvPr/>
        </p:nvSpPr>
        <p:spPr>
          <a:xfrm>
            <a:off x="548640" y="3977639"/>
            <a:ext cx="6400800" cy="822960"/>
          </a:xfrm>
          <a:prstGeom prst="rect">
            <a:avLst/>
          </a:prstGeom>
          <a:noFill/>
        </p:spPr>
        <p:txBody>
          <a:bodyPr wrap="square" lIns="0" rIns="0" tIns="0" bIns="0" anchor="t">
            <a:spAutoFit/>
          </a:bodyPr>
          <a:lstStyle/>
          <a:p>
            <a:pPr algn="l">
              <a:spcAft>
                <a:spcPts val="600"/>
              </a:spcAft>
            </a:pPr>
            <a:r>
              <a:rPr sz="1600" b="0" i="0">
                <a:solidFill>
                  <a:srgbClr val="94A4C6"/>
                </a:solidFill>
                <a:latin typeface="Calibri"/>
              </a:rPr>
              <a:t>Unity 2019.4.38f1  ·  Equipo 10, motricidad y coordinación</a:t>
            </a:r>
          </a:p>
          <a:p>
            <a:pPr algn="l">
              <a:spcAft>
                <a:spcPts val="600"/>
              </a:spcAft>
            </a:pPr>
            <a:r>
              <a:rPr sz="1600" b="0" i="0">
                <a:solidFill>
                  <a:srgbClr val="94A4C6"/>
                </a:solidFill>
                <a:latin typeface="Calibri"/>
              </a:rPr>
              <a:t>Se hace una sola vez por computador. Tiempo: 45 minutos.</a:t>
            </a:r>
          </a:p>
        </p:txBody>
      </p:sp>
      <p:sp>
        <p:nvSpPr>
          <p:cNvPr id="6" name="Rounded Rectangle 5"/>
          <p:cNvSpPr/>
          <p:nvPr/>
        </p:nvSpPr>
        <p:spPr>
          <a:xfrm>
            <a:off x="7498079" y="1417320"/>
            <a:ext cx="4160520" cy="4206240"/>
          </a:xfrm>
          <a:prstGeom prst="roundRect">
            <a:avLst>
              <a:gd name="adj" fmla="val 5000"/>
            </a:avLst>
          </a:prstGeom>
          <a:solidFill>
            <a:srgbClr val="141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0" y="1645920"/>
            <a:ext cx="3657600" cy="365760"/>
          </a:xfrm>
          <a:prstGeom prst="rect">
            <a:avLst/>
          </a:prstGeom>
          <a:noFill/>
        </p:spPr>
        <p:txBody>
          <a:bodyPr wrap="square" lIns="0" rIns="0" tIns="0" bIns="0" anchor="t">
            <a:spAutoFit/>
          </a:bodyPr>
          <a:lstStyle/>
          <a:p>
            <a:pPr algn="l">
              <a:spcAft>
                <a:spcPts val="600"/>
              </a:spcAft>
            </a:pPr>
            <a:r>
              <a:rPr sz="1800" b="1" i="0">
                <a:solidFill>
                  <a:srgbClr val="E9EEFB"/>
                </a:solidFill>
                <a:latin typeface="Calibri"/>
              </a:rPr>
              <a:t>Al terminar tienes</a:t>
            </a:r>
          </a:p>
        </p:txBody>
      </p:sp>
      <p:sp>
        <p:nvSpPr>
          <p:cNvPr id="8" name="Oval 7"/>
          <p:cNvSpPr/>
          <p:nvPr/>
        </p:nvSpPr>
        <p:spPr>
          <a:xfrm>
            <a:off x="7772400" y="2240280"/>
            <a:ext cx="384048" cy="384048"/>
          </a:xfrm>
          <a:prstGeom prst="ellipse">
            <a:avLst/>
          </a:prstGeom>
          <a:solidFill>
            <a:srgbClr val="C59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70B18"/>
                </a:solidFill>
                <a:latin typeface="Calibri"/>
              </a:rPr>
              <a:t>1</a:t>
            </a:r>
          </a:p>
        </p:txBody>
      </p:sp>
      <p:sp>
        <p:nvSpPr>
          <p:cNvPr id="9" name="TextBox 8"/>
          <p:cNvSpPr txBox="1"/>
          <p:nvPr/>
        </p:nvSpPr>
        <p:spPr>
          <a:xfrm>
            <a:off x="8321040" y="2286000"/>
            <a:ext cx="3154680" cy="640080"/>
          </a:xfrm>
          <a:prstGeom prst="rect">
            <a:avLst/>
          </a:prstGeom>
          <a:noFill/>
        </p:spPr>
        <p:txBody>
          <a:bodyPr wrap="square" lIns="0" rIns="0" tIns="0" bIns="0" anchor="t">
            <a:spAutoFit/>
          </a:bodyPr>
          <a:lstStyle/>
          <a:p>
            <a:pPr algn="l">
              <a:spcAft>
                <a:spcPts val="600"/>
              </a:spcAft>
            </a:pPr>
            <a:r>
              <a:rPr sz="1600" b="0" i="0">
                <a:solidFill>
                  <a:srgbClr val="E9EEFB"/>
                </a:solidFill>
                <a:latin typeface="Calibri"/>
              </a:rPr>
              <a:t>La versión correcta, con sus módulos</a:t>
            </a:r>
          </a:p>
        </p:txBody>
      </p:sp>
      <p:sp>
        <p:nvSpPr>
          <p:cNvPr id="10" name="Oval 9"/>
          <p:cNvSpPr/>
          <p:nvPr/>
        </p:nvSpPr>
        <p:spPr>
          <a:xfrm>
            <a:off x="7772400" y="3044952"/>
            <a:ext cx="384048" cy="384048"/>
          </a:xfrm>
          <a:prstGeom prst="ellipse">
            <a:avLst/>
          </a:prstGeom>
          <a:solidFill>
            <a:srgbClr val="C59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70B18"/>
                </a:solidFill>
                <a:latin typeface="Calibri"/>
              </a:rPr>
              <a:t>2</a:t>
            </a:r>
          </a:p>
        </p:txBody>
      </p:sp>
      <p:sp>
        <p:nvSpPr>
          <p:cNvPr id="11" name="TextBox 10"/>
          <p:cNvSpPr txBox="1"/>
          <p:nvPr/>
        </p:nvSpPr>
        <p:spPr>
          <a:xfrm>
            <a:off x="8321040" y="3090672"/>
            <a:ext cx="3154680" cy="640080"/>
          </a:xfrm>
          <a:prstGeom prst="rect">
            <a:avLst/>
          </a:prstGeom>
          <a:noFill/>
        </p:spPr>
        <p:txBody>
          <a:bodyPr wrap="square" lIns="0" rIns="0" tIns="0" bIns="0" anchor="t">
            <a:spAutoFit/>
          </a:bodyPr>
          <a:lstStyle/>
          <a:p>
            <a:pPr algn="l">
              <a:spcAft>
                <a:spcPts val="600"/>
              </a:spcAft>
            </a:pPr>
            <a:r>
              <a:rPr sz="1600" b="0" i="0">
                <a:solidFill>
                  <a:srgbClr val="E9EEFB"/>
                </a:solidFill>
                <a:latin typeface="Calibri"/>
              </a:rPr>
              <a:t>Un proyecto 2D en una carpeta segura</a:t>
            </a:r>
          </a:p>
        </p:txBody>
      </p:sp>
      <p:sp>
        <p:nvSpPr>
          <p:cNvPr id="12" name="Oval 11"/>
          <p:cNvSpPr/>
          <p:nvPr/>
        </p:nvSpPr>
        <p:spPr>
          <a:xfrm>
            <a:off x="7772400" y="3849624"/>
            <a:ext cx="384048" cy="384048"/>
          </a:xfrm>
          <a:prstGeom prst="ellipse">
            <a:avLst/>
          </a:prstGeom>
          <a:solidFill>
            <a:srgbClr val="C59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70B18"/>
                </a:solidFill>
                <a:latin typeface="Calibri"/>
              </a:rPr>
              <a:t>3</a:t>
            </a:r>
          </a:p>
        </p:txBody>
      </p:sp>
      <p:sp>
        <p:nvSpPr>
          <p:cNvPr id="13" name="TextBox 12"/>
          <p:cNvSpPr txBox="1"/>
          <p:nvPr/>
        </p:nvSpPr>
        <p:spPr>
          <a:xfrm>
            <a:off x="8321040" y="3895344"/>
            <a:ext cx="3154680" cy="640080"/>
          </a:xfrm>
          <a:prstGeom prst="rect">
            <a:avLst/>
          </a:prstGeom>
          <a:noFill/>
        </p:spPr>
        <p:txBody>
          <a:bodyPr wrap="square" lIns="0" rIns="0" tIns="0" bIns="0" anchor="t">
            <a:spAutoFit/>
          </a:bodyPr>
          <a:lstStyle/>
          <a:p>
            <a:pPr algn="l">
              <a:spcAft>
                <a:spcPts val="600"/>
              </a:spcAft>
            </a:pPr>
            <a:r>
              <a:rPr sz="1600" b="0" i="0">
                <a:solidFill>
                  <a:srgbClr val="E9EEFB"/>
                </a:solidFill>
                <a:latin typeface="Calibri"/>
              </a:rPr>
              <a:t>Visual Studio conectado a Unity</a:t>
            </a:r>
          </a:p>
        </p:txBody>
      </p:sp>
      <p:sp>
        <p:nvSpPr>
          <p:cNvPr id="14" name="Oval 13"/>
          <p:cNvSpPr/>
          <p:nvPr/>
        </p:nvSpPr>
        <p:spPr>
          <a:xfrm>
            <a:off x="7772400" y="4654296"/>
            <a:ext cx="384048" cy="384048"/>
          </a:xfrm>
          <a:prstGeom prst="ellipse">
            <a:avLst/>
          </a:prstGeom>
          <a:solidFill>
            <a:srgbClr val="C59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70B18"/>
                </a:solidFill>
                <a:latin typeface="Calibri"/>
              </a:rPr>
              <a:t>4</a:t>
            </a:r>
          </a:p>
        </p:txBody>
      </p:sp>
      <p:sp>
        <p:nvSpPr>
          <p:cNvPr id="15" name="TextBox 14"/>
          <p:cNvSpPr txBox="1"/>
          <p:nvPr/>
        </p:nvSpPr>
        <p:spPr>
          <a:xfrm>
            <a:off x="8321040" y="4700016"/>
            <a:ext cx="3154680" cy="640080"/>
          </a:xfrm>
          <a:prstGeom prst="rect">
            <a:avLst/>
          </a:prstGeom>
          <a:noFill/>
        </p:spPr>
        <p:txBody>
          <a:bodyPr wrap="square" lIns="0" rIns="0" tIns="0" bIns="0" anchor="t">
            <a:spAutoFit/>
          </a:bodyPr>
          <a:lstStyle/>
          <a:p>
            <a:pPr algn="l">
              <a:spcAft>
                <a:spcPts val="600"/>
              </a:spcAft>
            </a:pPr>
            <a:r>
              <a:rPr sz="1600" b="0" i="0">
                <a:solidFill>
                  <a:srgbClr val="E9EEFB"/>
                </a:solidFill>
                <a:latin typeface="Calibri"/>
              </a:rPr>
              <a:t>El kit importado y la prueba en verde</a:t>
            </a:r>
          </a:p>
        </p:txBody>
      </p:sp>
      <p:sp>
        <p:nvSpPr>
          <p:cNvPr id="16"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0 · Preparar Unity  ·  1 de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Todos con la misma versión: 2019.4.38f1</a:t>
            </a:r>
          </a:p>
        </p:txBody>
      </p:sp>
      <p:sp>
        <p:nvSpPr>
          <p:cNvPr id="4" name="Rounded Rectangle 3"/>
          <p:cNvSpPr/>
          <p:nvPr/>
        </p:nvSpPr>
        <p:spPr>
          <a:xfrm>
            <a:off x="548640" y="1600200"/>
            <a:ext cx="5486400" cy="192024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5029200" cy="365760"/>
          </a:xfrm>
          <a:prstGeom prst="rect">
            <a:avLst/>
          </a:prstGeom>
          <a:noFill/>
        </p:spPr>
        <p:txBody>
          <a:bodyPr wrap="square" lIns="0" rIns="0" tIns="0" bIns="0" anchor="t">
            <a:spAutoFit/>
          </a:bodyPr>
          <a:lstStyle/>
          <a:p>
            <a:pPr algn="l">
              <a:spcAft>
                <a:spcPts val="600"/>
              </a:spcAft>
            </a:pPr>
            <a:r>
              <a:rPr sz="1300" b="1" i="0">
                <a:solidFill>
                  <a:srgbClr val="097A41"/>
                </a:solidFill>
                <a:latin typeface="Calibri"/>
              </a:rPr>
              <a:t>✓  LA DEL SEMILLERO</a:t>
            </a:r>
          </a:p>
        </p:txBody>
      </p:sp>
      <p:sp>
        <p:nvSpPr>
          <p:cNvPr id="6" name="TextBox 5"/>
          <p:cNvSpPr txBox="1"/>
          <p:nvPr/>
        </p:nvSpPr>
        <p:spPr>
          <a:xfrm>
            <a:off x="822960" y="2148840"/>
            <a:ext cx="5029200" cy="822960"/>
          </a:xfrm>
          <a:prstGeom prst="rect">
            <a:avLst/>
          </a:prstGeom>
          <a:noFill/>
        </p:spPr>
        <p:txBody>
          <a:bodyPr wrap="square" lIns="0" rIns="0" tIns="0" bIns="0" anchor="t">
            <a:spAutoFit/>
          </a:bodyPr>
          <a:lstStyle/>
          <a:p>
            <a:pPr algn="l">
              <a:spcAft>
                <a:spcPts val="600"/>
              </a:spcAft>
            </a:pPr>
            <a:r>
              <a:rPr sz="5400" b="1" i="0">
                <a:solidFill>
                  <a:srgbClr val="0A0E1A"/>
                </a:solidFill>
                <a:latin typeface="Cambria"/>
              </a:rPr>
              <a:t>2019.4.38f1</a:t>
            </a:r>
          </a:p>
        </p:txBody>
      </p:sp>
      <p:sp>
        <p:nvSpPr>
          <p:cNvPr id="7" name="TextBox 6"/>
          <p:cNvSpPr txBox="1"/>
          <p:nvPr/>
        </p:nvSpPr>
        <p:spPr>
          <a:xfrm>
            <a:off x="822960" y="3017520"/>
            <a:ext cx="5029200" cy="365760"/>
          </a:xfrm>
          <a:prstGeom prst="rect">
            <a:avLst/>
          </a:prstGeom>
          <a:noFill/>
        </p:spPr>
        <p:txBody>
          <a:bodyPr wrap="square" lIns="0" rIns="0" tIns="0" bIns="0" anchor="t">
            <a:spAutoFit/>
          </a:bodyPr>
          <a:lstStyle/>
          <a:p>
            <a:pPr algn="l">
              <a:spcAft>
                <a:spcPts val="600"/>
              </a:spcAft>
            </a:pPr>
            <a:r>
              <a:rPr sz="1500" b="0" i="0">
                <a:solidFill>
                  <a:srgbClr val="4F5C75"/>
                </a:solidFill>
                <a:latin typeface="Calibri"/>
              </a:rPr>
              <a:t>Con esta se probaron todos los scripts del kit.</a:t>
            </a:r>
          </a:p>
        </p:txBody>
      </p:sp>
      <p:sp>
        <p:nvSpPr>
          <p:cNvPr id="8" name="Rounded Rectangle 7"/>
          <p:cNvSpPr/>
          <p:nvPr/>
        </p:nvSpPr>
        <p:spPr>
          <a:xfrm>
            <a:off x="548640" y="3703320"/>
            <a:ext cx="5486400" cy="141732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3858768"/>
            <a:ext cx="5029200" cy="365760"/>
          </a:xfrm>
          <a:prstGeom prst="rect">
            <a:avLst/>
          </a:prstGeom>
          <a:noFill/>
        </p:spPr>
        <p:txBody>
          <a:bodyPr wrap="square" lIns="0" rIns="0" tIns="0" bIns="0" anchor="t">
            <a:spAutoFit/>
          </a:bodyPr>
          <a:lstStyle/>
          <a:p>
            <a:pPr algn="l">
              <a:spcAft>
                <a:spcPts val="600"/>
              </a:spcAft>
            </a:pPr>
            <a:r>
              <a:rPr sz="1300" b="1" i="0">
                <a:solidFill>
                  <a:srgbClr val="B3261E"/>
                </a:solidFill>
                <a:latin typeface="Calibri"/>
              </a:rPr>
              <a:t>✗  LA QUE APARECIÓ EN UNA FICHA TÉCNICA</a:t>
            </a:r>
          </a:p>
        </p:txBody>
      </p:sp>
      <p:sp>
        <p:nvSpPr>
          <p:cNvPr id="10" name="TextBox 9"/>
          <p:cNvSpPr txBox="1"/>
          <p:nvPr/>
        </p:nvSpPr>
        <p:spPr>
          <a:xfrm>
            <a:off x="822960" y="4206240"/>
            <a:ext cx="5029200" cy="731520"/>
          </a:xfrm>
          <a:prstGeom prst="rect">
            <a:avLst/>
          </a:prstGeom>
          <a:noFill/>
        </p:spPr>
        <p:txBody>
          <a:bodyPr wrap="square" lIns="0" rIns="0" tIns="0" bIns="0" anchor="t">
            <a:spAutoFit/>
          </a:bodyPr>
          <a:lstStyle/>
          <a:p>
            <a:pPr algn="l">
              <a:spcAft>
                <a:spcPts val="600"/>
              </a:spcAft>
            </a:pPr>
            <a:r>
              <a:rPr sz="3400" b="1" i="0">
                <a:solidFill>
                  <a:srgbClr val="B3261E"/>
                </a:solidFill>
                <a:latin typeface="Cambria"/>
              </a:rPr>
              <a:t>2019.4.41f1</a:t>
            </a:r>
          </a:p>
        </p:txBody>
      </p:sp>
      <p:sp>
        <p:nvSpPr>
          <p:cNvPr id="11" name="TextBox 10"/>
          <p:cNvSpPr txBox="1"/>
          <p:nvPr/>
        </p:nvSpPr>
        <p:spPr>
          <a:xfrm>
            <a:off x="548640" y="5303520"/>
            <a:ext cx="5486400" cy="100584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Si abres un proyecto con otra versión, Unity pide "actualizarlo". Si aceptas, ya no abre en la versión anterior, y lo que funcionaba en un computador falla en el otro.</a:t>
            </a:r>
          </a:p>
        </p:txBody>
      </p:sp>
      <p:sp>
        <p:nvSpPr>
          <p:cNvPr id="12" name="Rounded Rectangle 11"/>
          <p:cNvSpPr/>
          <p:nvPr/>
        </p:nvSpPr>
        <p:spPr>
          <a:xfrm>
            <a:off x="6492240" y="1600200"/>
            <a:ext cx="5166360" cy="310896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766560" y="1783080"/>
            <a:ext cx="457200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Cómo ver qué versión tienes</a:t>
            </a:r>
          </a:p>
        </p:txBody>
      </p:sp>
      <p:sp>
        <p:nvSpPr>
          <p:cNvPr id="14" name="Oval 13"/>
          <p:cNvSpPr/>
          <p:nvPr/>
        </p:nvSpPr>
        <p:spPr>
          <a:xfrm>
            <a:off x="6766560" y="23317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5" name="TextBox 14"/>
          <p:cNvSpPr txBox="1"/>
          <p:nvPr/>
        </p:nvSpPr>
        <p:spPr>
          <a:xfrm>
            <a:off x="7269480" y="2350008"/>
            <a:ext cx="41605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Abre Unity Hub, el programa que abre Unity.</a:t>
            </a:r>
          </a:p>
        </p:txBody>
      </p:sp>
      <p:sp>
        <p:nvSpPr>
          <p:cNvPr id="16" name="Oval 15"/>
          <p:cNvSpPr/>
          <p:nvPr/>
        </p:nvSpPr>
        <p:spPr>
          <a:xfrm>
            <a:off x="6766560" y="2990087"/>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7" name="TextBox 16"/>
          <p:cNvSpPr txBox="1"/>
          <p:nvPr/>
        </p:nvSpPr>
        <p:spPr>
          <a:xfrm>
            <a:off x="7269480" y="3008375"/>
            <a:ext cx="41605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En la columna izquierda pulsa </a:t>
            </a:r>
            <a:r>
              <a:rPr sz="1500" b="1" i="0">
                <a:solidFill>
                  <a:srgbClr val="0A0E1A"/>
                </a:solidFill>
                <a:latin typeface="Calibri"/>
              </a:rPr>
              <a:t>Installs</a:t>
            </a:r>
            <a:r>
              <a:rPr sz="1500" b="0" i="0">
                <a:solidFill>
                  <a:srgbClr val="0A0E1A"/>
                </a:solidFill>
                <a:latin typeface="Calibri"/>
              </a:rPr>
              <a:t>.</a:t>
            </a:r>
          </a:p>
        </p:txBody>
      </p:sp>
      <p:sp>
        <p:nvSpPr>
          <p:cNvPr id="18" name="Oval 17"/>
          <p:cNvSpPr/>
          <p:nvPr/>
        </p:nvSpPr>
        <p:spPr>
          <a:xfrm>
            <a:off x="6766560" y="36484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9" name="TextBox 18"/>
          <p:cNvSpPr txBox="1"/>
          <p:nvPr/>
        </p:nvSpPr>
        <p:spPr>
          <a:xfrm>
            <a:off x="7269480" y="3666744"/>
            <a:ext cx="4160520" cy="502920"/>
          </a:xfrm>
          <a:prstGeom prst="rect">
            <a:avLst/>
          </a:prstGeom>
          <a:noFill/>
        </p:spPr>
        <p:txBody>
          <a:bodyPr wrap="square" lIns="0" rIns="0" tIns="0" bIns="0" anchor="t">
            <a:spAutoFit/>
          </a:bodyPr>
          <a:lstStyle/>
          <a:p>
            <a:pPr algn="l">
              <a:spcAft>
                <a:spcPts val="600"/>
              </a:spcAft>
            </a:pPr>
            <a:r>
              <a:rPr sz="1500" b="0" i="0">
                <a:solidFill>
                  <a:srgbClr val="0A0E1A"/>
                </a:solidFill>
                <a:latin typeface="Calibri"/>
              </a:rPr>
              <a:t>Busca 2019.4.38f1 en la lista.</a:t>
            </a:r>
          </a:p>
        </p:txBody>
      </p:sp>
      <p:sp>
        <p:nvSpPr>
          <p:cNvPr id="20" name="Rounded Rectangle 19"/>
          <p:cNvSpPr/>
          <p:nvPr/>
        </p:nvSpPr>
        <p:spPr>
          <a:xfrm>
            <a:off x="6492240" y="4892040"/>
            <a:ext cx="5166360" cy="137160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20840" y="5056631"/>
            <a:ext cx="4709160" cy="1097280"/>
          </a:xfrm>
          <a:prstGeom prst="rect">
            <a:avLst/>
          </a:prstGeom>
          <a:noFill/>
        </p:spPr>
        <p:txBody>
          <a:bodyPr wrap="square" lIns="0" rIns="0" tIns="0" bIns="0" anchor="t">
            <a:spAutoFit/>
          </a:bodyPr>
          <a:lstStyle/>
          <a:p>
            <a:pPr algn="l">
              <a:spcAft>
                <a:spcPts val="400"/>
              </a:spcAft>
            </a:pPr>
            <a:r>
              <a:rPr sz="1400" b="1" i="0">
                <a:solidFill>
                  <a:srgbClr val="097A41"/>
                </a:solidFill>
                <a:latin typeface="Calibri"/>
              </a:rPr>
              <a:t>✓  Cómo sabes que está bien</a:t>
            </a:r>
          </a:p>
          <a:p>
            <a:pPr algn="l">
              <a:spcAft>
                <a:spcPts val="400"/>
              </a:spcAft>
            </a:pPr>
            <a:r>
              <a:rPr sz="1400" b="0" i="0">
                <a:solidFill>
                  <a:srgbClr val="0A0E1A"/>
                </a:solidFill>
                <a:latin typeface="Calibri"/>
              </a:rPr>
              <a:t>Aparece 2019.4.38f1. Si solo ves otras versiones, sigue con el paso 1 en la próxima diapositiva.</a:t>
            </a:r>
          </a:p>
        </p:txBody>
      </p:sp>
      <p:sp>
        <p:nvSpPr>
          <p:cNvPr id="22"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2 de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Paso 1 · Revisar la versión y agregar dos módulos</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Cierra Unity si está abierto. Deja abierto solo Unity Hub.</a:t>
            </a:r>
          </a:p>
        </p:txBody>
      </p:sp>
      <p:sp>
        <p:nvSpPr>
          <p:cNvPr id="6" name="Oval 5"/>
          <p:cNvSpPr/>
          <p:nvPr/>
        </p:nvSpPr>
        <p:spPr>
          <a:xfrm>
            <a:off x="548640" y="230428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22576"/>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Pulsa </a:t>
            </a:r>
            <a:r>
              <a:rPr sz="1600" b="1" i="0">
                <a:solidFill>
                  <a:srgbClr val="0A0E1A"/>
                </a:solidFill>
                <a:latin typeface="Calibri"/>
              </a:rPr>
              <a:t>Installs</a:t>
            </a:r>
            <a:r>
              <a:rPr sz="1600" b="0" i="0">
                <a:solidFill>
                  <a:srgbClr val="0A0E1A"/>
                </a:solidFill>
                <a:latin typeface="Calibri"/>
              </a:rPr>
              <a:t> y busca la tarjeta de 2019.4.38f1.</a:t>
            </a:r>
          </a:p>
        </p:txBody>
      </p:sp>
      <p:sp>
        <p:nvSpPr>
          <p:cNvPr id="8" name="Oval 7"/>
          <p:cNvSpPr/>
          <p:nvPr/>
        </p:nvSpPr>
        <p:spPr>
          <a:xfrm>
            <a:off x="548640" y="296265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80944"/>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esa tarjeta pulsa los tres puntos </a:t>
            </a:r>
            <a:r>
              <a:rPr sz="1600" b="1" i="0">
                <a:solidFill>
                  <a:srgbClr val="0A0E1A"/>
                </a:solidFill>
                <a:latin typeface="Calibri"/>
              </a:rPr>
              <a:t>⋮</a:t>
            </a:r>
            <a:r>
              <a:rPr sz="1600" b="0" i="0">
                <a:solidFill>
                  <a:srgbClr val="0A0E1A"/>
                </a:solidFill>
                <a:latin typeface="Calibri"/>
              </a:rPr>
              <a:t> o el engranaje.</a:t>
            </a:r>
          </a:p>
        </p:txBody>
      </p:sp>
      <p:sp>
        <p:nvSpPr>
          <p:cNvPr id="10" name="Oval 9"/>
          <p:cNvSpPr/>
          <p:nvPr/>
        </p:nvSpPr>
        <p:spPr>
          <a:xfrm>
            <a:off x="548640" y="36210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639312"/>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Elige </a:t>
            </a:r>
            <a:r>
              <a:rPr sz="1600" b="1" i="0">
                <a:solidFill>
                  <a:srgbClr val="0A0E1A"/>
                </a:solidFill>
                <a:latin typeface="Calibri"/>
              </a:rPr>
              <a:t>Add modules</a:t>
            </a:r>
            <a:r>
              <a:rPr sz="1600" b="0" i="0">
                <a:solidFill>
                  <a:srgbClr val="0A0E1A"/>
                </a:solidFill>
                <a:latin typeface="Calibri"/>
              </a:rPr>
              <a:t>. Marca los dos del recuadro de la derecha.</a:t>
            </a:r>
          </a:p>
        </p:txBody>
      </p:sp>
      <p:sp>
        <p:nvSpPr>
          <p:cNvPr id="12" name="Oval 11"/>
          <p:cNvSpPr/>
          <p:nvPr/>
        </p:nvSpPr>
        <p:spPr>
          <a:xfrm>
            <a:off x="548640" y="427939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97679"/>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Pulsa </a:t>
            </a:r>
            <a:r>
              <a:rPr sz="1600" b="1" i="0">
                <a:solidFill>
                  <a:srgbClr val="0A0E1A"/>
                </a:solidFill>
                <a:latin typeface="Calibri"/>
              </a:rPr>
              <a:t>Install</a:t>
            </a:r>
            <a:r>
              <a:rPr sz="1600" b="0" i="0">
                <a:solidFill>
                  <a:srgbClr val="0A0E1A"/>
                </a:solidFill>
                <a:latin typeface="Calibri"/>
              </a:rPr>
              <a:t> y espera. Si ya salen como instalados, no hay nada que hacer.</a:t>
            </a:r>
          </a:p>
        </p:txBody>
      </p:sp>
      <p:sp>
        <p:nvSpPr>
          <p:cNvPr id="14" name="Rounded Rectangle 13"/>
          <p:cNvSpPr/>
          <p:nvPr/>
        </p:nvSpPr>
        <p:spPr>
          <a:xfrm>
            <a:off x="7040880" y="1645920"/>
            <a:ext cx="4617720" cy="251460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0" y="1828800"/>
            <a:ext cx="411480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Módulos que se marcan</a:t>
            </a:r>
          </a:p>
        </p:txBody>
      </p:sp>
      <p:sp>
        <p:nvSpPr>
          <p:cNvPr id="16" name="TextBox 15"/>
          <p:cNvSpPr txBox="1"/>
          <p:nvPr/>
        </p:nvSpPr>
        <p:spPr>
          <a:xfrm>
            <a:off x="7315200" y="2331720"/>
            <a:ext cx="4114800" cy="1828800"/>
          </a:xfrm>
          <a:prstGeom prst="rect">
            <a:avLst/>
          </a:prstGeom>
          <a:noFill/>
        </p:spPr>
        <p:txBody>
          <a:bodyPr wrap="square" lIns="0" rIns="0" tIns="0" bIns="0" anchor="t">
            <a:spAutoFit/>
          </a:bodyPr>
          <a:lstStyle/>
          <a:p>
            <a:pPr algn="l">
              <a:spcAft>
                <a:spcPts val="400"/>
              </a:spcAft>
            </a:pPr>
            <a:r>
              <a:rPr sz="1600" b="1" i="0">
                <a:solidFill>
                  <a:srgbClr val="0A0E1A"/>
                </a:solidFill>
                <a:latin typeface="Calibri"/>
              </a:rPr>
              <a:t>☑  Microsoft Visual Studio Community 2019</a:t>
            </a:r>
          </a:p>
          <a:p>
            <a:pPr algn="l">
              <a:spcAft>
                <a:spcPts val="400"/>
              </a:spcAft>
            </a:pPr>
            <a:r>
              <a:rPr sz="1400" b="0" i="0">
                <a:solidFill>
                  <a:srgbClr val="4F5C75"/>
                </a:solidFill>
                <a:latin typeface="Calibri"/>
              </a:rPr>
              <a:t>Para escribir los scripts. Paso 4.</a:t>
            </a:r>
          </a:p>
          <a:p>
            <a:pPr algn="l">
              <a:spcAft>
                <a:spcPts val="400"/>
              </a:spcAft>
            </a:pPr>
            <a:r>
              <a:rPr sz="1600" b="1" i="0">
                <a:solidFill>
                  <a:srgbClr val="0A0E1A"/>
                </a:solidFill>
                <a:latin typeface="Calibri"/>
              </a:rPr>
              <a:t>☑  WebGL Build Support</a:t>
            </a:r>
          </a:p>
          <a:p>
            <a:pPr algn="l">
              <a:spcAft>
                <a:spcPts val="400"/>
              </a:spcAft>
            </a:pPr>
            <a:r>
              <a:rPr sz="1400" b="0" i="0">
                <a:solidFill>
                  <a:srgbClr val="4F5C75"/>
                </a:solidFill>
                <a:latin typeface="Calibri"/>
              </a:rPr>
              <a:t>Para publicar el juego en la página web, en la Fase 3.</a:t>
            </a:r>
          </a:p>
        </p:txBody>
      </p:sp>
      <p:sp>
        <p:nvSpPr>
          <p:cNvPr id="17" name="Rounded Rectangle 16"/>
          <p:cNvSpPr/>
          <p:nvPr/>
        </p:nvSpPr>
        <p:spPr>
          <a:xfrm>
            <a:off x="7040880" y="4343400"/>
            <a:ext cx="4617720" cy="96012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80" y="4507992"/>
            <a:ext cx="4160520" cy="685800"/>
          </a:xfrm>
          <a:prstGeom prst="rect">
            <a:avLst/>
          </a:prstGeom>
          <a:noFill/>
        </p:spPr>
        <p:txBody>
          <a:bodyPr wrap="square" lIns="0" rIns="0" tIns="0" bIns="0" anchor="t">
            <a:spAutoFit/>
          </a:bodyPr>
          <a:lstStyle/>
          <a:p>
            <a:pPr algn="l">
              <a:spcAft>
                <a:spcPts val="400"/>
              </a:spcAft>
            </a:pPr>
            <a:r>
              <a:rPr sz="1300" b="1" i="0">
                <a:solidFill>
                  <a:srgbClr val="097A41"/>
                </a:solidFill>
                <a:latin typeface="Calibri"/>
              </a:rPr>
              <a:t>✓  Cómo sabes que quedó</a:t>
            </a:r>
          </a:p>
          <a:p>
            <a:pPr algn="l">
              <a:spcAft>
                <a:spcPts val="400"/>
              </a:spcAft>
            </a:pPr>
            <a:r>
              <a:rPr sz="1300" b="0" i="0">
                <a:solidFill>
                  <a:srgbClr val="0A0E1A"/>
                </a:solidFill>
                <a:latin typeface="Calibri"/>
              </a:rPr>
              <a:t>La tarjeta de 2019.4.38f1 muestra los íconos de Windows y WebGL.</a:t>
            </a:r>
          </a:p>
        </p:txBody>
      </p:sp>
      <p:sp>
        <p:nvSpPr>
          <p:cNvPr id="19" name="Rounded Rectangle 18"/>
          <p:cNvSpPr/>
          <p:nvPr/>
        </p:nvSpPr>
        <p:spPr>
          <a:xfrm>
            <a:off x="548640" y="5440680"/>
            <a:ext cx="11109960" cy="82296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5605272"/>
            <a:ext cx="10652760" cy="548640"/>
          </a:xfrm>
          <a:prstGeom prst="rect">
            <a:avLst/>
          </a:prstGeom>
          <a:noFill/>
        </p:spPr>
        <p:txBody>
          <a:bodyPr wrap="square" lIns="0" rIns="0" tIns="0" bIns="0" anchor="t">
            <a:spAutoFit/>
          </a:bodyPr>
          <a:lstStyle/>
          <a:p>
            <a:pPr algn="l">
              <a:spcAft>
                <a:spcPts val="400"/>
              </a:spcAft>
            </a:pPr>
            <a:r>
              <a:rPr sz="1400" b="1" i="0">
                <a:solidFill>
                  <a:srgbClr val="875A00"/>
                </a:solidFill>
                <a:latin typeface="Calibri"/>
              </a:rPr>
              <a:t>!  Si 2019.4.38f1 no aparece en Installs</a:t>
            </a:r>
          </a:p>
          <a:p>
            <a:pPr algn="l">
              <a:spcAft>
                <a:spcPts val="400"/>
              </a:spcAft>
            </a:pPr>
            <a:r>
              <a:rPr sz="1400" b="0" i="0">
                <a:solidFill>
                  <a:srgbClr val="0A0E1A"/>
                </a:solidFill>
                <a:latin typeface="Calibri"/>
              </a:rPr>
              <a:t>Copia en el navegador </a:t>
            </a:r>
            <a:r>
              <a:rPr sz="1400" b="0" i="0">
                <a:solidFill>
                  <a:srgbClr val="0A0E1A"/>
                </a:solidFill>
                <a:latin typeface="Consolas"/>
              </a:rPr>
              <a:t>unityhub://2019.4.38f1/fdbb7325fa47</a:t>
            </a:r>
            <a:r>
              <a:rPr sz="1400" b="0" i="0">
                <a:solidFill>
                  <a:srgbClr val="0A0E1A"/>
                </a:solidFill>
                <a:latin typeface="Calibri"/>
              </a:rPr>
              <a:t>, pulsa Abrir y marca los mismos dos módulos.</a:t>
            </a:r>
          </a:p>
        </p:txBody>
      </p:sp>
      <p:sp>
        <p:nvSpPr>
          <p:cNvPr id="2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3 de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Paso 2 · Crear el proyecto 2D en una carpeta segura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62356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Unity Hub pulsa </a:t>
            </a:r>
            <a:r>
              <a:rPr sz="1600" b="1" i="0">
                <a:solidFill>
                  <a:srgbClr val="0A0E1A"/>
                </a:solidFill>
                <a:latin typeface="Calibri"/>
              </a:rPr>
              <a:t>Projects</a:t>
            </a:r>
            <a:r>
              <a:rPr sz="1600" b="0" i="0">
                <a:solidFill>
                  <a:srgbClr val="0A0E1A"/>
                </a:solidFill>
                <a:latin typeface="Calibri"/>
              </a:rPr>
              <a:t> y luego </a:t>
            </a:r>
            <a:r>
              <a:rPr sz="1600" b="1" i="0">
                <a:solidFill>
                  <a:srgbClr val="0A0E1A"/>
                </a:solidFill>
                <a:latin typeface="Calibri"/>
              </a:rPr>
              <a:t>New project</a:t>
            </a:r>
            <a:r>
              <a:rPr sz="1600" b="0" i="0">
                <a:solidFill>
                  <a:srgbClr val="0A0E1A"/>
                </a:solidFill>
                <a:latin typeface="Calibri"/>
              </a:rPr>
              <a:t>.</a:t>
            </a:r>
          </a:p>
        </p:txBody>
      </p:sp>
      <p:sp>
        <p:nvSpPr>
          <p:cNvPr id="6" name="Oval 5"/>
          <p:cNvSpPr/>
          <p:nvPr/>
        </p:nvSpPr>
        <p:spPr>
          <a:xfrm>
            <a:off x="548640" y="224942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267712"/>
            <a:ext cx="562356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Arriba, en </a:t>
            </a:r>
            <a:r>
              <a:rPr sz="1600" b="1" i="0">
                <a:solidFill>
                  <a:srgbClr val="0A0E1A"/>
                </a:solidFill>
                <a:latin typeface="Calibri"/>
              </a:rPr>
              <a:t>Editor Version</a:t>
            </a:r>
            <a:r>
              <a:rPr sz="1600" b="0" i="0">
                <a:solidFill>
                  <a:srgbClr val="0A0E1A"/>
                </a:solidFill>
                <a:latin typeface="Calibri"/>
              </a:rPr>
              <a:t>, elige 2019.4.38f1.</a:t>
            </a:r>
          </a:p>
        </p:txBody>
      </p:sp>
      <p:sp>
        <p:nvSpPr>
          <p:cNvPr id="8" name="Oval 7"/>
          <p:cNvSpPr/>
          <p:nvPr/>
        </p:nvSpPr>
        <p:spPr>
          <a:xfrm>
            <a:off x="548640" y="285292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871216"/>
            <a:ext cx="562356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las plantillas elige </a:t>
            </a:r>
            <a:r>
              <a:rPr sz="1600" b="1" i="0">
                <a:solidFill>
                  <a:srgbClr val="0A0E1A"/>
                </a:solidFill>
                <a:latin typeface="Calibri"/>
              </a:rPr>
              <a:t>2D</a:t>
            </a:r>
            <a:r>
              <a:rPr sz="1600" b="0" i="0">
                <a:solidFill>
                  <a:srgbClr val="0A0E1A"/>
                </a:solidFill>
                <a:latin typeface="Calibri"/>
              </a:rPr>
              <a:t>. No 3D: el juego es 2D.</a:t>
            </a:r>
          </a:p>
        </p:txBody>
      </p:sp>
      <p:sp>
        <p:nvSpPr>
          <p:cNvPr id="10" name="Oval 9"/>
          <p:cNvSpPr/>
          <p:nvPr/>
        </p:nvSpPr>
        <p:spPr>
          <a:xfrm>
            <a:off x="548640" y="345643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474720"/>
            <a:ext cx="562356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Project name: </a:t>
            </a:r>
            <a:r>
              <a:rPr sz="1500" b="0" i="0">
                <a:solidFill>
                  <a:srgbClr val="0A0E1A"/>
                </a:solidFill>
                <a:latin typeface="Consolas"/>
              </a:rPr>
              <a:t>Equipo10_Motricidad</a:t>
            </a:r>
            <a:r>
              <a:rPr sz="1600" b="0" i="0">
                <a:solidFill>
                  <a:srgbClr val="0A0E1A"/>
                </a:solidFill>
                <a:latin typeface="Calibri"/>
              </a:rPr>
              <a:t> o </a:t>
            </a:r>
            <a:r>
              <a:rPr sz="1500" b="0" i="0">
                <a:solidFill>
                  <a:srgbClr val="0A0E1A"/>
                </a:solidFill>
                <a:latin typeface="Consolas"/>
              </a:rPr>
              <a:t>Equipo10_Ritmo</a:t>
            </a:r>
            <a:r>
              <a:rPr sz="1600" b="0" i="0">
                <a:solidFill>
                  <a:srgbClr val="0A0E1A"/>
                </a:solidFill>
                <a:latin typeface="Calibri"/>
              </a:rPr>
              <a:t>.</a:t>
            </a:r>
          </a:p>
        </p:txBody>
      </p:sp>
      <p:sp>
        <p:nvSpPr>
          <p:cNvPr id="12" name="Oval 11"/>
          <p:cNvSpPr/>
          <p:nvPr/>
        </p:nvSpPr>
        <p:spPr>
          <a:xfrm>
            <a:off x="548640" y="4059936"/>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078224"/>
            <a:ext cx="562356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Location: </a:t>
            </a:r>
            <a:r>
              <a:rPr sz="1500" b="0" i="0">
                <a:solidFill>
                  <a:srgbClr val="0A0E1A"/>
                </a:solidFill>
                <a:latin typeface="Consolas"/>
              </a:rPr>
              <a:t>C:\Unity</a:t>
            </a:r>
            <a:r>
              <a:rPr sz="1600" b="0" i="0">
                <a:solidFill>
                  <a:srgbClr val="0A0E1A"/>
                </a:solidFill>
                <a:latin typeface="Calibri"/>
              </a:rPr>
              <a:t>. Si no existe, créala primero en el Explorador.</a:t>
            </a:r>
          </a:p>
        </p:txBody>
      </p:sp>
      <p:sp>
        <p:nvSpPr>
          <p:cNvPr id="14" name="Oval 13"/>
          <p:cNvSpPr/>
          <p:nvPr/>
        </p:nvSpPr>
        <p:spPr>
          <a:xfrm>
            <a:off x="548640" y="46634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15" name="TextBox 14"/>
          <p:cNvSpPr txBox="1"/>
          <p:nvPr/>
        </p:nvSpPr>
        <p:spPr>
          <a:xfrm>
            <a:off x="1051560" y="4681728"/>
            <a:ext cx="562356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Pulsa </a:t>
            </a:r>
            <a:r>
              <a:rPr sz="1600" b="1" i="0">
                <a:solidFill>
                  <a:srgbClr val="0A0E1A"/>
                </a:solidFill>
                <a:latin typeface="Calibri"/>
              </a:rPr>
              <a:t>Create project</a:t>
            </a:r>
            <a:r>
              <a:rPr sz="1600" b="0" i="0">
                <a:solidFill>
                  <a:srgbClr val="0A0E1A"/>
                </a:solidFill>
                <a:latin typeface="Calibri"/>
              </a:rPr>
              <a:t>. La primera vez tarda unos minutos.</a:t>
            </a:r>
          </a:p>
        </p:txBody>
      </p:sp>
      <p:sp>
        <p:nvSpPr>
          <p:cNvPr id="16" name="Rounded Rectangle 15"/>
          <p:cNvSpPr/>
          <p:nvPr/>
        </p:nvSpPr>
        <p:spPr>
          <a:xfrm>
            <a:off x="7086600" y="1645920"/>
            <a:ext cx="4572000" cy="105156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0" y="1810512"/>
            <a:ext cx="4114800" cy="777239"/>
          </a:xfrm>
          <a:prstGeom prst="rect">
            <a:avLst/>
          </a:prstGeom>
          <a:noFill/>
        </p:spPr>
        <p:txBody>
          <a:bodyPr wrap="square" lIns="0" rIns="0" tIns="0" bIns="0" anchor="t">
            <a:spAutoFit/>
          </a:bodyPr>
          <a:lstStyle/>
          <a:p>
            <a:pPr algn="l">
              <a:spcAft>
                <a:spcPts val="400"/>
              </a:spcAft>
            </a:pPr>
            <a:r>
              <a:rPr sz="1400" b="1" i="0">
                <a:solidFill>
                  <a:srgbClr val="097A41"/>
                </a:solidFill>
                <a:latin typeface="Calibri"/>
              </a:rPr>
              <a:t>✓  Así sí</a:t>
            </a:r>
          </a:p>
          <a:p>
            <a:pPr algn="l">
              <a:spcAft>
                <a:spcPts val="400"/>
              </a:spcAft>
            </a:pPr>
            <a:r>
              <a:rPr sz="1500" b="0" i="0">
                <a:solidFill>
                  <a:srgbClr val="0A0E1A"/>
                </a:solidFill>
                <a:latin typeface="Consolas"/>
              </a:rPr>
              <a:t>C:\Unity\Equipo10_Motricidad</a:t>
            </a:r>
          </a:p>
        </p:txBody>
      </p:sp>
      <p:sp>
        <p:nvSpPr>
          <p:cNvPr id="18" name="Rounded Rectangle 17"/>
          <p:cNvSpPr/>
          <p:nvPr/>
        </p:nvSpPr>
        <p:spPr>
          <a:xfrm>
            <a:off x="7086600" y="2834640"/>
            <a:ext cx="4572000" cy="2148840"/>
          </a:xfrm>
          <a:prstGeom prst="roundRect">
            <a:avLst>
              <a:gd name="adj" fmla="val 8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15200" y="2999232"/>
            <a:ext cx="4114800" cy="1874520"/>
          </a:xfrm>
          <a:prstGeom prst="rect">
            <a:avLst/>
          </a:prstGeom>
          <a:noFill/>
        </p:spPr>
        <p:txBody>
          <a:bodyPr wrap="square" lIns="0" rIns="0" tIns="0" bIns="0" anchor="t">
            <a:spAutoFit/>
          </a:bodyPr>
          <a:lstStyle/>
          <a:p>
            <a:pPr algn="l">
              <a:spcAft>
                <a:spcPts val="400"/>
              </a:spcAft>
            </a:pPr>
            <a:r>
              <a:rPr sz="1400" b="1" i="0">
                <a:solidFill>
                  <a:srgbClr val="B3261E"/>
                </a:solidFill>
                <a:latin typeface="Calibri"/>
              </a:rPr>
              <a:t>✗  Así no</a:t>
            </a:r>
          </a:p>
          <a:p>
            <a:pPr algn="l">
              <a:spcAft>
                <a:spcPts val="400"/>
              </a:spcAft>
            </a:pPr>
            <a:r>
              <a:rPr sz="1400" b="0" i="0">
                <a:solidFill>
                  <a:srgbClr val="0A0E1A"/>
                </a:solidFill>
                <a:latin typeface="Consolas"/>
              </a:rPr>
              <a:t>C:\Users\Pc20\OneDrive\My project (7)</a:t>
            </a:r>
          </a:p>
          <a:p>
            <a:pPr algn="l">
              <a:spcAft>
                <a:spcPts val="400"/>
              </a:spcAft>
            </a:pPr>
            <a:r>
              <a:rPr sz="1400" b="0" i="0">
                <a:solidFill>
                  <a:srgbClr val="0A0E1A"/>
                </a:solidFill>
                <a:latin typeface="Calibri"/>
              </a:rPr>
              <a:t>OneDrive sube los archivos mientras Unity los usa, y el proyecto se daña. El "(7)" quiere decir que ya iban siete proyectos nuevos.</a:t>
            </a:r>
          </a:p>
          <a:p>
            <a:pPr algn="l">
              <a:spcAft>
                <a:spcPts val="400"/>
              </a:spcAft>
            </a:pPr>
            <a:r>
              <a:rPr sz="1400" b="0" i="0">
                <a:solidFill>
                  <a:srgbClr val="0A0E1A"/>
                </a:solidFill>
                <a:latin typeface="Calibri"/>
              </a:rPr>
              <a:t>Tampoco en el Escritorio ni en Documentos: en muchos computadores también están dentro de OneDrive.</a:t>
            </a:r>
          </a:p>
        </p:txBody>
      </p:sp>
      <p:sp>
        <p:nvSpPr>
          <p:cNvPr id="20" name="Rounded Rectangle 19"/>
          <p:cNvSpPr/>
          <p:nvPr/>
        </p:nvSpPr>
        <p:spPr>
          <a:xfrm>
            <a:off x="548640" y="5440680"/>
            <a:ext cx="11109960" cy="82296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7240" y="5605272"/>
            <a:ext cx="10652760" cy="548640"/>
          </a:xfrm>
          <a:prstGeom prst="rect">
            <a:avLst/>
          </a:prstGeom>
          <a:noFill/>
        </p:spPr>
        <p:txBody>
          <a:bodyPr wrap="square" lIns="0" rIns="0" tIns="0" bIns="0" anchor="t">
            <a:spAutoFit/>
          </a:bodyPr>
          <a:lstStyle/>
          <a:p>
            <a:pPr algn="l">
              <a:spcAft>
                <a:spcPts val="400"/>
              </a:spcAft>
            </a:pPr>
            <a:r>
              <a:rPr sz="1400" b="1" i="0">
                <a:solidFill>
                  <a:srgbClr val="875A00"/>
                </a:solidFill>
                <a:latin typeface="Calibri"/>
              </a:rPr>
              <a:t>!  Un solo proyecto por equipo</a:t>
            </a:r>
          </a:p>
          <a:p>
            <a:pPr algn="l">
              <a:spcAft>
                <a:spcPts val="400"/>
              </a:spcAft>
            </a:pPr>
            <a:r>
              <a:rPr sz="1400" b="0" i="0">
                <a:solidFill>
                  <a:srgbClr val="0A0E1A"/>
                </a:solidFill>
                <a:latin typeface="Calibri"/>
              </a:rPr>
              <a:t>La próxima vez no crees otro: en Unity Hub, Projects, haz clic en el que ya existe.</a:t>
            </a:r>
          </a:p>
        </p:txBody>
      </p:sp>
      <p:sp>
        <p:nvSpPr>
          <p:cNvPr id="22"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4 de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Paso 3 · Las cinco zonas del editor</a:t>
            </a:r>
          </a:p>
        </p:txBody>
      </p:sp>
      <p:sp>
        <p:nvSpPr>
          <p:cNvPr id="4" name="Rounded Rectangle 3"/>
          <p:cNvSpPr/>
          <p:nvPr/>
        </p:nvSpPr>
        <p:spPr>
          <a:xfrm>
            <a:off x="548640" y="1600200"/>
            <a:ext cx="6766560" cy="4526280"/>
          </a:xfrm>
          <a:prstGeom prst="roundRect">
            <a:avLst>
              <a:gd name="adj" fmla="val 2000"/>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40080" y="1691640"/>
            <a:ext cx="6583680" cy="347472"/>
          </a:xfrm>
          <a:prstGeom prst="roundRect">
            <a:avLst>
              <a:gd name="adj" fmla="val 10000"/>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474720" y="1709928"/>
            <a:ext cx="1097280" cy="310896"/>
          </a:xfrm>
          <a:prstGeom prst="rect">
            <a:avLst/>
          </a:prstGeom>
          <a:noFill/>
        </p:spPr>
        <p:txBody>
          <a:bodyPr wrap="square" lIns="0" rIns="0" tIns="0" bIns="0" anchor="ctr">
            <a:spAutoFit/>
          </a:bodyPr>
          <a:lstStyle/>
          <a:p>
            <a:pPr algn="ctr">
              <a:spcAft>
                <a:spcPts val="600"/>
              </a:spcAft>
            </a:pPr>
            <a:r>
              <a:rPr sz="1300" b="0" i="0">
                <a:solidFill>
                  <a:srgbClr val="DDDDDD"/>
                </a:solidFill>
                <a:latin typeface="Calibri"/>
              </a:rPr>
              <a:t>▶   ❚❚   ▶❚</a:t>
            </a:r>
          </a:p>
        </p:txBody>
      </p:sp>
      <p:sp>
        <p:nvSpPr>
          <p:cNvPr id="7" name="Rounded Rectangle 6"/>
          <p:cNvSpPr/>
          <p:nvPr/>
        </p:nvSpPr>
        <p:spPr>
          <a:xfrm>
            <a:off x="640080" y="2130552"/>
            <a:ext cx="1463040" cy="2377440"/>
          </a:xfrm>
          <a:prstGeom prst="roundRect">
            <a:avLst>
              <a:gd name="adj" fmla="val 3000"/>
            </a:avLst>
          </a:prstGeom>
          <a:solidFill>
            <a:srgbClr val="4A4A4A"/>
          </a:solid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221992"/>
            <a:ext cx="1280160" cy="274320"/>
          </a:xfrm>
          <a:prstGeom prst="rect">
            <a:avLst/>
          </a:prstGeom>
          <a:noFill/>
        </p:spPr>
        <p:txBody>
          <a:bodyPr wrap="square" lIns="0" rIns="0" tIns="0" bIns="0" anchor="t">
            <a:spAutoFit/>
          </a:bodyPr>
          <a:lstStyle/>
          <a:p>
            <a:pPr algn="l">
              <a:spcAft>
                <a:spcPts val="600"/>
              </a:spcAft>
            </a:pPr>
            <a:r>
              <a:rPr sz="1200" b="0" i="0">
                <a:solidFill>
                  <a:srgbClr val="DDDDDD"/>
                </a:solidFill>
                <a:latin typeface="Calibri"/>
              </a:rPr>
              <a:t>Hierarchy</a:t>
            </a:r>
          </a:p>
        </p:txBody>
      </p:sp>
      <p:sp>
        <p:nvSpPr>
          <p:cNvPr id="9" name="Oval 8"/>
          <p:cNvSpPr/>
          <p:nvPr/>
        </p:nvSpPr>
        <p:spPr>
          <a:xfrm>
            <a:off x="1143000" y="3182112"/>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10" name="Rounded Rectangle 9"/>
          <p:cNvSpPr/>
          <p:nvPr/>
        </p:nvSpPr>
        <p:spPr>
          <a:xfrm>
            <a:off x="2194560" y="2130552"/>
            <a:ext cx="3383280" cy="2377440"/>
          </a:xfrm>
          <a:prstGeom prst="roundRect">
            <a:avLst>
              <a:gd name="adj" fmla="val 3000"/>
            </a:avLst>
          </a:prstGeom>
          <a:solidFill>
            <a:srgbClr val="4A4A4A"/>
          </a:solid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04288" y="2221992"/>
            <a:ext cx="3200400" cy="274320"/>
          </a:xfrm>
          <a:prstGeom prst="rect">
            <a:avLst/>
          </a:prstGeom>
          <a:noFill/>
        </p:spPr>
        <p:txBody>
          <a:bodyPr wrap="square" lIns="0" rIns="0" tIns="0" bIns="0" anchor="t">
            <a:spAutoFit/>
          </a:bodyPr>
          <a:lstStyle/>
          <a:p>
            <a:pPr algn="l">
              <a:spcAft>
                <a:spcPts val="600"/>
              </a:spcAft>
            </a:pPr>
            <a:r>
              <a:rPr sz="1200" b="0" i="0">
                <a:solidFill>
                  <a:srgbClr val="DDDDDD"/>
                </a:solidFill>
                <a:latin typeface="Calibri"/>
              </a:rPr>
              <a:t>Scene  |  Game</a:t>
            </a:r>
          </a:p>
        </p:txBody>
      </p:sp>
      <p:sp>
        <p:nvSpPr>
          <p:cNvPr id="12" name="Oval 11"/>
          <p:cNvSpPr/>
          <p:nvPr/>
        </p:nvSpPr>
        <p:spPr>
          <a:xfrm>
            <a:off x="3657600" y="3182112"/>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3" name="Rounded Rectangle 12"/>
          <p:cNvSpPr/>
          <p:nvPr/>
        </p:nvSpPr>
        <p:spPr>
          <a:xfrm>
            <a:off x="5669279" y="2130552"/>
            <a:ext cx="1554480" cy="3904487"/>
          </a:xfrm>
          <a:prstGeom prst="roundRect">
            <a:avLst>
              <a:gd name="adj" fmla="val 3000"/>
            </a:avLst>
          </a:prstGeom>
          <a:solidFill>
            <a:srgbClr val="4A4A4A"/>
          </a:solid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779007" y="2221992"/>
            <a:ext cx="1371600" cy="274320"/>
          </a:xfrm>
          <a:prstGeom prst="rect">
            <a:avLst/>
          </a:prstGeom>
          <a:noFill/>
        </p:spPr>
        <p:txBody>
          <a:bodyPr wrap="square" lIns="0" rIns="0" tIns="0" bIns="0" anchor="t">
            <a:spAutoFit/>
          </a:bodyPr>
          <a:lstStyle/>
          <a:p>
            <a:pPr algn="l">
              <a:spcAft>
                <a:spcPts val="600"/>
              </a:spcAft>
            </a:pPr>
            <a:r>
              <a:rPr sz="1200" b="0" i="0">
                <a:solidFill>
                  <a:srgbClr val="DDDDDD"/>
                </a:solidFill>
                <a:latin typeface="Calibri"/>
              </a:rPr>
              <a:t>Inspector</a:t>
            </a:r>
          </a:p>
        </p:txBody>
      </p:sp>
      <p:sp>
        <p:nvSpPr>
          <p:cNvPr id="15" name="Oval 14"/>
          <p:cNvSpPr/>
          <p:nvPr/>
        </p:nvSpPr>
        <p:spPr>
          <a:xfrm>
            <a:off x="6217919" y="3945635"/>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6" name="Rounded Rectangle 15"/>
          <p:cNvSpPr/>
          <p:nvPr/>
        </p:nvSpPr>
        <p:spPr>
          <a:xfrm>
            <a:off x="640080" y="4599431"/>
            <a:ext cx="3063240" cy="1435608"/>
          </a:xfrm>
          <a:prstGeom prst="roundRect">
            <a:avLst>
              <a:gd name="adj" fmla="val 3000"/>
            </a:avLst>
          </a:prstGeom>
          <a:solidFill>
            <a:srgbClr val="4A4A4A"/>
          </a:solid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4690871"/>
            <a:ext cx="2880360" cy="274320"/>
          </a:xfrm>
          <a:prstGeom prst="rect">
            <a:avLst/>
          </a:prstGeom>
          <a:noFill/>
        </p:spPr>
        <p:txBody>
          <a:bodyPr wrap="square" lIns="0" rIns="0" tIns="0" bIns="0" anchor="t">
            <a:spAutoFit/>
          </a:bodyPr>
          <a:lstStyle/>
          <a:p>
            <a:pPr algn="l">
              <a:spcAft>
                <a:spcPts val="600"/>
              </a:spcAft>
            </a:pPr>
            <a:r>
              <a:rPr sz="1200" b="0" i="0">
                <a:solidFill>
                  <a:srgbClr val="DDDDDD"/>
                </a:solidFill>
                <a:latin typeface="Calibri"/>
              </a:rPr>
              <a:t>Project</a:t>
            </a:r>
          </a:p>
        </p:txBody>
      </p:sp>
      <p:sp>
        <p:nvSpPr>
          <p:cNvPr id="18" name="Oval 17"/>
          <p:cNvSpPr/>
          <p:nvPr/>
        </p:nvSpPr>
        <p:spPr>
          <a:xfrm>
            <a:off x="1943100" y="5180075"/>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9" name="Rounded Rectangle 18"/>
          <p:cNvSpPr/>
          <p:nvPr/>
        </p:nvSpPr>
        <p:spPr>
          <a:xfrm>
            <a:off x="3794759" y="4599431"/>
            <a:ext cx="1783080" cy="1435608"/>
          </a:xfrm>
          <a:prstGeom prst="roundRect">
            <a:avLst>
              <a:gd name="adj" fmla="val 3000"/>
            </a:avLst>
          </a:prstGeom>
          <a:solidFill>
            <a:srgbClr val="4A4A4A"/>
          </a:solid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904487" y="4690871"/>
            <a:ext cx="1600200" cy="274320"/>
          </a:xfrm>
          <a:prstGeom prst="rect">
            <a:avLst/>
          </a:prstGeom>
          <a:noFill/>
        </p:spPr>
        <p:txBody>
          <a:bodyPr wrap="square" lIns="0" rIns="0" tIns="0" bIns="0" anchor="t">
            <a:spAutoFit/>
          </a:bodyPr>
          <a:lstStyle/>
          <a:p>
            <a:pPr algn="l">
              <a:spcAft>
                <a:spcPts val="600"/>
              </a:spcAft>
            </a:pPr>
            <a:r>
              <a:rPr sz="1200" b="0" i="0">
                <a:solidFill>
                  <a:srgbClr val="DDDDDD"/>
                </a:solidFill>
                <a:latin typeface="Calibri"/>
              </a:rPr>
              <a:t>Console</a:t>
            </a:r>
          </a:p>
        </p:txBody>
      </p:sp>
      <p:sp>
        <p:nvSpPr>
          <p:cNvPr id="21" name="Oval 20"/>
          <p:cNvSpPr/>
          <p:nvPr/>
        </p:nvSpPr>
        <p:spPr>
          <a:xfrm>
            <a:off x="4457699" y="5180075"/>
            <a:ext cx="457200" cy="457200"/>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22" name="Oval 21"/>
          <p:cNvSpPr/>
          <p:nvPr/>
        </p:nvSpPr>
        <p:spPr>
          <a:xfrm>
            <a:off x="76352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23" name="TextBox 22"/>
          <p:cNvSpPr txBox="1"/>
          <p:nvPr/>
        </p:nvSpPr>
        <p:spPr>
          <a:xfrm>
            <a:off x="8138160" y="1645920"/>
            <a:ext cx="3520440" cy="68580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Hierarchy: </a:t>
            </a:r>
            <a:r>
              <a:rPr sz="1500" b="0" i="0">
                <a:solidFill>
                  <a:srgbClr val="0A0E1A"/>
                </a:solidFill>
                <a:latin typeface="Calibri"/>
              </a:rPr>
              <a:t>lo que hay en la escena, como una lista.</a:t>
            </a:r>
          </a:p>
        </p:txBody>
      </p:sp>
      <p:sp>
        <p:nvSpPr>
          <p:cNvPr id="24" name="Oval 23"/>
          <p:cNvSpPr/>
          <p:nvPr/>
        </p:nvSpPr>
        <p:spPr>
          <a:xfrm>
            <a:off x="7635240" y="23591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25" name="TextBox 24"/>
          <p:cNvSpPr txBox="1"/>
          <p:nvPr/>
        </p:nvSpPr>
        <p:spPr>
          <a:xfrm>
            <a:off x="8138160" y="2359152"/>
            <a:ext cx="3520440" cy="68580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Scene y Game: </a:t>
            </a:r>
            <a:r>
              <a:rPr sz="1500" b="0" i="0">
                <a:solidFill>
                  <a:srgbClr val="0A0E1A"/>
                </a:solidFill>
                <a:latin typeface="Calibri"/>
              </a:rPr>
              <a:t>Scene es donde acomodas; Game es lo que ve el jugador.</a:t>
            </a:r>
          </a:p>
        </p:txBody>
      </p:sp>
      <p:sp>
        <p:nvSpPr>
          <p:cNvPr id="26" name="Oval 25"/>
          <p:cNvSpPr/>
          <p:nvPr/>
        </p:nvSpPr>
        <p:spPr>
          <a:xfrm>
            <a:off x="7635240" y="307238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27" name="TextBox 26"/>
          <p:cNvSpPr txBox="1"/>
          <p:nvPr/>
        </p:nvSpPr>
        <p:spPr>
          <a:xfrm>
            <a:off x="8138160" y="3072384"/>
            <a:ext cx="3520440" cy="68580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Inspector: </a:t>
            </a:r>
            <a:r>
              <a:rPr sz="1500" b="0" i="0">
                <a:solidFill>
                  <a:srgbClr val="0A0E1A"/>
                </a:solidFill>
                <a:latin typeface="Calibri"/>
              </a:rPr>
              <a:t>las propiedades del objeto elegido. Aquí se arrastran los scripts.</a:t>
            </a:r>
          </a:p>
        </p:txBody>
      </p:sp>
      <p:sp>
        <p:nvSpPr>
          <p:cNvPr id="28" name="Oval 27"/>
          <p:cNvSpPr/>
          <p:nvPr/>
        </p:nvSpPr>
        <p:spPr>
          <a:xfrm>
            <a:off x="7635240" y="3785615"/>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29" name="TextBox 28"/>
          <p:cNvSpPr txBox="1"/>
          <p:nvPr/>
        </p:nvSpPr>
        <p:spPr>
          <a:xfrm>
            <a:off x="8138160" y="3785615"/>
            <a:ext cx="3520440" cy="68580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Project: </a:t>
            </a:r>
            <a:r>
              <a:rPr sz="1500" b="0" i="0">
                <a:solidFill>
                  <a:srgbClr val="0A0E1A"/>
                </a:solidFill>
                <a:latin typeface="Calibri"/>
              </a:rPr>
              <a:t>todos los archivos: imágenes, sonidos, scripts.</a:t>
            </a:r>
          </a:p>
        </p:txBody>
      </p:sp>
      <p:sp>
        <p:nvSpPr>
          <p:cNvPr id="30" name="Oval 29"/>
          <p:cNvSpPr/>
          <p:nvPr/>
        </p:nvSpPr>
        <p:spPr>
          <a:xfrm>
            <a:off x="7635240" y="449884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31" name="TextBox 30"/>
          <p:cNvSpPr txBox="1"/>
          <p:nvPr/>
        </p:nvSpPr>
        <p:spPr>
          <a:xfrm>
            <a:off x="8138160" y="4498848"/>
            <a:ext cx="3520440" cy="68580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Console: </a:t>
            </a:r>
            <a:r>
              <a:rPr sz="1500" b="0" i="0">
                <a:solidFill>
                  <a:srgbClr val="0A0E1A"/>
                </a:solidFill>
                <a:latin typeface="Calibri"/>
              </a:rPr>
              <a:t>mensajes y errores. Si hay rojo, no hay Play.</a:t>
            </a:r>
          </a:p>
        </p:txBody>
      </p:sp>
      <p:sp>
        <p:nvSpPr>
          <p:cNvPr id="32" name="Rounded Rectangle 31"/>
          <p:cNvSpPr/>
          <p:nvPr/>
        </p:nvSpPr>
        <p:spPr>
          <a:xfrm>
            <a:off x="7635240" y="5257800"/>
            <a:ext cx="4023360" cy="91440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863840" y="5422392"/>
            <a:ext cx="3566160" cy="64008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Lo que cambias en Play se borra</a:t>
            </a:r>
          </a:p>
          <a:p>
            <a:pPr algn="l">
              <a:spcAft>
                <a:spcPts val="400"/>
              </a:spcAft>
            </a:pPr>
            <a:r>
              <a:rPr sz="1300" b="0" i="0">
                <a:solidFill>
                  <a:srgbClr val="0A0E1A"/>
                </a:solidFill>
                <a:latin typeface="Calibri"/>
              </a:rPr>
              <a:t>Detén el Play antes de mover o cambiar algo.</a:t>
            </a:r>
          </a:p>
        </p:txBody>
      </p:sp>
      <p:sp>
        <p:nvSpPr>
          <p:cNvPr id="34"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5 de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Paso 4 · Conectar Visual Studio</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34924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Unity abre </a:t>
            </a:r>
            <a:r>
              <a:rPr sz="1600" b="1" i="0">
                <a:solidFill>
                  <a:srgbClr val="0A0E1A"/>
                </a:solidFill>
                <a:latin typeface="Calibri"/>
              </a:rPr>
              <a:t>Edit &gt; Preferences...</a:t>
            </a:r>
          </a:p>
        </p:txBody>
      </p:sp>
      <p:sp>
        <p:nvSpPr>
          <p:cNvPr id="6" name="Oval 5"/>
          <p:cNvSpPr/>
          <p:nvPr/>
        </p:nvSpPr>
        <p:spPr>
          <a:xfrm>
            <a:off x="548640" y="228600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7" name="TextBox 6"/>
          <p:cNvSpPr txBox="1"/>
          <p:nvPr/>
        </p:nvSpPr>
        <p:spPr>
          <a:xfrm>
            <a:off x="1051560" y="2304288"/>
            <a:ext cx="534924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Pulsa la pestaña </a:t>
            </a:r>
            <a:r>
              <a:rPr sz="1600" b="1" i="0">
                <a:solidFill>
                  <a:srgbClr val="0A0E1A"/>
                </a:solidFill>
                <a:latin typeface="Calibri"/>
              </a:rPr>
              <a:t>External Tools</a:t>
            </a:r>
            <a:r>
              <a:rPr sz="1600" b="0" i="0">
                <a:solidFill>
                  <a:srgbClr val="0A0E1A"/>
                </a:solidFill>
                <a:latin typeface="Calibri"/>
              </a:rPr>
              <a:t>.</a:t>
            </a:r>
          </a:p>
        </p:txBody>
      </p:sp>
      <p:sp>
        <p:nvSpPr>
          <p:cNvPr id="8" name="Oval 7"/>
          <p:cNvSpPr/>
          <p:nvPr/>
        </p:nvSpPr>
        <p:spPr>
          <a:xfrm>
            <a:off x="548640" y="292608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9" name="TextBox 8"/>
          <p:cNvSpPr txBox="1"/>
          <p:nvPr/>
        </p:nvSpPr>
        <p:spPr>
          <a:xfrm>
            <a:off x="1051560" y="2944368"/>
            <a:ext cx="534924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a:t>
            </a:r>
            <a:r>
              <a:rPr sz="1600" b="1" i="0">
                <a:solidFill>
                  <a:srgbClr val="0A0E1A"/>
                </a:solidFill>
                <a:latin typeface="Calibri"/>
              </a:rPr>
              <a:t>External Script Editor</a:t>
            </a:r>
            <a:r>
              <a:rPr sz="1600" b="0" i="0">
                <a:solidFill>
                  <a:srgbClr val="0A0E1A"/>
                </a:solidFill>
                <a:latin typeface="Calibri"/>
              </a:rPr>
              <a:t> elige Visual Studio Community 2019 o 2022.</a:t>
            </a:r>
          </a:p>
        </p:txBody>
      </p:sp>
      <p:sp>
        <p:nvSpPr>
          <p:cNvPr id="10" name="Oval 9"/>
          <p:cNvSpPr/>
          <p:nvPr/>
        </p:nvSpPr>
        <p:spPr>
          <a:xfrm>
            <a:off x="548640" y="3566159"/>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1" name="TextBox 10"/>
          <p:cNvSpPr txBox="1"/>
          <p:nvPr/>
        </p:nvSpPr>
        <p:spPr>
          <a:xfrm>
            <a:off x="1051560" y="3584447"/>
            <a:ext cx="534924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Cierra la ventana. No hay botón de guardar: queda guardado solo.</a:t>
            </a:r>
          </a:p>
        </p:txBody>
      </p:sp>
      <p:sp>
        <p:nvSpPr>
          <p:cNvPr id="12" name="Oval 11"/>
          <p:cNvSpPr/>
          <p:nvPr/>
        </p:nvSpPr>
        <p:spPr>
          <a:xfrm>
            <a:off x="548640" y="42062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3" name="TextBox 12"/>
          <p:cNvSpPr txBox="1"/>
          <p:nvPr/>
        </p:nvSpPr>
        <p:spPr>
          <a:xfrm>
            <a:off x="1051560" y="4224527"/>
            <a:ext cx="534924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Project, haz doble clic en cualquier script: debe abrir Visual Studio.</a:t>
            </a:r>
          </a:p>
        </p:txBody>
      </p:sp>
      <p:sp>
        <p:nvSpPr>
          <p:cNvPr id="14" name="Rounded Rectangle 13"/>
          <p:cNvSpPr/>
          <p:nvPr/>
        </p:nvSpPr>
        <p:spPr>
          <a:xfrm>
            <a:off x="548640" y="4983480"/>
            <a:ext cx="5852160" cy="128016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5148072"/>
            <a:ext cx="5394960" cy="1005839"/>
          </a:xfrm>
          <a:prstGeom prst="rect">
            <a:avLst/>
          </a:prstGeom>
          <a:noFill/>
        </p:spPr>
        <p:txBody>
          <a:bodyPr wrap="square" lIns="0" rIns="0" tIns="0" bIns="0" anchor="t">
            <a:spAutoFit/>
          </a:bodyPr>
          <a:lstStyle/>
          <a:p>
            <a:pPr algn="l">
              <a:spcAft>
                <a:spcPts val="400"/>
              </a:spcAft>
            </a:pPr>
            <a:r>
              <a:rPr sz="1400" b="1" i="0">
                <a:solidFill>
                  <a:srgbClr val="097A41"/>
                </a:solidFill>
                <a:latin typeface="Calibri"/>
              </a:rPr>
              <a:t>✓  Cómo sabes que quedó</a:t>
            </a:r>
          </a:p>
          <a:p>
            <a:pPr algn="l">
              <a:spcAft>
                <a:spcPts val="400"/>
              </a:spcAft>
            </a:pPr>
            <a:r>
              <a:rPr sz="1400" b="0" i="0">
                <a:solidFill>
                  <a:srgbClr val="0A0E1A"/>
                </a:solidFill>
                <a:latin typeface="Calibri"/>
              </a:rPr>
              <a:t>Escribes </a:t>
            </a:r>
            <a:r>
              <a:rPr sz="1400" b="0" i="0">
                <a:solidFill>
                  <a:srgbClr val="0A0E1A"/>
                </a:solidFill>
                <a:latin typeface="Consolas"/>
              </a:rPr>
              <a:t>transform.</a:t>
            </a:r>
            <a:r>
              <a:rPr sz="1400" b="0" i="0">
                <a:solidFill>
                  <a:srgbClr val="0A0E1A"/>
                </a:solidFill>
                <a:latin typeface="Calibri"/>
              </a:rPr>
              <a:t> y aparece una lista de sugerencias.</a:t>
            </a:r>
          </a:p>
        </p:txBody>
      </p:sp>
      <p:sp>
        <p:nvSpPr>
          <p:cNvPr id="16" name="Rounded Rectangle 15"/>
          <p:cNvSpPr/>
          <p:nvPr/>
        </p:nvSpPr>
        <p:spPr>
          <a:xfrm>
            <a:off x="6812280" y="1645920"/>
            <a:ext cx="4846320" cy="461772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086600" y="1828800"/>
            <a:ext cx="4389120" cy="365760"/>
          </a:xfrm>
          <a:prstGeom prst="rect">
            <a:avLst/>
          </a:prstGeom>
          <a:noFill/>
        </p:spPr>
        <p:txBody>
          <a:bodyPr wrap="square" lIns="0" rIns="0" tIns="0" bIns="0" anchor="t">
            <a:spAutoFit/>
          </a:bodyPr>
          <a:lstStyle/>
          <a:p>
            <a:pPr algn="l">
              <a:spcAft>
                <a:spcPts val="600"/>
              </a:spcAft>
            </a:pPr>
            <a:r>
              <a:rPr sz="1800" b="1" i="0">
                <a:solidFill>
                  <a:srgbClr val="0A0E1A"/>
                </a:solidFill>
                <a:latin typeface="Calibri"/>
              </a:rPr>
              <a:t>Por qué no VS Code</a:t>
            </a:r>
          </a:p>
        </p:txBody>
      </p:sp>
      <p:sp>
        <p:nvSpPr>
          <p:cNvPr id="18" name="TextBox 17"/>
          <p:cNvSpPr txBox="1"/>
          <p:nvPr/>
        </p:nvSpPr>
        <p:spPr>
          <a:xfrm>
            <a:off x="7086600" y="2286000"/>
            <a:ext cx="4389120" cy="365760"/>
          </a:xfrm>
          <a:prstGeom prst="rect">
            <a:avLst/>
          </a:prstGeom>
          <a:noFill/>
        </p:spPr>
        <p:txBody>
          <a:bodyPr wrap="square" lIns="0" rIns="0" tIns="0" bIns="0" anchor="t">
            <a:spAutoFit/>
          </a:bodyPr>
          <a:lstStyle/>
          <a:p>
            <a:pPr algn="l">
              <a:spcAft>
                <a:spcPts val="600"/>
              </a:spcAft>
            </a:pPr>
            <a:r>
              <a:rPr sz="1400" b="0" i="0">
                <a:solidFill>
                  <a:srgbClr val="4F5C75"/>
                </a:solidFill>
                <a:latin typeface="Calibri"/>
              </a:rPr>
              <a:t>Este mensaje salió en agosto:</a:t>
            </a:r>
          </a:p>
        </p:txBody>
      </p:sp>
      <p:sp>
        <p:nvSpPr>
          <p:cNvPr id="19" name="Rounded Rectangle 18"/>
          <p:cNvSpPr/>
          <p:nvPr/>
        </p:nvSpPr>
        <p:spPr>
          <a:xfrm>
            <a:off x="7086600" y="2651760"/>
            <a:ext cx="4297680" cy="96012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0" y="2834640"/>
            <a:ext cx="3840480" cy="685800"/>
          </a:xfrm>
          <a:prstGeom prst="rect">
            <a:avLst/>
          </a:prstGeom>
          <a:noFill/>
        </p:spPr>
        <p:txBody>
          <a:bodyPr wrap="square" lIns="0" rIns="0" tIns="0" bIns="0" anchor="t">
            <a:spAutoFit/>
          </a:bodyPr>
          <a:lstStyle/>
          <a:p>
            <a:pPr algn="l">
              <a:spcAft>
                <a:spcPts val="200"/>
              </a:spcAft>
            </a:pPr>
            <a:r>
              <a:rPr sz="1200" b="0" i="0">
                <a:solidFill>
                  <a:srgbClr val="E9EEFB"/>
                </a:solidFill>
                <a:latin typeface="Consolas"/>
              </a:rPr>
              <a:t>No se encuentra el SDK de .NET</a:t>
            </a:r>
          </a:p>
          <a:p>
            <a:pPr algn="l">
              <a:spcAft>
                <a:spcPts val="200"/>
              </a:spcAft>
            </a:pPr>
            <a:r>
              <a:rPr sz="1200" b="0" i="0">
                <a:solidFill>
                  <a:srgbClr val="E9EEFB"/>
                </a:solidFill>
                <a:latin typeface="Consolas"/>
              </a:rPr>
              <a:t>"dotnet" no se reconoce como un</a:t>
            </a:r>
          </a:p>
          <a:p>
            <a:pPr algn="l">
              <a:spcAft>
                <a:spcPts val="200"/>
              </a:spcAft>
            </a:pPr>
            <a:r>
              <a:rPr sz="1200" b="0" i="0">
                <a:solidFill>
                  <a:srgbClr val="E9EEFB"/>
                </a:solidFill>
                <a:latin typeface="Consolas"/>
              </a:rPr>
              <a:t>comando interno o externo</a:t>
            </a:r>
          </a:p>
        </p:txBody>
      </p:sp>
      <p:sp>
        <p:nvSpPr>
          <p:cNvPr id="21" name="TextBox 20"/>
          <p:cNvSpPr txBox="1"/>
          <p:nvPr/>
        </p:nvSpPr>
        <p:spPr>
          <a:xfrm>
            <a:off x="7086600" y="3794760"/>
            <a:ext cx="4343400" cy="2377440"/>
          </a:xfrm>
          <a:prstGeom prst="rect">
            <a:avLst/>
          </a:prstGeom>
          <a:noFill/>
        </p:spPr>
        <p:txBody>
          <a:bodyPr wrap="square" lIns="0" rIns="0" tIns="0" bIns="0" anchor="t">
            <a:spAutoFit/>
          </a:bodyPr>
          <a:lstStyle/>
          <a:p>
            <a:pPr algn="l">
              <a:spcAft>
                <a:spcPts val="800"/>
              </a:spcAft>
            </a:pPr>
            <a:r>
              <a:rPr sz="1400" b="0" i="0">
                <a:solidFill>
                  <a:srgbClr val="0A0E1A"/>
                </a:solidFill>
                <a:latin typeface="Calibri"/>
              </a:rPr>
              <a:t>La extensión nueva de C# en VS Code necesita instalar .NET y está hecha para Unity 2021 en adelante. Con 2019.4 se queda sin sugerencias.</a:t>
            </a:r>
          </a:p>
          <a:p>
            <a:pPr algn="l">
              <a:spcAft>
                <a:spcPts val="800"/>
              </a:spcAft>
            </a:pPr>
            <a:r>
              <a:rPr sz="1400" b="1" i="0">
                <a:solidFill>
                  <a:srgbClr val="0A0E1A"/>
                </a:solidFill>
                <a:latin typeface="Calibri"/>
              </a:rPr>
              <a:t>Si el computador no tiene Visual Studio: </a:t>
            </a:r>
            <a:r>
              <a:rPr sz="1400" b="0" i="0">
                <a:solidFill>
                  <a:srgbClr val="0A0E1A"/>
                </a:solidFill>
                <a:latin typeface="Calibri"/>
              </a:rPr>
              <a:t>el juego funciona igual. Quien compila es Unity; el editor solo ayuda a escribir.</a:t>
            </a:r>
          </a:p>
        </p:txBody>
      </p:sp>
      <p:sp>
        <p:nvSpPr>
          <p:cNvPr id="22"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6 de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Paso 5 · Importar el kit y hacer la prueba</a:t>
            </a:r>
          </a:p>
        </p:txBody>
      </p:sp>
      <p:sp>
        <p:nvSpPr>
          <p:cNvPr id="4" name="Oval 3"/>
          <p:cNvSpPr/>
          <p:nvPr/>
        </p:nvSpPr>
        <p:spPr>
          <a:xfrm>
            <a:off x="548640" y="164592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051560" y="1664208"/>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Descarga de la carpeta del equipo en Drive el paquete de tu juego:</a:t>
            </a:r>
          </a:p>
        </p:txBody>
      </p:sp>
      <p:sp>
        <p:nvSpPr>
          <p:cNvPr id="6" name="Rounded Rectangle 5"/>
          <p:cNvSpPr/>
          <p:nvPr/>
        </p:nvSpPr>
        <p:spPr>
          <a:xfrm>
            <a:off x="1051560" y="2212848"/>
            <a:ext cx="5532120" cy="86868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80160" y="2395728"/>
            <a:ext cx="5074920" cy="594359"/>
          </a:xfrm>
          <a:prstGeom prst="rect">
            <a:avLst/>
          </a:prstGeom>
          <a:noFill/>
        </p:spPr>
        <p:txBody>
          <a:bodyPr wrap="square" lIns="0" rIns="0" tIns="0" bIns="0" anchor="t">
            <a:spAutoFit/>
          </a:bodyPr>
          <a:lstStyle/>
          <a:p>
            <a:pPr algn="l">
              <a:spcAft>
                <a:spcPts val="200"/>
              </a:spcAft>
            </a:pPr>
            <a:r>
              <a:rPr sz="1400" b="0" i="0">
                <a:solidFill>
                  <a:srgbClr val="E9EEFB"/>
                </a:solidFill>
                <a:latin typeface="Consolas"/>
              </a:rPr>
              <a:t>10.1  KitEquipo10_Motricidad.unitypackage</a:t>
            </a:r>
          </a:p>
          <a:p>
            <a:pPr algn="l">
              <a:spcAft>
                <a:spcPts val="200"/>
              </a:spcAft>
            </a:pPr>
            <a:r>
              <a:rPr sz="1400" b="0" i="0">
                <a:solidFill>
                  <a:srgbClr val="E9EEFB"/>
                </a:solidFill>
                <a:latin typeface="Consolas"/>
              </a:rPr>
              <a:t>10.2  KitEquipo10_Ritmo.unitypackage</a:t>
            </a:r>
          </a:p>
        </p:txBody>
      </p:sp>
      <p:sp>
        <p:nvSpPr>
          <p:cNvPr id="8" name="Oval 7"/>
          <p:cNvSpPr/>
          <p:nvPr/>
        </p:nvSpPr>
        <p:spPr>
          <a:xfrm>
            <a:off x="548640" y="3291840"/>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1051560" y="3310128"/>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Unity: </a:t>
            </a:r>
            <a:r>
              <a:rPr sz="1600" b="1" i="0">
                <a:solidFill>
                  <a:srgbClr val="0A0E1A"/>
                </a:solidFill>
                <a:latin typeface="Calibri"/>
              </a:rPr>
              <a:t>Assets &gt; Import Package &gt; Custom Package...</a:t>
            </a:r>
          </a:p>
        </p:txBody>
      </p:sp>
      <p:sp>
        <p:nvSpPr>
          <p:cNvPr id="10" name="Oval 9"/>
          <p:cNvSpPr/>
          <p:nvPr/>
        </p:nvSpPr>
        <p:spPr>
          <a:xfrm>
            <a:off x="548640" y="3895344"/>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1" name="TextBox 10"/>
          <p:cNvSpPr txBox="1"/>
          <p:nvPr/>
        </p:nvSpPr>
        <p:spPr>
          <a:xfrm>
            <a:off x="1051560" y="3913631"/>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Elige el archivo y pulsa </a:t>
            </a:r>
            <a:r>
              <a:rPr sz="1600" b="1" i="0">
                <a:solidFill>
                  <a:srgbClr val="0A0E1A"/>
                </a:solidFill>
                <a:latin typeface="Calibri"/>
              </a:rPr>
              <a:t>Import</a:t>
            </a:r>
            <a:r>
              <a:rPr sz="1600" b="0" i="0">
                <a:solidFill>
                  <a:srgbClr val="0A0E1A"/>
                </a:solidFill>
                <a:latin typeface="Calibri"/>
              </a:rPr>
              <a:t>. No desmarques nada.</a:t>
            </a:r>
          </a:p>
        </p:txBody>
      </p:sp>
      <p:sp>
        <p:nvSpPr>
          <p:cNvPr id="12" name="Oval 11"/>
          <p:cNvSpPr/>
          <p:nvPr/>
        </p:nvSpPr>
        <p:spPr>
          <a:xfrm>
            <a:off x="548640" y="4498848"/>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3" name="TextBox 12"/>
          <p:cNvSpPr txBox="1"/>
          <p:nvPr/>
        </p:nvSpPr>
        <p:spPr>
          <a:xfrm>
            <a:off x="1051560" y="4517136"/>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En Project abre </a:t>
            </a:r>
            <a:r>
              <a:rPr sz="1600" b="1" i="0">
                <a:solidFill>
                  <a:srgbClr val="0A0E1A"/>
                </a:solidFill>
                <a:latin typeface="Calibri"/>
              </a:rPr>
              <a:t>KitEquipo10 &gt; Escenas</a:t>
            </a:r>
            <a:r>
              <a:rPr sz="1600" b="0" i="0">
                <a:solidFill>
                  <a:srgbClr val="0A0E1A"/>
                </a:solidFill>
                <a:latin typeface="Calibri"/>
              </a:rPr>
              <a:t> y haz doble clic en 00_PruebaDelKit.</a:t>
            </a:r>
          </a:p>
        </p:txBody>
      </p:sp>
      <p:sp>
        <p:nvSpPr>
          <p:cNvPr id="14" name="Oval 13"/>
          <p:cNvSpPr/>
          <p:nvPr/>
        </p:nvSpPr>
        <p:spPr>
          <a:xfrm>
            <a:off x="548640" y="5102352"/>
            <a:ext cx="347472" cy="347472"/>
          </a:xfrm>
          <a:prstGeom prst="ellipse">
            <a:avLst/>
          </a:prstGeom>
          <a:solidFill>
            <a:srgbClr val="7317C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5" name="TextBox 14"/>
          <p:cNvSpPr txBox="1"/>
          <p:nvPr/>
        </p:nvSpPr>
        <p:spPr>
          <a:xfrm>
            <a:off x="1051560" y="5120640"/>
            <a:ext cx="5532120" cy="502920"/>
          </a:xfrm>
          <a:prstGeom prst="rect">
            <a:avLst/>
          </a:prstGeom>
          <a:noFill/>
        </p:spPr>
        <p:txBody>
          <a:bodyPr wrap="square" lIns="0" rIns="0" tIns="0" bIns="0" anchor="t">
            <a:spAutoFit/>
          </a:bodyPr>
          <a:lstStyle/>
          <a:p>
            <a:pPr algn="l">
              <a:spcAft>
                <a:spcPts val="600"/>
              </a:spcAft>
            </a:pPr>
            <a:r>
              <a:rPr sz="1600" b="0" i="0">
                <a:solidFill>
                  <a:srgbClr val="0A0E1A"/>
                </a:solidFill>
                <a:latin typeface="Calibri"/>
              </a:rPr>
              <a:t>Pulsa </a:t>
            </a:r>
            <a:r>
              <a:rPr sz="1600" b="1" i="0">
                <a:solidFill>
                  <a:srgbClr val="0A0E1A"/>
                </a:solidFill>
                <a:latin typeface="Calibri"/>
              </a:rPr>
              <a:t>▶ Play</a:t>
            </a:r>
            <a:r>
              <a:rPr sz="1600" b="0" i="0">
                <a:solidFill>
                  <a:srgbClr val="0A0E1A"/>
                </a:solidFill>
                <a:latin typeface="Calibri"/>
              </a:rPr>
              <a:t> arriba en el centro.</a:t>
            </a:r>
          </a:p>
        </p:txBody>
      </p:sp>
      <p:sp>
        <p:nvSpPr>
          <p:cNvPr id="16" name="Rounded Rectangle 15"/>
          <p:cNvSpPr/>
          <p:nvPr/>
        </p:nvSpPr>
        <p:spPr>
          <a:xfrm>
            <a:off x="7040880" y="1645920"/>
            <a:ext cx="4617720" cy="3017520"/>
          </a:xfrm>
          <a:prstGeom prst="roundRect">
            <a:avLst>
              <a:gd name="adj" fmla="val 3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223760" y="1737360"/>
            <a:ext cx="1828800" cy="274320"/>
          </a:xfrm>
          <a:prstGeom prst="rect">
            <a:avLst/>
          </a:prstGeom>
          <a:noFill/>
        </p:spPr>
        <p:txBody>
          <a:bodyPr wrap="square" lIns="0" rIns="0" tIns="0" bIns="0" anchor="t">
            <a:spAutoFit/>
          </a:bodyPr>
          <a:lstStyle/>
          <a:p>
            <a:pPr algn="l">
              <a:spcAft>
                <a:spcPts val="600"/>
              </a:spcAft>
            </a:pPr>
            <a:r>
              <a:rPr sz="1100" b="0" i="0">
                <a:solidFill>
                  <a:srgbClr val="BBBBBB"/>
                </a:solidFill>
                <a:latin typeface="Calibri"/>
              </a:rPr>
              <a:t>Game</a:t>
            </a:r>
          </a:p>
        </p:txBody>
      </p:sp>
      <p:sp>
        <p:nvSpPr>
          <p:cNvPr id="18" name="TextBox 17"/>
          <p:cNvSpPr txBox="1"/>
          <p:nvPr/>
        </p:nvSpPr>
        <p:spPr>
          <a:xfrm>
            <a:off x="7223760" y="2240280"/>
            <a:ext cx="4251960" cy="2194560"/>
          </a:xfrm>
          <a:prstGeom prst="rect">
            <a:avLst/>
          </a:prstGeom>
          <a:noFill/>
        </p:spPr>
        <p:txBody>
          <a:bodyPr wrap="square" lIns="0" rIns="0" tIns="0" bIns="0" anchor="t">
            <a:spAutoFit/>
          </a:bodyPr>
          <a:lstStyle/>
          <a:p>
            <a:pPr algn="ctr">
              <a:spcAft>
                <a:spcPts val="600"/>
              </a:spcAft>
            </a:pPr>
            <a:r>
              <a:rPr sz="2600" b="1" i="0">
                <a:solidFill>
                  <a:srgbClr val="4FE39A"/>
                </a:solidFill>
                <a:latin typeface="Calibri"/>
              </a:rPr>
              <a:t>Kit listo</a:t>
            </a:r>
          </a:p>
          <a:p>
            <a:pPr algn="ctr">
              <a:spcAft>
                <a:spcPts val="600"/>
              </a:spcAft>
            </a:pPr>
            <a:r>
              <a:rPr sz="1400" b="0" i="0">
                <a:solidFill>
                  <a:srgbClr val="4FE39A"/>
                </a:solidFill>
                <a:latin typeface="Calibri"/>
              </a:rPr>
              <a:t>Unity 2019.4.38f1  ·  versión correcta</a:t>
            </a:r>
          </a:p>
          <a:p>
            <a:pPr algn="ctr">
              <a:spcAft>
                <a:spcPts val="600"/>
              </a:spcAft>
            </a:pPr>
            <a:r>
              <a:rPr sz="1400" b="0" i="0">
                <a:solidFill>
                  <a:srgbClr val="4FE39A"/>
                </a:solidFill>
                <a:latin typeface="Calibri"/>
              </a:rPr>
              <a:t>Mano: Derecha  ·  Sensibilidad: x1</a:t>
            </a:r>
          </a:p>
        </p:txBody>
      </p:sp>
      <p:sp>
        <p:nvSpPr>
          <p:cNvPr id="19" name="Rounded Rectangle 18"/>
          <p:cNvSpPr/>
          <p:nvPr/>
        </p:nvSpPr>
        <p:spPr>
          <a:xfrm>
            <a:off x="7040880" y="4846320"/>
            <a:ext cx="4617720" cy="1417320"/>
          </a:xfrm>
          <a:prstGeom prst="roundRect">
            <a:avLst>
              <a:gd name="adj" fmla="val 8000"/>
            </a:avLst>
          </a:prstGeom>
          <a:solidFill>
            <a:srgbClr val="FC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269480" y="5010912"/>
            <a:ext cx="4160520" cy="1143000"/>
          </a:xfrm>
          <a:prstGeom prst="rect">
            <a:avLst/>
          </a:prstGeom>
          <a:noFill/>
        </p:spPr>
        <p:txBody>
          <a:bodyPr wrap="square" lIns="0" rIns="0" tIns="0" bIns="0" anchor="t">
            <a:spAutoFit/>
          </a:bodyPr>
          <a:lstStyle/>
          <a:p>
            <a:pPr algn="l">
              <a:spcAft>
                <a:spcPts val="400"/>
              </a:spcAft>
            </a:pPr>
            <a:r>
              <a:rPr sz="1300" b="1" i="0">
                <a:solidFill>
                  <a:srgbClr val="875A00"/>
                </a:solidFill>
                <a:latin typeface="Calibri"/>
              </a:rPr>
              <a:t>!  Si sale en naranja o algo se queda quieto</a:t>
            </a:r>
          </a:p>
          <a:p>
            <a:pPr algn="l">
              <a:spcAft>
                <a:spcPts val="400"/>
              </a:spcAft>
            </a:pPr>
            <a:r>
              <a:rPr sz="1300" b="0" i="0">
                <a:solidFill>
                  <a:srgbClr val="0A0E1A"/>
                </a:solidFill>
                <a:latin typeface="Calibri"/>
              </a:rPr>
              <a:t>Naranja: es otra versión de Unity. Vuelve al paso 2.</a:t>
            </a:r>
          </a:p>
          <a:p>
            <a:pPr algn="l">
              <a:spcAft>
                <a:spcPts val="400"/>
              </a:spcAft>
            </a:pPr>
            <a:r>
              <a:rPr sz="1300" b="0" i="0">
                <a:solidFill>
                  <a:srgbClr val="0A0E1A"/>
                </a:solidFill>
                <a:latin typeface="Calibri"/>
              </a:rPr>
              <a:t>Si Windows pregunta por el Firewall, pulsa Cancelar: el kit no usa internet.</a:t>
            </a:r>
          </a:p>
        </p:txBody>
      </p:sp>
      <p:sp>
        <p:nvSpPr>
          <p:cNvPr id="21" name="Rounded Rectangle 20"/>
          <p:cNvSpPr/>
          <p:nvPr/>
        </p:nvSpPr>
        <p:spPr>
          <a:xfrm>
            <a:off x="548640" y="5623560"/>
            <a:ext cx="6035040" cy="64008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 y="5788152"/>
            <a:ext cx="5577840" cy="365759"/>
          </a:xfrm>
          <a:prstGeom prst="rect">
            <a:avLst/>
          </a:prstGeom>
          <a:noFill/>
        </p:spPr>
        <p:txBody>
          <a:bodyPr wrap="square" lIns="0" rIns="0" tIns="0" bIns="0" anchor="t">
            <a:spAutoFit/>
          </a:bodyPr>
          <a:lstStyle/>
          <a:p>
            <a:pPr algn="l">
              <a:spcAft>
                <a:spcPts val="400"/>
              </a:spcAft>
            </a:pPr>
            <a:r>
              <a:rPr sz="1400" b="1" i="0">
                <a:solidFill>
                  <a:srgbClr val="097A41"/>
                </a:solidFill>
                <a:latin typeface="Calibri"/>
              </a:rPr>
              <a:t>✓  Con el letrero verde, la Fase 0 está completa.</a:t>
            </a:r>
          </a:p>
        </p:txBody>
      </p:sp>
      <p:sp>
        <p:nvSpPr>
          <p:cNvPr id="23"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7 de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FF3FA"/>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7317C9"/>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0A0E1A"/>
                </a:solidFill>
                <a:latin typeface="Cambria"/>
              </a:rPr>
              <a:t>Si la consola se pone roja, léela así</a:t>
            </a:r>
          </a:p>
        </p:txBody>
      </p:sp>
      <p:sp>
        <p:nvSpPr>
          <p:cNvPr id="4" name="Rounded Rectangle 3"/>
          <p:cNvSpPr/>
          <p:nvPr/>
        </p:nvSpPr>
        <p:spPr>
          <a:xfrm>
            <a:off x="548640" y="1645920"/>
            <a:ext cx="11109960" cy="64008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828800"/>
            <a:ext cx="10652760" cy="365759"/>
          </a:xfrm>
          <a:prstGeom prst="rect">
            <a:avLst/>
          </a:prstGeom>
          <a:noFill/>
        </p:spPr>
        <p:txBody>
          <a:bodyPr wrap="square" lIns="0" rIns="0" tIns="0" bIns="0" anchor="t">
            <a:spAutoFit/>
          </a:bodyPr>
          <a:lstStyle/>
          <a:p>
            <a:pPr algn="l">
              <a:spcAft>
                <a:spcPts val="200"/>
              </a:spcAft>
            </a:pPr>
            <a:r>
              <a:rPr sz="1600" b="0" i="0">
                <a:solidFill>
                  <a:srgbClr val="E9EEFB"/>
                </a:solidFill>
                <a:latin typeface="Consolas"/>
              </a:rPr>
              <a:t>Assets\Scripts\PlayerMovement.cs(23,26): error CS1525: Invalid expression term '}'</a:t>
            </a:r>
          </a:p>
        </p:txBody>
      </p:sp>
      <p:sp>
        <p:nvSpPr>
          <p:cNvPr id="6" name="TextBox 5"/>
          <p:cNvSpPr txBox="1"/>
          <p:nvPr/>
        </p:nvSpPr>
        <p:spPr>
          <a:xfrm>
            <a:off x="777240" y="2377440"/>
            <a:ext cx="2743200" cy="32004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 qué archivo</a:t>
            </a:r>
          </a:p>
        </p:txBody>
      </p:sp>
      <p:sp>
        <p:nvSpPr>
          <p:cNvPr id="7" name="TextBox 6"/>
          <p:cNvSpPr txBox="1"/>
          <p:nvPr/>
        </p:nvSpPr>
        <p:spPr>
          <a:xfrm>
            <a:off x="4709160" y="2377440"/>
            <a:ext cx="2194560" cy="32004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 línea 23, columna 26</a:t>
            </a:r>
          </a:p>
        </p:txBody>
      </p:sp>
      <p:sp>
        <p:nvSpPr>
          <p:cNvPr id="8" name="TextBox 7"/>
          <p:cNvSpPr txBox="1"/>
          <p:nvPr/>
        </p:nvSpPr>
        <p:spPr>
          <a:xfrm>
            <a:off x="6903720" y="2377440"/>
            <a:ext cx="3200400" cy="320040"/>
          </a:xfrm>
          <a:prstGeom prst="rect">
            <a:avLst/>
          </a:prstGeom>
          <a:noFill/>
        </p:spPr>
        <p:txBody>
          <a:bodyPr wrap="square" lIns="0" rIns="0" tIns="0" bIns="0" anchor="t">
            <a:spAutoFit/>
          </a:bodyPr>
          <a:lstStyle/>
          <a:p>
            <a:pPr algn="l">
              <a:spcAft>
                <a:spcPts val="600"/>
              </a:spcAft>
            </a:pPr>
            <a:r>
              <a:rPr sz="1300" b="1" i="0">
                <a:solidFill>
                  <a:srgbClr val="7317C9"/>
                </a:solidFill>
                <a:latin typeface="Calibri"/>
              </a:rPr>
              <a:t>▲ qué no entendió Unity</a:t>
            </a:r>
          </a:p>
        </p:txBody>
      </p:sp>
      <p:sp>
        <p:nvSpPr>
          <p:cNvPr id="9" name="Rounded Rectangle 8"/>
          <p:cNvSpPr/>
          <p:nvPr/>
        </p:nvSpPr>
        <p:spPr>
          <a:xfrm>
            <a:off x="548640" y="2880360"/>
            <a:ext cx="5760720" cy="1828800"/>
          </a:xfrm>
          <a:prstGeom prst="roundRect">
            <a:avLst>
              <a:gd name="adj" fmla="val 5000"/>
            </a:avLst>
          </a:prstGeom>
          <a:solidFill>
            <a:srgbClr val="0F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063240"/>
            <a:ext cx="5303520" cy="1554480"/>
          </a:xfrm>
          <a:prstGeom prst="rect">
            <a:avLst/>
          </a:prstGeom>
          <a:noFill/>
        </p:spPr>
        <p:txBody>
          <a:bodyPr wrap="square" lIns="0" rIns="0" tIns="0" bIns="0" anchor="t">
            <a:spAutoFit/>
          </a:bodyPr>
          <a:lstStyle/>
          <a:p>
            <a:pPr algn="l">
              <a:spcAft>
                <a:spcPts val="200"/>
              </a:spcAft>
            </a:pPr>
            <a:r>
              <a:rPr sz="1500" b="0" i="0">
                <a:solidFill>
                  <a:srgbClr val="E9EEFB"/>
                </a:solidFill>
                <a:latin typeface="Consolas"/>
              </a:rPr>
              <a:t>21    transform.Translate(...);</a:t>
            </a:r>
          </a:p>
          <a:p>
            <a:pPr algn="l">
              <a:spcAft>
                <a:spcPts val="200"/>
              </a:spcAft>
            </a:pPr>
            <a:r>
              <a:rPr sz="1500" b="0" i="0">
                <a:solidFill>
                  <a:srgbClr val="E9EEFB"/>
                </a:solidFill>
                <a:latin typeface="Consolas"/>
              </a:rPr>
              <a:t>22</a:t>
            </a:r>
          </a:p>
          <a:p>
            <a:pPr algn="l">
              <a:spcAft>
                <a:spcPts val="200"/>
              </a:spcAft>
            </a:pPr>
            <a:r>
              <a:rPr sz="1500" b="0" i="0">
                <a:solidFill>
                  <a:srgbClr val="FFC94D"/>
                </a:solidFill>
                <a:latin typeface="Consolas"/>
              </a:rPr>
              <a:t>23    float rotationY =</a:t>
            </a:r>
          </a:p>
          <a:p>
            <a:pPr algn="l">
              <a:spcAft>
                <a:spcPts val="200"/>
              </a:spcAft>
            </a:pPr>
            <a:r>
              <a:rPr sz="1500" b="0" i="0">
                <a:solidFill>
                  <a:srgbClr val="E9EEFB"/>
                </a:solidFill>
                <a:latin typeface="Consolas"/>
              </a:rPr>
              <a:t>24  }</a:t>
            </a:r>
          </a:p>
        </p:txBody>
      </p:sp>
      <p:sp>
        <p:nvSpPr>
          <p:cNvPr id="11" name="TextBox 10"/>
          <p:cNvSpPr txBox="1"/>
          <p:nvPr/>
        </p:nvSpPr>
        <p:spPr>
          <a:xfrm>
            <a:off x="548640" y="4846320"/>
            <a:ext cx="5760720" cy="1371600"/>
          </a:xfrm>
          <a:prstGeom prst="rect">
            <a:avLst/>
          </a:prstGeom>
          <a:noFill/>
        </p:spPr>
        <p:txBody>
          <a:bodyPr wrap="square" lIns="0" rIns="0" tIns="0" bIns="0" anchor="t">
            <a:spAutoFit/>
          </a:bodyPr>
          <a:lstStyle/>
          <a:p>
            <a:pPr algn="l">
              <a:spcAft>
                <a:spcPts val="600"/>
              </a:spcAft>
            </a:pPr>
            <a:r>
              <a:rPr sz="1500" b="1" i="0">
                <a:solidFill>
                  <a:srgbClr val="0A0E1A"/>
                </a:solidFill>
                <a:latin typeface="Calibri"/>
              </a:rPr>
              <a:t>Caso real de agosto: </a:t>
            </a:r>
            <a:r>
              <a:rPr sz="1500" b="0" i="0">
                <a:solidFill>
                  <a:srgbClr val="0A0E1A"/>
                </a:solidFill>
                <a:latin typeface="Calibri"/>
              </a:rPr>
              <a:t>la línea 23 quedó a medias. Le falta el valor y el punto y coma.</a:t>
            </a:r>
          </a:p>
          <a:p>
            <a:pPr algn="l">
              <a:spcAft>
                <a:spcPts val="600"/>
              </a:spcAft>
            </a:pPr>
            <a:r>
              <a:rPr sz="1500" b="0" i="0">
                <a:solidFill>
                  <a:srgbClr val="0A0E1A"/>
                </a:solidFill>
                <a:latin typeface="Calibri"/>
              </a:rPr>
              <a:t>Un error en un solo archivo apaga todos los demás.</a:t>
            </a:r>
          </a:p>
        </p:txBody>
      </p:sp>
      <p:sp>
        <p:nvSpPr>
          <p:cNvPr id="12" name="Rounded Rectangle 11"/>
          <p:cNvSpPr/>
          <p:nvPr/>
        </p:nvSpPr>
        <p:spPr>
          <a:xfrm>
            <a:off x="6675120" y="2880360"/>
            <a:ext cx="4983480" cy="3383280"/>
          </a:xfrm>
          <a:prstGeom prst="roundRect">
            <a:avLst>
              <a:gd name="adj" fmla="val 6000"/>
            </a:avLst>
          </a:prstGeom>
          <a:solidFill>
            <a:srgbClr val="FFFFFF"/>
          </a:solidFill>
          <a:ln w="12700">
            <a:solidFill>
              <a:srgbClr val="D2DAE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49440" y="3035808"/>
            <a:ext cx="4572000" cy="365760"/>
          </a:xfrm>
          <a:prstGeom prst="rect">
            <a:avLst/>
          </a:prstGeom>
          <a:noFill/>
        </p:spPr>
        <p:txBody>
          <a:bodyPr wrap="square" lIns="0" rIns="0" tIns="0" bIns="0" anchor="t">
            <a:spAutoFit/>
          </a:bodyPr>
          <a:lstStyle/>
          <a:p>
            <a:pPr algn="l">
              <a:spcAft>
                <a:spcPts val="600"/>
              </a:spcAft>
            </a:pPr>
            <a:r>
              <a:rPr sz="1700" b="1" i="0">
                <a:solidFill>
                  <a:srgbClr val="0A0E1A"/>
                </a:solidFill>
                <a:latin typeface="Calibri"/>
              </a:rPr>
              <a:t>Los cuatro más comunes</a:t>
            </a:r>
          </a:p>
        </p:txBody>
      </p:sp>
      <p:sp>
        <p:nvSpPr>
          <p:cNvPr id="14" name="TextBox 13"/>
          <p:cNvSpPr txBox="1"/>
          <p:nvPr/>
        </p:nvSpPr>
        <p:spPr>
          <a:xfrm>
            <a:off x="6949440" y="3520440"/>
            <a:ext cx="4526280" cy="658368"/>
          </a:xfrm>
          <a:prstGeom prst="rect">
            <a:avLst/>
          </a:prstGeom>
          <a:noFill/>
        </p:spPr>
        <p:txBody>
          <a:bodyPr wrap="square" lIns="0" rIns="0" tIns="0" bIns="0" anchor="t">
            <a:spAutoFit/>
          </a:bodyPr>
          <a:lstStyle/>
          <a:p>
            <a:pPr algn="l">
              <a:spcAft>
                <a:spcPts val="100"/>
              </a:spcAft>
            </a:pPr>
            <a:r>
              <a:rPr sz="1300" b="1" i="0">
                <a:solidFill>
                  <a:srgbClr val="0A0E1A"/>
                </a:solidFill>
                <a:latin typeface="Consolas"/>
              </a:rPr>
              <a:t>; expected</a:t>
            </a:r>
          </a:p>
          <a:p>
            <a:pPr algn="l">
              <a:spcAft>
                <a:spcPts val="100"/>
              </a:spcAft>
            </a:pPr>
            <a:r>
              <a:rPr sz="1300" b="0" i="0">
                <a:solidFill>
                  <a:srgbClr val="4F5C75"/>
                </a:solidFill>
                <a:latin typeface="Calibri"/>
              </a:rPr>
              <a:t>falta un punto y coma al final de la línea.</a:t>
            </a:r>
          </a:p>
        </p:txBody>
      </p:sp>
      <p:sp>
        <p:nvSpPr>
          <p:cNvPr id="15" name="TextBox 14"/>
          <p:cNvSpPr txBox="1"/>
          <p:nvPr/>
        </p:nvSpPr>
        <p:spPr>
          <a:xfrm>
            <a:off x="6949440" y="4197096"/>
            <a:ext cx="4526280" cy="658368"/>
          </a:xfrm>
          <a:prstGeom prst="rect">
            <a:avLst/>
          </a:prstGeom>
          <a:noFill/>
        </p:spPr>
        <p:txBody>
          <a:bodyPr wrap="square" lIns="0" rIns="0" tIns="0" bIns="0" anchor="t">
            <a:spAutoFit/>
          </a:bodyPr>
          <a:lstStyle/>
          <a:p>
            <a:pPr algn="l">
              <a:spcAft>
                <a:spcPts val="100"/>
              </a:spcAft>
            </a:pPr>
            <a:r>
              <a:rPr sz="1300" b="1" i="0">
                <a:solidFill>
                  <a:srgbClr val="0A0E1A"/>
                </a:solidFill>
                <a:latin typeface="Consolas"/>
              </a:rPr>
              <a:t>The name '...' does not exist</a:t>
            </a:r>
          </a:p>
          <a:p>
            <a:pPr algn="l">
              <a:spcAft>
                <a:spcPts val="100"/>
              </a:spcAft>
            </a:pPr>
            <a:r>
              <a:rPr sz="1300" b="0" i="0">
                <a:solidFill>
                  <a:srgbClr val="4F5C75"/>
                </a:solidFill>
                <a:latin typeface="Calibri"/>
              </a:rPr>
              <a:t>un nombre mal escrito. C# distingue Mayúsculas.</a:t>
            </a:r>
          </a:p>
        </p:txBody>
      </p:sp>
      <p:sp>
        <p:nvSpPr>
          <p:cNvPr id="16" name="TextBox 15"/>
          <p:cNvSpPr txBox="1"/>
          <p:nvPr/>
        </p:nvSpPr>
        <p:spPr>
          <a:xfrm>
            <a:off x="6949440" y="4873752"/>
            <a:ext cx="4526280" cy="658368"/>
          </a:xfrm>
          <a:prstGeom prst="rect">
            <a:avLst/>
          </a:prstGeom>
          <a:noFill/>
        </p:spPr>
        <p:txBody>
          <a:bodyPr wrap="square" lIns="0" rIns="0" tIns="0" bIns="0" anchor="t">
            <a:spAutoFit/>
          </a:bodyPr>
          <a:lstStyle/>
          <a:p>
            <a:pPr algn="l">
              <a:spcAft>
                <a:spcPts val="100"/>
              </a:spcAft>
            </a:pPr>
            <a:r>
              <a:rPr sz="1300" b="1" i="0">
                <a:solidFill>
                  <a:srgbClr val="0A0E1A"/>
                </a:solidFill>
                <a:latin typeface="Consolas"/>
              </a:rPr>
              <a:t>The type 'Text' could not be found</a:t>
            </a:r>
          </a:p>
          <a:p>
            <a:pPr algn="l">
              <a:spcAft>
                <a:spcPts val="100"/>
              </a:spcAft>
            </a:pPr>
            <a:r>
              <a:rPr sz="1300" b="0" i="0">
                <a:solidFill>
                  <a:srgbClr val="4F5C75"/>
                </a:solidFill>
                <a:latin typeface="Calibri"/>
              </a:rPr>
              <a:t>falta using UnityEngine.UI; arriba.</a:t>
            </a:r>
          </a:p>
        </p:txBody>
      </p:sp>
      <p:sp>
        <p:nvSpPr>
          <p:cNvPr id="17" name="TextBox 16"/>
          <p:cNvSpPr txBox="1"/>
          <p:nvPr/>
        </p:nvSpPr>
        <p:spPr>
          <a:xfrm>
            <a:off x="6949440" y="5550408"/>
            <a:ext cx="4526280" cy="658368"/>
          </a:xfrm>
          <a:prstGeom prst="rect">
            <a:avLst/>
          </a:prstGeom>
          <a:noFill/>
        </p:spPr>
        <p:txBody>
          <a:bodyPr wrap="square" lIns="0" rIns="0" tIns="0" bIns="0" anchor="t">
            <a:spAutoFit/>
          </a:bodyPr>
          <a:lstStyle/>
          <a:p>
            <a:pPr algn="l">
              <a:spcAft>
                <a:spcPts val="100"/>
              </a:spcAft>
            </a:pPr>
            <a:r>
              <a:rPr sz="1300" b="1" i="0">
                <a:solidFill>
                  <a:srgbClr val="0A0E1A"/>
                </a:solidFill>
                <a:latin typeface="Consolas"/>
              </a:rPr>
              <a:t>script class cannot be found</a:t>
            </a:r>
          </a:p>
          <a:p>
            <a:pPr algn="l">
              <a:spcAft>
                <a:spcPts val="100"/>
              </a:spcAft>
            </a:pPr>
            <a:r>
              <a:rPr sz="1300" b="0" i="0">
                <a:solidFill>
                  <a:srgbClr val="4F5C75"/>
                </a:solidFill>
                <a:latin typeface="Calibri"/>
              </a:rPr>
              <a:t>el archivo y la clase no se llaman igual.</a:t>
            </a:r>
          </a:p>
        </p:txBody>
      </p:sp>
      <p:sp>
        <p:nvSpPr>
          <p:cNvPr id="18"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4F5C75"/>
                </a:solidFill>
                <a:latin typeface="Calibri"/>
              </a:rPr>
              <a:t>Guía 0 · Preparar Unity  ·  8 de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B18"/>
        </a:solidFill>
        <a:effectLst/>
      </p:bgPr>
    </p:bg>
    <p:spTree>
      <p:nvGrpSpPr>
        <p:cNvPr id="1" name=""/>
        <p:cNvGrpSpPr/>
        <p:nvPr/>
      </p:nvGrpSpPr>
      <p:grpSpPr/>
      <p:sp>
        <p:nvSpPr>
          <p:cNvPr id="2" name="Etiqueta de sección"/>
          <p:cNvSpPr txBox="1"/>
          <p:nvPr/>
        </p:nvSpPr>
        <p:spPr>
          <a:xfrm>
            <a:off x="548640" y="320040"/>
            <a:ext cx="2743200" cy="274320"/>
          </a:xfrm>
          <a:prstGeom prst="rect">
            <a:avLst/>
          </a:prstGeom>
          <a:noFill/>
        </p:spPr>
        <p:txBody>
          <a:bodyPr wrap="square" lIns="0" rIns="0" tIns="0" bIns="0" anchor="t">
            <a:spAutoFit/>
          </a:bodyPr>
          <a:lstStyle/>
          <a:p>
            <a:pPr algn="l">
              <a:spcAft>
                <a:spcPts val="600"/>
              </a:spcAft>
            </a:pPr>
            <a:r>
              <a:rPr sz="1200" b="1" i="0">
                <a:solidFill>
                  <a:srgbClr val="C59BFF"/>
                </a:solidFill>
                <a:latin typeface="Calibri"/>
              </a:rPr>
              <a:t>Unity</a:t>
            </a:r>
          </a:p>
        </p:txBody>
      </p:sp>
      <p:sp>
        <p:nvSpPr>
          <p:cNvPr id="3" name="Título"/>
          <p:cNvSpPr txBox="1"/>
          <p:nvPr/>
        </p:nvSpPr>
        <p:spPr>
          <a:xfrm>
            <a:off x="548640" y="658368"/>
            <a:ext cx="11064240" cy="731520"/>
          </a:xfrm>
          <a:prstGeom prst="rect">
            <a:avLst/>
          </a:prstGeom>
          <a:noFill/>
        </p:spPr>
        <p:txBody>
          <a:bodyPr wrap="square" lIns="0" rIns="0" tIns="0" bIns="0" anchor="t">
            <a:spAutoFit/>
          </a:bodyPr>
          <a:lstStyle/>
          <a:p>
            <a:pPr algn="l">
              <a:spcAft>
                <a:spcPts val="600"/>
              </a:spcAft>
            </a:pPr>
            <a:r>
              <a:rPr sz="3200" b="1" i="0">
                <a:solidFill>
                  <a:srgbClr val="E9EEFB"/>
                </a:solidFill>
                <a:latin typeface="Cambria"/>
              </a:rPr>
              <a:t>Antes de salir</a:t>
            </a:r>
          </a:p>
        </p:txBody>
      </p:sp>
      <p:sp>
        <p:nvSpPr>
          <p:cNvPr id="4" name="TextBox 3"/>
          <p:cNvSpPr txBox="1"/>
          <p:nvPr/>
        </p:nvSpPr>
        <p:spPr>
          <a:xfrm>
            <a:off x="548640" y="1737360"/>
            <a:ext cx="6949440" cy="54864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700" b="0" i="0">
                <a:solidFill>
                  <a:srgbClr val="E9EEFB"/>
                </a:solidFill>
                <a:latin typeface="Calibri"/>
              </a:rPr>
              <a:t>Unity 2019.4.38f1 instalada, con Visual Studio y WebGL.</a:t>
            </a:r>
          </a:p>
        </p:txBody>
      </p:sp>
      <p:sp>
        <p:nvSpPr>
          <p:cNvPr id="5" name="TextBox 4"/>
          <p:cNvSpPr txBox="1"/>
          <p:nvPr/>
        </p:nvSpPr>
        <p:spPr>
          <a:xfrm>
            <a:off x="548640" y="2395728"/>
            <a:ext cx="6949440" cy="54864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700" b="0" i="0">
                <a:solidFill>
                  <a:srgbClr val="E9EEFB"/>
                </a:solidFill>
                <a:latin typeface="Calibri"/>
              </a:rPr>
              <a:t>El proyecto está en C:\Unity, no en OneDrive ni en el Escritorio.</a:t>
            </a:r>
          </a:p>
        </p:txBody>
      </p:sp>
      <p:sp>
        <p:nvSpPr>
          <p:cNvPr id="6" name="TextBox 5"/>
          <p:cNvSpPr txBox="1"/>
          <p:nvPr/>
        </p:nvSpPr>
        <p:spPr>
          <a:xfrm>
            <a:off x="548640" y="3054096"/>
            <a:ext cx="6949440" cy="54864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700" b="0" i="0">
                <a:solidFill>
                  <a:srgbClr val="E9EEFB"/>
                </a:solidFill>
                <a:latin typeface="Calibri"/>
              </a:rPr>
              <a:t>Doble clic en un script abre Visual Studio.</a:t>
            </a:r>
          </a:p>
        </p:txBody>
      </p:sp>
      <p:sp>
        <p:nvSpPr>
          <p:cNvPr id="7" name="TextBox 6"/>
          <p:cNvSpPr txBox="1"/>
          <p:nvPr/>
        </p:nvSpPr>
        <p:spPr>
          <a:xfrm>
            <a:off x="548640" y="3712464"/>
            <a:ext cx="6949440" cy="54864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700" b="0" i="0">
                <a:solidFill>
                  <a:srgbClr val="E9EEFB"/>
                </a:solidFill>
                <a:latin typeface="Calibri"/>
              </a:rPr>
              <a:t>La escena 00_PruebaDelKit dice Kit listo en verde.</a:t>
            </a:r>
          </a:p>
        </p:txBody>
      </p:sp>
      <p:sp>
        <p:nvSpPr>
          <p:cNvPr id="8" name="TextBox 7"/>
          <p:cNvSpPr txBox="1"/>
          <p:nvPr/>
        </p:nvSpPr>
        <p:spPr>
          <a:xfrm>
            <a:off x="548640" y="4370831"/>
            <a:ext cx="6949440" cy="548640"/>
          </a:xfrm>
          <a:prstGeom prst="rect">
            <a:avLst/>
          </a:prstGeom>
          <a:noFill/>
        </p:spPr>
        <p:txBody>
          <a:bodyPr wrap="square" lIns="0" rIns="0" tIns="0" bIns="0" anchor="t">
            <a:spAutoFit/>
          </a:bodyPr>
          <a:lstStyle/>
          <a:p>
            <a:pPr algn="l">
              <a:spcAft>
                <a:spcPts val="600"/>
              </a:spcAft>
            </a:pPr>
            <a:r>
              <a:rPr sz="2000" b="0" i="0">
                <a:solidFill>
                  <a:srgbClr val="C59BFF"/>
                </a:solidFill>
                <a:latin typeface="Calibri"/>
              </a:rPr>
              <a:t>☐   </a:t>
            </a:r>
            <a:r>
              <a:rPr sz="1700" b="0" i="0">
                <a:solidFill>
                  <a:srgbClr val="E9EEFB"/>
                </a:solidFill>
                <a:latin typeface="Calibri"/>
              </a:rPr>
              <a:t>Captura de esa pantalla subida a la carpeta del equipo: Fase0_listo.png</a:t>
            </a:r>
          </a:p>
        </p:txBody>
      </p:sp>
      <p:sp>
        <p:nvSpPr>
          <p:cNvPr id="9" name="Rounded Rectangle 8"/>
          <p:cNvSpPr/>
          <p:nvPr/>
        </p:nvSpPr>
        <p:spPr>
          <a:xfrm>
            <a:off x="8001000" y="1737360"/>
            <a:ext cx="3657600" cy="2331720"/>
          </a:xfrm>
          <a:prstGeom prst="roundRect">
            <a:avLst>
              <a:gd name="adj" fmla="val 5000"/>
            </a:avLst>
          </a:prstGeom>
          <a:solidFill>
            <a:srgbClr val="141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75320" y="1965960"/>
            <a:ext cx="3154680" cy="2743200"/>
          </a:xfrm>
          <a:prstGeom prst="rect">
            <a:avLst/>
          </a:prstGeom>
          <a:noFill/>
        </p:spPr>
        <p:txBody>
          <a:bodyPr wrap="square" lIns="0" rIns="0" tIns="0" bIns="0" anchor="t">
            <a:spAutoFit/>
          </a:bodyPr>
          <a:lstStyle/>
          <a:p>
            <a:pPr algn="l">
              <a:spcAft>
                <a:spcPts val="800"/>
              </a:spcAft>
            </a:pPr>
            <a:r>
              <a:rPr sz="1300" b="1" i="0">
                <a:solidFill>
                  <a:srgbClr val="C59BFF"/>
                </a:solidFill>
                <a:latin typeface="Calibri"/>
              </a:rPr>
              <a:t>SIGUIENTE GUÍA</a:t>
            </a:r>
          </a:p>
          <a:p>
            <a:pPr algn="l">
              <a:spcAft>
                <a:spcPts val="800"/>
              </a:spcAft>
            </a:pPr>
            <a:r>
              <a:rPr sz="2600" b="1" i="0">
                <a:solidFill>
                  <a:srgbClr val="E9EEFB"/>
                </a:solidFill>
                <a:latin typeface="Cambria"/>
              </a:rPr>
              <a:t>28 de octubre</a:t>
            </a:r>
          </a:p>
          <a:p>
            <a:pPr algn="l">
              <a:spcAft>
                <a:spcPts val="800"/>
              </a:spcAft>
            </a:pPr>
            <a:r>
              <a:rPr sz="1500" b="0" i="0">
                <a:solidFill>
                  <a:srgbClr val="94A4C6"/>
                </a:solidFill>
                <a:latin typeface="Calibri"/>
              </a:rPr>
              <a:t>La mecánica central de tu juego: el pincel y la zona en 10.1, las notas al ritmo en 10.2.</a:t>
            </a:r>
          </a:p>
        </p:txBody>
      </p:sp>
      <p:sp>
        <p:nvSpPr>
          <p:cNvPr id="11" name="Pie"/>
          <p:cNvSpPr txBox="1"/>
          <p:nvPr/>
        </p:nvSpPr>
        <p:spPr>
          <a:xfrm>
            <a:off x="548640" y="6400800"/>
            <a:ext cx="11064240" cy="274320"/>
          </a:xfrm>
          <a:prstGeom prst="rect">
            <a:avLst/>
          </a:prstGeom>
          <a:noFill/>
        </p:spPr>
        <p:txBody>
          <a:bodyPr wrap="square" lIns="0" rIns="0" tIns="0" bIns="0" anchor="t">
            <a:spAutoFit/>
          </a:bodyPr>
          <a:lstStyle/>
          <a:p>
            <a:pPr algn="r">
              <a:spcAft>
                <a:spcPts val="600"/>
              </a:spcAft>
            </a:pPr>
            <a:r>
              <a:rPr sz="1100" b="0" i="0">
                <a:solidFill>
                  <a:srgbClr val="94A4C6"/>
                </a:solidFill>
                <a:latin typeface="Calibri"/>
              </a:rPr>
              <a:t>Guía 0 · Preparar Unity  ·  9 de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