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Esta es la guía de las últimas dos semanas, y es la misma para los dos equipos. Tiene dos partes. Primero, probar el juego con alguien que no sea del equipo y ajustar lo que no entendió: eso es iterar. Después, exportarlo para que se pueda jugar en un navegador. La imagen es el juego rítmico corriendo de verdad en Chrome, exportado con los pasos que siguen.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Iterar es esto: probarlo con alguien que no es del equipo y ajustar. Lo difícil es quedarse callado. Si la persona no entiende cómo se juega, no se lo expliquen: anótenlo, porque eso significa que el juego no se explica solo. Y copien el archivo de resultados después de cada persona, así los datos de cada una quedan separados.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Esta tabla es el puente entre lo que ven y lo que cambian. Cada problema que observaron en la prueba tiene su casilla en el Inspector, y todas se cambian sin tocar el código. Una sola cosa por vez: si cambian tres a la vez y mejora, no saben cuál fue.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La segunda versión no es cambiar cosas porque sí. Es un cambio por algo que vieron, con el dato de antes y de después. Por eso copian la carpeta primero: si el cambio empeora, vuelven a la v1. Y cuéntenlo en la hoja de barreras, que es la evidencia de que iteraron.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La exportación tiene un paso que no se puede olvidar: la compresión en Disabled. En la página del semillero no podemos activar la compresión del servidor, y si el archivo sale comprimido el navegador no puede abrirlo y el juego no carga. Build And Run hace todo de una vez: exporta, levanta un servidor local y abre el navegador.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Este error es muy confuso porque el mensaje habla de cosas internas que no dicen nada. Lo que quiere decir es: no puedo leer la ruta. Pasó exactamente así con el juego de referencia: desde una carpeta con la palabra Tecnología falló, y al copiarla a una sin tilde salió. Por eso les pedí desde la Guía 0 que el proyecto viva en C Unity.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Hay cuatro cosas que cambian en el navegador. El sonido no empieza hasta un clic; en nuestros menús ya hay uno, así que no falla. El mouse se captura con un clic. Los datos no se pueden guardar en un archivo, salen en la consola. Y salir no hace nada. Lo importante: el juego cargó y corrió en un navegador automático, pero la captura del mouse necesita una persona. Por eso la diapositiva 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camino hasta la página es corto. Ustedes entregan la carpeta que exporta Unity. Yo la reviso, sobre todo que no tenga nada con derechos de otros, y la publico. El kit ya viene limpio; si agregan algo de internet, anoten de dónde salió. Una vez publicado, cualquiera juega sin instalar nada.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Esta es la prueba que yo no pude hacer por ustedes. Un navegador automático no concede la captura del mouse, y la sensibilidad puede sentirse distinta en la web que en Windows; no pude medirlo. Son dos minutos: abran el juego exportado, recorran la lista y anoten qué falla. Si la sensibilidad se siente mal, hay dos números para cambiar en un solo archivo.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Cierre del recorrido. Las cinco casillas son lo que necesito ver antes del 13 de noviembre. Si llegan con esto, el juego se aprueba y se publica en la página. Y recuerden: no tiene que ser perfecto, tiene que ser un borrador que funciona y que probaron con otras personas.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B18"/>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C59BFF"/>
                </a:solidFill>
                <a:latin typeface="Calibri"/>
              </a:rPr>
              <a:t>Unity</a:t>
            </a:r>
          </a:p>
        </p:txBody>
      </p:sp>
      <p:sp>
        <p:nvSpPr>
          <p:cNvPr id="3" name="TextBox 2"/>
          <p:cNvSpPr txBox="1"/>
          <p:nvPr/>
        </p:nvSpPr>
        <p:spPr>
          <a:xfrm>
            <a:off x="548640" y="1371600"/>
            <a:ext cx="5669280" cy="365760"/>
          </a:xfrm>
          <a:prstGeom prst="rect">
            <a:avLst/>
          </a:prstGeom>
          <a:noFill/>
        </p:spPr>
        <p:txBody>
          <a:bodyPr wrap="square" lIns="0" rIns="0" tIns="0" bIns="0" anchor="t">
            <a:spAutoFit/>
          </a:bodyPr>
          <a:lstStyle/>
          <a:p>
            <a:pPr algn="l">
              <a:spcAft>
                <a:spcPts val="600"/>
              </a:spcAft>
            </a:pPr>
            <a:r>
              <a:rPr sz="1400" b="1" i="0">
                <a:solidFill>
                  <a:srgbClr val="C59BFF"/>
                </a:solidFill>
                <a:latin typeface="Calibri"/>
              </a:rPr>
              <a:t>GUÍA 2  ·  LAS DOS ÚLTIMAS SEMANAS</a:t>
            </a:r>
          </a:p>
        </p:txBody>
      </p:sp>
      <p:sp>
        <p:nvSpPr>
          <p:cNvPr id="4" name="Título"/>
          <p:cNvSpPr txBox="1"/>
          <p:nvPr/>
        </p:nvSpPr>
        <p:spPr>
          <a:xfrm>
            <a:off x="548640" y="1828800"/>
            <a:ext cx="5669280" cy="2194560"/>
          </a:xfrm>
          <a:prstGeom prst="rect">
            <a:avLst/>
          </a:prstGeom>
          <a:noFill/>
        </p:spPr>
        <p:txBody>
          <a:bodyPr wrap="square" lIns="0" rIns="0" tIns="0" bIns="0" anchor="t">
            <a:spAutoFit/>
          </a:bodyPr>
          <a:lstStyle/>
          <a:p>
            <a:pPr algn="l">
              <a:spcAft>
                <a:spcPts val="600"/>
              </a:spcAft>
            </a:pPr>
            <a:r>
              <a:rPr sz="4000" b="1" i="0">
                <a:solidFill>
                  <a:srgbClr val="E9EEFB"/>
                </a:solidFill>
                <a:latin typeface="Cambria"/>
              </a:rPr>
              <a:t>Probarlo con alguien y llevarlo a la página web</a:t>
            </a:r>
          </a:p>
        </p:txBody>
      </p:sp>
      <p:sp>
        <p:nvSpPr>
          <p:cNvPr id="5" name="TextBox 4"/>
          <p:cNvSpPr txBox="1"/>
          <p:nvPr/>
        </p:nvSpPr>
        <p:spPr>
          <a:xfrm>
            <a:off x="548640" y="4206240"/>
            <a:ext cx="5486400" cy="1280160"/>
          </a:xfrm>
          <a:prstGeom prst="rect">
            <a:avLst/>
          </a:prstGeom>
          <a:noFill/>
        </p:spPr>
        <p:txBody>
          <a:bodyPr wrap="square" lIns="0" rIns="0" tIns="0" bIns="0" anchor="t">
            <a:spAutoFit/>
          </a:bodyPr>
          <a:lstStyle/>
          <a:p>
            <a:pPr algn="l">
              <a:spcAft>
                <a:spcPts val="600"/>
              </a:spcAft>
            </a:pPr>
            <a:r>
              <a:rPr sz="1500" b="0" i="0">
                <a:solidFill>
                  <a:srgbClr val="94A4C6"/>
                </a:solidFill>
                <a:latin typeface="Calibri"/>
              </a:rPr>
              <a:t>Equipos 10.1 y 10.2  ·  Unity 2019.4.38f1</a:t>
            </a:r>
          </a:p>
          <a:p>
            <a:pPr algn="l">
              <a:spcAft>
                <a:spcPts val="600"/>
              </a:spcAft>
            </a:pPr>
            <a:r>
              <a:rPr sz="1500" b="0" i="0">
                <a:solidFill>
                  <a:srgbClr val="94A4C6"/>
                </a:solidFill>
                <a:latin typeface="Calibri"/>
              </a:rPr>
              <a:t>Del 31 de octubre al 13 de noviembre, en clase.</a:t>
            </a:r>
          </a:p>
          <a:p>
            <a:pPr algn="l">
              <a:spcAft>
                <a:spcPts val="600"/>
              </a:spcAft>
            </a:pPr>
            <a:r>
              <a:rPr sz="1500" b="0" i="0">
                <a:solidFill>
                  <a:srgbClr val="94A4C6"/>
                </a:solidFill>
                <a:latin typeface="Calibri"/>
              </a:rPr>
              <a:t>Requisito: la Guía 1 terminada y el juego jugable de punta a punta.</a:t>
            </a:r>
          </a:p>
        </p:txBody>
      </p:sp>
      <p:sp>
        <p:nvSpPr>
          <p:cNvPr id="6" name="Rounded Rectangle 5"/>
          <p:cNvSpPr/>
          <p:nvPr/>
        </p:nvSpPr>
        <p:spPr>
          <a:xfrm>
            <a:off x="6501384" y="1380744"/>
            <a:ext cx="5193792" cy="3273552"/>
          </a:xfrm>
          <a:prstGeom prst="roundRect">
            <a:avLst>
              <a:gd name="adj" fmla="val 3000"/>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web_ritmo_lienzo.png"/>
          <p:cNvPicPr>
            <a:picLocks noChangeAspect="1"/>
          </p:cNvPicPr>
          <p:nvPr/>
        </p:nvPicPr>
        <p:blipFill>
          <a:blip r:embed="rId2"/>
          <a:stretch>
            <a:fillRect/>
          </a:stretch>
        </p:blipFill>
        <p:spPr>
          <a:xfrm>
            <a:off x="6537960" y="1417320"/>
            <a:ext cx="5120640" cy="3200400"/>
          </a:xfrm>
          <a:prstGeom prst="rect">
            <a:avLst/>
          </a:prstGeom>
        </p:spPr>
      </p:pic>
      <p:sp>
        <p:nvSpPr>
          <p:cNvPr id="8" name="TextBox 7"/>
          <p:cNvSpPr txBox="1"/>
          <p:nvPr/>
        </p:nvSpPr>
        <p:spPr>
          <a:xfrm>
            <a:off x="6537960" y="4727448"/>
            <a:ext cx="5120640" cy="320040"/>
          </a:xfrm>
          <a:prstGeom prst="rect">
            <a:avLst/>
          </a:prstGeom>
          <a:noFill/>
        </p:spPr>
        <p:txBody>
          <a:bodyPr wrap="square" lIns="0" rIns="0" tIns="0" bIns="0" anchor="t">
            <a:spAutoFit/>
          </a:bodyPr>
          <a:lstStyle/>
          <a:p>
            <a:pPr algn="l">
              <a:spcAft>
                <a:spcPts val="600"/>
              </a:spcAft>
            </a:pPr>
            <a:r>
              <a:rPr sz="1200" b="0" i="0">
                <a:solidFill>
                  <a:srgbClr val="94A4C6"/>
                </a:solidFill>
                <a:latin typeface="Calibri"/>
              </a:rPr>
              <a:t>El juego rítmico corriendo en Chrome, exportado a WebGL.</a:t>
            </a:r>
          </a:p>
        </p:txBody>
      </p:sp>
      <p:sp>
        <p:nvSpPr>
          <p:cNvPr id="9"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94A4C6"/>
                </a:solidFill>
                <a:latin typeface="Calibri"/>
              </a:rPr>
              <a:t>Guía 2 · Probar y publicar  ·  1 de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Parte 1 · Probarlo con alguien de fuera</a:t>
            </a:r>
          </a:p>
        </p:txBody>
      </p:sp>
      <p:sp>
        <p:nvSpPr>
          <p:cNvPr id="4" name="Oval 3"/>
          <p:cNvSpPr/>
          <p:nvPr/>
        </p:nvSpPr>
        <p:spPr>
          <a:xfrm>
            <a:off x="548640" y="164592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5" name="TextBox 4"/>
          <p:cNvSpPr txBox="1"/>
          <p:nvPr/>
        </p:nvSpPr>
        <p:spPr>
          <a:xfrm>
            <a:off x="1051560" y="1664208"/>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Consigue tres personas que no hayan visto el juego: de otro grado, o de otra mesa.</a:t>
            </a:r>
          </a:p>
        </p:txBody>
      </p:sp>
      <p:sp>
        <p:nvSpPr>
          <p:cNvPr id="6" name="Oval 5"/>
          <p:cNvSpPr/>
          <p:nvPr/>
        </p:nvSpPr>
        <p:spPr>
          <a:xfrm>
            <a:off x="548640" y="2395728"/>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7" name="TextBox 6"/>
          <p:cNvSpPr txBox="1"/>
          <p:nvPr/>
        </p:nvSpPr>
        <p:spPr>
          <a:xfrm>
            <a:off x="1051560" y="2414016"/>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No les expliques nada. Solo di: </a:t>
            </a:r>
            <a:r>
              <a:rPr sz="1500" b="0" i="1">
                <a:solidFill>
                  <a:srgbClr val="0A0E1A"/>
                </a:solidFill>
                <a:latin typeface="Calibri"/>
              </a:rPr>
              <a:t>"juega y dime qué piensas mientras lo haces"</a:t>
            </a:r>
            <a:r>
              <a:rPr sz="1500" b="0" i="0">
                <a:solidFill>
                  <a:srgbClr val="0A0E1A"/>
                </a:solidFill>
                <a:latin typeface="Calibri"/>
              </a:rPr>
              <a:t>.</a:t>
            </a:r>
          </a:p>
        </p:txBody>
      </p:sp>
      <p:sp>
        <p:nvSpPr>
          <p:cNvPr id="8" name="Oval 7"/>
          <p:cNvSpPr/>
          <p:nvPr/>
        </p:nvSpPr>
        <p:spPr>
          <a:xfrm>
            <a:off x="548640" y="3145536"/>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9" name="TextBox 8"/>
          <p:cNvSpPr txBox="1"/>
          <p:nvPr/>
        </p:nvSpPr>
        <p:spPr>
          <a:xfrm>
            <a:off x="1051560" y="3163824"/>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Tú te quedas callado y anotas. Cada vez que dudan o preguntan, es un punto a mejorar.</a:t>
            </a:r>
          </a:p>
        </p:txBody>
      </p:sp>
      <p:sp>
        <p:nvSpPr>
          <p:cNvPr id="10" name="Oval 9"/>
          <p:cNvSpPr/>
          <p:nvPr/>
        </p:nvSpPr>
        <p:spPr>
          <a:xfrm>
            <a:off x="548640" y="3895344"/>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1" name="TextBox 10"/>
          <p:cNvSpPr txBox="1"/>
          <p:nvPr/>
        </p:nvSpPr>
        <p:spPr>
          <a:xfrm>
            <a:off x="1051560" y="3913631"/>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Que jueguen dos veces: la primera muestra qué no se entiende, la segunda si mejoraron.</a:t>
            </a:r>
          </a:p>
        </p:txBody>
      </p:sp>
      <p:sp>
        <p:nvSpPr>
          <p:cNvPr id="12" name="Oval 11"/>
          <p:cNvSpPr/>
          <p:nvPr/>
        </p:nvSpPr>
        <p:spPr>
          <a:xfrm>
            <a:off x="548640" y="4645152"/>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13" name="TextBox 12"/>
          <p:cNvSpPr txBox="1"/>
          <p:nvPr/>
        </p:nvSpPr>
        <p:spPr>
          <a:xfrm>
            <a:off x="1051560" y="4663440"/>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Copia el CSV de cada persona antes de que otra juegue, para no mezclar los datos.</a:t>
            </a:r>
          </a:p>
        </p:txBody>
      </p:sp>
      <p:sp>
        <p:nvSpPr>
          <p:cNvPr id="14" name="Rounded Rectangle 13"/>
          <p:cNvSpPr/>
          <p:nvPr/>
        </p:nvSpPr>
        <p:spPr>
          <a:xfrm>
            <a:off x="6766560" y="1645920"/>
            <a:ext cx="4892040" cy="288036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95160" y="1783080"/>
            <a:ext cx="4480560" cy="2697480"/>
          </a:xfrm>
          <a:prstGeom prst="rect">
            <a:avLst/>
          </a:prstGeom>
          <a:noFill/>
        </p:spPr>
        <p:txBody>
          <a:bodyPr wrap="square" lIns="0" rIns="0" tIns="0" bIns="0" anchor="t">
            <a:spAutoFit/>
          </a:bodyPr>
          <a:lstStyle/>
          <a:p>
            <a:pPr algn="l">
              <a:spcAft>
                <a:spcPts val="700"/>
              </a:spcAft>
            </a:pPr>
            <a:r>
              <a:rPr sz="1400" b="1" i="0">
                <a:solidFill>
                  <a:srgbClr val="0A0E1A"/>
                </a:solidFill>
                <a:latin typeface="Calibri"/>
              </a:rPr>
              <a:t>La tabla que llenas mientras miras</a:t>
            </a:r>
          </a:p>
          <a:p>
            <a:pPr algn="l">
              <a:spcAft>
                <a:spcPts val="700"/>
              </a:spcAft>
            </a:pPr>
            <a:r>
              <a:rPr sz="1300" b="1" i="0">
                <a:solidFill>
                  <a:srgbClr val="0A0E1A"/>
                </a:solidFill>
                <a:latin typeface="Calibri"/>
              </a:rPr>
              <a:t>Qué hizo o dijo</a:t>
            </a:r>
            <a:r>
              <a:rPr sz="1300" b="0" i="0">
                <a:solidFill>
                  <a:srgbClr val="0A0E1A"/>
                </a:solidFill>
                <a:latin typeface="Calibri"/>
              </a:rPr>
              <a:t>  ·  </a:t>
            </a:r>
            <a:r>
              <a:rPr sz="1300" b="1" i="0">
                <a:solidFill>
                  <a:srgbClr val="0A0E1A"/>
                </a:solidFill>
                <a:latin typeface="Calibri"/>
              </a:rPr>
              <a:t>Qué significa</a:t>
            </a:r>
          </a:p>
          <a:p>
            <a:pPr algn="l">
              <a:spcAft>
                <a:spcPts val="700"/>
              </a:spcAft>
            </a:pPr>
            <a:r>
              <a:rPr sz="1300" b="0" i="1">
                <a:solidFill>
                  <a:srgbClr val="0A0E1A"/>
                </a:solidFill>
                <a:latin typeface="Calibri"/>
              </a:rPr>
              <a:t>"¿Dónde hago clic?"</a:t>
            </a:r>
            <a:r>
              <a:rPr sz="1300" b="0" i="0">
                <a:solidFill>
                  <a:srgbClr val="0A0E1A"/>
                </a:solidFill>
                <a:latin typeface="Calibri"/>
              </a:rPr>
              <a:t>  →  no se ve el botón Listo</a:t>
            </a:r>
          </a:p>
          <a:p>
            <a:pPr algn="l">
              <a:spcAft>
                <a:spcPts val="700"/>
              </a:spcAft>
            </a:pPr>
            <a:r>
              <a:rPr sz="1300" b="0" i="1">
                <a:solidFill>
                  <a:srgbClr val="0A0E1A"/>
                </a:solidFill>
                <a:latin typeface="Calibri"/>
              </a:rPr>
              <a:t>Se salió del camino al inicio</a:t>
            </a:r>
            <a:r>
              <a:rPr sz="1300" b="0" i="0">
                <a:solidFill>
                  <a:srgbClr val="0A0E1A"/>
                </a:solidFill>
                <a:latin typeface="Calibri"/>
              </a:rPr>
              <a:t>  →  el camino es muy angosto</a:t>
            </a:r>
          </a:p>
          <a:p>
            <a:pPr algn="l">
              <a:spcAft>
                <a:spcPts val="700"/>
              </a:spcAft>
            </a:pPr>
            <a:r>
              <a:rPr sz="1300" b="0" i="1">
                <a:solidFill>
                  <a:srgbClr val="0A0E1A"/>
                </a:solidFill>
                <a:latin typeface="Calibri"/>
              </a:rPr>
              <a:t>Apretó D y no pasó nada</a:t>
            </a:r>
            <a:r>
              <a:rPr sz="1300" b="0" i="0">
                <a:solidFill>
                  <a:srgbClr val="0A0E1A"/>
                </a:solidFill>
                <a:latin typeface="Calibri"/>
              </a:rPr>
              <a:t>  →  no sabía qué tecla era</a:t>
            </a:r>
          </a:p>
        </p:txBody>
      </p:sp>
      <p:sp>
        <p:nvSpPr>
          <p:cNvPr id="16" name="Rounded Rectangle 15"/>
          <p:cNvSpPr/>
          <p:nvPr/>
        </p:nvSpPr>
        <p:spPr>
          <a:xfrm>
            <a:off x="6766560" y="4709160"/>
            <a:ext cx="4892040" cy="1554480"/>
          </a:xfrm>
          <a:prstGeom prst="roundRect">
            <a:avLst>
              <a:gd name="adj" fmla="val 8000"/>
            </a:avLst>
          </a:prstGeom>
          <a:solidFill>
            <a:srgbClr val="FC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995160" y="4873752"/>
            <a:ext cx="4434840" cy="1280160"/>
          </a:xfrm>
          <a:prstGeom prst="rect">
            <a:avLst/>
          </a:prstGeom>
          <a:noFill/>
        </p:spPr>
        <p:txBody>
          <a:bodyPr wrap="square" lIns="0" rIns="0" tIns="0" bIns="0" anchor="t">
            <a:spAutoFit/>
          </a:bodyPr>
          <a:lstStyle/>
          <a:p>
            <a:pPr algn="l">
              <a:spcAft>
                <a:spcPts val="400"/>
              </a:spcAft>
            </a:pPr>
            <a:r>
              <a:rPr sz="1300" b="1" i="0">
                <a:solidFill>
                  <a:srgbClr val="875A00"/>
                </a:solidFill>
                <a:latin typeface="Calibri"/>
              </a:rPr>
              <a:t>!  No expliques ni defiendas</a:t>
            </a:r>
          </a:p>
          <a:p>
            <a:pPr algn="l">
              <a:spcAft>
                <a:spcPts val="400"/>
              </a:spcAft>
            </a:pPr>
            <a:r>
              <a:rPr sz="1300" b="0" i="0">
                <a:solidFill>
                  <a:srgbClr val="0A0E1A"/>
                </a:solidFill>
                <a:latin typeface="Calibri"/>
              </a:rPr>
              <a:t>Si se confunde, el juego no se explicó solo. Eso es lo que buscas: no corregir a la persona, sino al juego.</a:t>
            </a:r>
          </a:p>
        </p:txBody>
      </p:sp>
      <p:sp>
        <p:nvSpPr>
          <p:cNvPr id="18"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2 · Probar y publicar  ·  2 de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Del síntoma a la casilla: qué mover para cada problema</a:t>
            </a:r>
          </a:p>
        </p:txBody>
      </p:sp>
      <p:sp>
        <p:nvSpPr>
          <p:cNvPr id="4" name="Rounded Rectangle 3"/>
          <p:cNvSpPr/>
          <p:nvPr/>
        </p:nvSpPr>
        <p:spPr>
          <a:xfrm>
            <a:off x="548640" y="1600200"/>
            <a:ext cx="11109960" cy="3977639"/>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719072"/>
            <a:ext cx="2743200" cy="274320"/>
          </a:xfrm>
          <a:prstGeom prst="rect">
            <a:avLst/>
          </a:prstGeom>
          <a:noFill/>
        </p:spPr>
        <p:txBody>
          <a:bodyPr wrap="square" lIns="0" rIns="0" tIns="0" bIns="0" anchor="t">
            <a:spAutoFit/>
          </a:bodyPr>
          <a:lstStyle/>
          <a:p>
            <a:pPr algn="l">
              <a:spcAft>
                <a:spcPts val="600"/>
              </a:spcAft>
            </a:pPr>
            <a:r>
              <a:rPr sz="1300" b="1" i="0">
                <a:solidFill>
                  <a:srgbClr val="7317C9"/>
                </a:solidFill>
                <a:latin typeface="Calibri"/>
              </a:rPr>
              <a:t>Si observas...</a:t>
            </a:r>
          </a:p>
        </p:txBody>
      </p:sp>
      <p:sp>
        <p:nvSpPr>
          <p:cNvPr id="6" name="TextBox 5"/>
          <p:cNvSpPr txBox="1"/>
          <p:nvPr/>
        </p:nvSpPr>
        <p:spPr>
          <a:xfrm>
            <a:off x="4663440" y="1719072"/>
            <a:ext cx="2743200" cy="274320"/>
          </a:xfrm>
          <a:prstGeom prst="rect">
            <a:avLst/>
          </a:prstGeom>
          <a:noFill/>
        </p:spPr>
        <p:txBody>
          <a:bodyPr wrap="square" lIns="0" rIns="0" tIns="0" bIns="0" anchor="t">
            <a:spAutoFit/>
          </a:bodyPr>
          <a:lstStyle/>
          <a:p>
            <a:pPr algn="l">
              <a:spcAft>
                <a:spcPts val="600"/>
              </a:spcAft>
            </a:pPr>
            <a:r>
              <a:rPr sz="1300" b="1" i="0">
                <a:solidFill>
                  <a:srgbClr val="7317C9"/>
                </a:solidFill>
                <a:latin typeface="Calibri"/>
              </a:rPr>
              <a:t>Pieza</a:t>
            </a:r>
          </a:p>
        </p:txBody>
      </p:sp>
      <p:sp>
        <p:nvSpPr>
          <p:cNvPr id="7" name="TextBox 6"/>
          <p:cNvSpPr txBox="1"/>
          <p:nvPr/>
        </p:nvSpPr>
        <p:spPr>
          <a:xfrm>
            <a:off x="7132320" y="1719072"/>
            <a:ext cx="2743200" cy="274320"/>
          </a:xfrm>
          <a:prstGeom prst="rect">
            <a:avLst/>
          </a:prstGeom>
          <a:noFill/>
        </p:spPr>
        <p:txBody>
          <a:bodyPr wrap="square" lIns="0" rIns="0" tIns="0" bIns="0" anchor="t">
            <a:spAutoFit/>
          </a:bodyPr>
          <a:lstStyle/>
          <a:p>
            <a:pPr algn="l">
              <a:spcAft>
                <a:spcPts val="600"/>
              </a:spcAft>
            </a:pPr>
            <a:r>
              <a:rPr sz="1300" b="1" i="0">
                <a:solidFill>
                  <a:srgbClr val="7317C9"/>
                </a:solidFill>
                <a:latin typeface="Calibri"/>
              </a:rPr>
              <a:t>Casilla</a:t>
            </a:r>
          </a:p>
        </p:txBody>
      </p:sp>
      <p:sp>
        <p:nvSpPr>
          <p:cNvPr id="8" name="TextBox 7"/>
          <p:cNvSpPr txBox="1"/>
          <p:nvPr/>
        </p:nvSpPr>
        <p:spPr>
          <a:xfrm>
            <a:off x="9326880" y="1719072"/>
            <a:ext cx="2743200" cy="274320"/>
          </a:xfrm>
          <a:prstGeom prst="rect">
            <a:avLst/>
          </a:prstGeom>
          <a:noFill/>
        </p:spPr>
        <p:txBody>
          <a:bodyPr wrap="square" lIns="0" rIns="0" tIns="0" bIns="0" anchor="t">
            <a:spAutoFit/>
          </a:bodyPr>
          <a:lstStyle/>
          <a:p>
            <a:pPr algn="l">
              <a:spcAft>
                <a:spcPts val="600"/>
              </a:spcAft>
            </a:pPr>
            <a:r>
              <a:rPr sz="1300" b="1" i="0">
                <a:solidFill>
                  <a:srgbClr val="7317C9"/>
                </a:solidFill>
                <a:latin typeface="Calibri"/>
              </a:rPr>
              <a:t>Prueba</a:t>
            </a:r>
          </a:p>
        </p:txBody>
      </p:sp>
      <p:sp>
        <p:nvSpPr>
          <p:cNvPr id="9" name="TextBox 8"/>
          <p:cNvSpPr txBox="1"/>
          <p:nvPr/>
        </p:nvSpPr>
        <p:spPr>
          <a:xfrm>
            <a:off x="777240" y="2103120"/>
            <a:ext cx="3749039" cy="457200"/>
          </a:xfrm>
          <a:prstGeom prst="rect">
            <a:avLst/>
          </a:prstGeom>
          <a:noFill/>
        </p:spPr>
        <p:txBody>
          <a:bodyPr wrap="square" lIns="0" rIns="0" tIns="0" bIns="0" anchor="t">
            <a:spAutoFit/>
          </a:bodyPr>
          <a:lstStyle/>
          <a:p>
            <a:pPr algn="l">
              <a:spcAft>
                <a:spcPts val="600"/>
              </a:spcAft>
            </a:pPr>
            <a:r>
              <a:rPr sz="1300" b="1" i="0">
                <a:solidFill>
                  <a:srgbClr val="0A0E1A"/>
                </a:solidFill>
                <a:latin typeface="Calibri"/>
              </a:rPr>
              <a:t>Se sale del camino todo el tiempo</a:t>
            </a:r>
          </a:p>
        </p:txBody>
      </p:sp>
      <p:sp>
        <p:nvSpPr>
          <p:cNvPr id="10" name="TextBox 9"/>
          <p:cNvSpPr txBox="1"/>
          <p:nvPr/>
        </p:nvSpPr>
        <p:spPr>
          <a:xfrm>
            <a:off x="4663440" y="2103120"/>
            <a:ext cx="2377440" cy="457200"/>
          </a:xfrm>
          <a:prstGeom prst="rect">
            <a:avLst/>
          </a:prstGeom>
          <a:noFill/>
        </p:spPr>
        <p:txBody>
          <a:bodyPr wrap="square" lIns="0" rIns="0" tIns="0" bIns="0" anchor="t">
            <a:spAutoFit/>
          </a:bodyPr>
          <a:lstStyle/>
          <a:p>
            <a:pPr algn="l">
              <a:spcAft>
                <a:spcPts val="600"/>
              </a:spcAft>
            </a:pPr>
            <a:r>
              <a:rPr sz="1300" b="0" i="0">
                <a:solidFill>
                  <a:srgbClr val="0A0E1A"/>
                </a:solidFill>
                <a:latin typeface="Consolas"/>
              </a:rPr>
              <a:t>Camino Preciso</a:t>
            </a:r>
          </a:p>
        </p:txBody>
      </p:sp>
      <p:sp>
        <p:nvSpPr>
          <p:cNvPr id="11" name="TextBox 10"/>
          <p:cNvSpPr txBox="1"/>
          <p:nvPr/>
        </p:nvSpPr>
        <p:spPr>
          <a:xfrm>
            <a:off x="7132320" y="2103120"/>
            <a:ext cx="2103120" cy="457200"/>
          </a:xfrm>
          <a:prstGeom prst="rect">
            <a:avLst/>
          </a:prstGeom>
          <a:noFill/>
        </p:spPr>
        <p:txBody>
          <a:bodyPr wrap="square" lIns="0" rIns="0" tIns="0" bIns="0" anchor="t">
            <a:spAutoFit/>
          </a:bodyPr>
          <a:lstStyle/>
          <a:p>
            <a:pPr algn="l">
              <a:spcAft>
                <a:spcPts val="600"/>
              </a:spcAft>
            </a:pPr>
            <a:r>
              <a:rPr sz="1300" b="0" i="0">
                <a:solidFill>
                  <a:srgbClr val="0A0E1A"/>
                </a:solidFill>
                <a:latin typeface="Consolas"/>
              </a:rPr>
              <a:t>Ancho</a:t>
            </a:r>
          </a:p>
        </p:txBody>
      </p:sp>
      <p:sp>
        <p:nvSpPr>
          <p:cNvPr id="12" name="TextBox 11"/>
          <p:cNvSpPr txBox="1"/>
          <p:nvPr/>
        </p:nvSpPr>
        <p:spPr>
          <a:xfrm>
            <a:off x="9326880" y="2103120"/>
            <a:ext cx="2194560" cy="457200"/>
          </a:xfrm>
          <a:prstGeom prst="rect">
            <a:avLst/>
          </a:prstGeom>
          <a:noFill/>
        </p:spPr>
        <p:txBody>
          <a:bodyPr wrap="square" lIns="0" rIns="0" tIns="0" bIns="0" anchor="t">
            <a:spAutoFit/>
          </a:bodyPr>
          <a:lstStyle/>
          <a:p>
            <a:pPr algn="l">
              <a:spcAft>
                <a:spcPts val="600"/>
              </a:spcAft>
            </a:pPr>
            <a:r>
              <a:rPr sz="1300" b="0" i="0">
                <a:solidFill>
                  <a:srgbClr val="0A0E1A"/>
                </a:solidFill>
                <a:latin typeface="Calibri"/>
              </a:rPr>
              <a:t>Súbelo de 0,7 a 0,9</a:t>
            </a:r>
          </a:p>
        </p:txBody>
      </p:sp>
      <p:sp>
        <p:nvSpPr>
          <p:cNvPr id="13" name="TextBox 12"/>
          <p:cNvSpPr txBox="1"/>
          <p:nvPr/>
        </p:nvSpPr>
        <p:spPr>
          <a:xfrm>
            <a:off x="777240" y="2606039"/>
            <a:ext cx="3749039" cy="457200"/>
          </a:xfrm>
          <a:prstGeom prst="rect">
            <a:avLst/>
          </a:prstGeom>
          <a:noFill/>
        </p:spPr>
        <p:txBody>
          <a:bodyPr wrap="square" lIns="0" rIns="0" tIns="0" bIns="0" anchor="t">
            <a:spAutoFit/>
          </a:bodyPr>
          <a:lstStyle/>
          <a:p>
            <a:pPr algn="l">
              <a:spcAft>
                <a:spcPts val="600"/>
              </a:spcAft>
            </a:pPr>
            <a:r>
              <a:rPr sz="1300" b="1" i="0">
                <a:solidFill>
                  <a:srgbClr val="0A0E1A"/>
                </a:solidFill>
                <a:latin typeface="Calibri"/>
              </a:rPr>
              <a:t>La zona del grueso es imposible</a:t>
            </a:r>
          </a:p>
        </p:txBody>
      </p:sp>
      <p:sp>
        <p:nvSpPr>
          <p:cNvPr id="14" name="TextBox 13"/>
          <p:cNvSpPr txBox="1"/>
          <p:nvPr/>
        </p:nvSpPr>
        <p:spPr>
          <a:xfrm>
            <a:off x="4663440" y="2606039"/>
            <a:ext cx="2377440" cy="457200"/>
          </a:xfrm>
          <a:prstGeom prst="rect">
            <a:avLst/>
          </a:prstGeom>
          <a:noFill/>
        </p:spPr>
        <p:txBody>
          <a:bodyPr wrap="square" lIns="0" rIns="0" tIns="0" bIns="0" anchor="t">
            <a:spAutoFit/>
          </a:bodyPr>
          <a:lstStyle/>
          <a:p>
            <a:pPr algn="l">
              <a:spcAft>
                <a:spcPts val="600"/>
              </a:spcAft>
            </a:pPr>
            <a:r>
              <a:rPr sz="1300" b="0" i="0">
                <a:solidFill>
                  <a:srgbClr val="0A0E1A"/>
                </a:solidFill>
                <a:latin typeface="Consolas"/>
              </a:rPr>
              <a:t>Zona Que Se Achica</a:t>
            </a:r>
          </a:p>
        </p:txBody>
      </p:sp>
      <p:sp>
        <p:nvSpPr>
          <p:cNvPr id="15" name="TextBox 14"/>
          <p:cNvSpPr txBox="1"/>
          <p:nvPr/>
        </p:nvSpPr>
        <p:spPr>
          <a:xfrm>
            <a:off x="7132320" y="2606039"/>
            <a:ext cx="2103120" cy="457200"/>
          </a:xfrm>
          <a:prstGeom prst="rect">
            <a:avLst/>
          </a:prstGeom>
          <a:noFill/>
        </p:spPr>
        <p:txBody>
          <a:bodyPr wrap="square" lIns="0" rIns="0" tIns="0" bIns="0" anchor="t">
            <a:spAutoFit/>
          </a:bodyPr>
          <a:lstStyle/>
          <a:p>
            <a:pPr algn="l">
              <a:spcAft>
                <a:spcPts val="600"/>
              </a:spcAft>
            </a:pPr>
            <a:r>
              <a:rPr sz="1300" b="0" i="0">
                <a:solidFill>
                  <a:srgbClr val="0A0E1A"/>
                </a:solidFill>
                <a:latin typeface="Consolas"/>
              </a:rPr>
              <a:t>Factor De Achique</a:t>
            </a:r>
          </a:p>
        </p:txBody>
      </p:sp>
      <p:sp>
        <p:nvSpPr>
          <p:cNvPr id="16" name="TextBox 15"/>
          <p:cNvSpPr txBox="1"/>
          <p:nvPr/>
        </p:nvSpPr>
        <p:spPr>
          <a:xfrm>
            <a:off x="9326880" y="2606039"/>
            <a:ext cx="2194560" cy="457200"/>
          </a:xfrm>
          <a:prstGeom prst="rect">
            <a:avLst/>
          </a:prstGeom>
          <a:noFill/>
        </p:spPr>
        <p:txBody>
          <a:bodyPr wrap="square" lIns="0" rIns="0" tIns="0" bIns="0" anchor="t">
            <a:spAutoFit/>
          </a:bodyPr>
          <a:lstStyle/>
          <a:p>
            <a:pPr algn="l">
              <a:spcAft>
                <a:spcPts val="600"/>
              </a:spcAft>
            </a:pPr>
            <a:r>
              <a:rPr sz="1300" b="0" i="0">
                <a:solidFill>
                  <a:srgbClr val="0A0E1A"/>
                </a:solidFill>
                <a:latin typeface="Calibri"/>
              </a:rPr>
              <a:t>Pásalo de 0,85 a 0,92</a:t>
            </a:r>
          </a:p>
        </p:txBody>
      </p:sp>
      <p:sp>
        <p:nvSpPr>
          <p:cNvPr id="17" name="TextBox 16"/>
          <p:cNvSpPr txBox="1"/>
          <p:nvPr/>
        </p:nvSpPr>
        <p:spPr>
          <a:xfrm>
            <a:off x="777240" y="3108960"/>
            <a:ext cx="3749039" cy="457200"/>
          </a:xfrm>
          <a:prstGeom prst="rect">
            <a:avLst/>
          </a:prstGeom>
          <a:noFill/>
        </p:spPr>
        <p:txBody>
          <a:bodyPr wrap="square" lIns="0" rIns="0" tIns="0" bIns="0" anchor="t">
            <a:spAutoFit/>
          </a:bodyPr>
          <a:lstStyle/>
          <a:p>
            <a:pPr algn="l">
              <a:spcAft>
                <a:spcPts val="600"/>
              </a:spcAft>
            </a:pPr>
            <a:r>
              <a:rPr sz="1300" b="1" i="0">
                <a:solidFill>
                  <a:srgbClr val="0A0E1A"/>
                </a:solidFill>
                <a:latin typeface="Calibri"/>
              </a:rPr>
              <a:t>Pierden en cuanto se equivocan</a:t>
            </a:r>
          </a:p>
        </p:txBody>
      </p:sp>
      <p:sp>
        <p:nvSpPr>
          <p:cNvPr id="18" name="TextBox 17"/>
          <p:cNvSpPr txBox="1"/>
          <p:nvPr/>
        </p:nvSpPr>
        <p:spPr>
          <a:xfrm>
            <a:off x="4663440" y="3108960"/>
            <a:ext cx="2377440" cy="457200"/>
          </a:xfrm>
          <a:prstGeom prst="rect">
            <a:avLst/>
          </a:prstGeom>
          <a:noFill/>
        </p:spPr>
        <p:txBody>
          <a:bodyPr wrap="square" lIns="0" rIns="0" tIns="0" bIns="0" anchor="t">
            <a:spAutoFit/>
          </a:bodyPr>
          <a:lstStyle/>
          <a:p>
            <a:pPr algn="l">
              <a:spcAft>
                <a:spcPts val="600"/>
              </a:spcAft>
            </a:pPr>
            <a:r>
              <a:rPr sz="1300" b="0" i="0">
                <a:solidFill>
                  <a:srgbClr val="0A0E1A"/>
                </a:solidFill>
                <a:latin typeface="Consolas"/>
              </a:rPr>
              <a:t>Zona Que Se Achica</a:t>
            </a:r>
          </a:p>
        </p:txBody>
      </p:sp>
      <p:sp>
        <p:nvSpPr>
          <p:cNvPr id="19" name="TextBox 18"/>
          <p:cNvSpPr txBox="1"/>
          <p:nvPr/>
        </p:nvSpPr>
        <p:spPr>
          <a:xfrm>
            <a:off x="7132320" y="3108960"/>
            <a:ext cx="2103120" cy="457200"/>
          </a:xfrm>
          <a:prstGeom prst="rect">
            <a:avLst/>
          </a:prstGeom>
          <a:noFill/>
        </p:spPr>
        <p:txBody>
          <a:bodyPr wrap="square" lIns="0" rIns="0" tIns="0" bIns="0" anchor="t">
            <a:spAutoFit/>
          </a:bodyPr>
          <a:lstStyle/>
          <a:p>
            <a:pPr algn="l">
              <a:spcAft>
                <a:spcPts val="600"/>
              </a:spcAft>
            </a:pPr>
            <a:r>
              <a:rPr sz="1300" b="0" i="0">
                <a:solidFill>
                  <a:srgbClr val="0A0E1A"/>
                </a:solidFill>
                <a:latin typeface="Consolas"/>
              </a:rPr>
              <a:t>Segundos De Gracia</a:t>
            </a:r>
          </a:p>
        </p:txBody>
      </p:sp>
      <p:sp>
        <p:nvSpPr>
          <p:cNvPr id="20" name="TextBox 19"/>
          <p:cNvSpPr txBox="1"/>
          <p:nvPr/>
        </p:nvSpPr>
        <p:spPr>
          <a:xfrm>
            <a:off x="9326880" y="3108960"/>
            <a:ext cx="2194560" cy="457200"/>
          </a:xfrm>
          <a:prstGeom prst="rect">
            <a:avLst/>
          </a:prstGeom>
          <a:noFill/>
        </p:spPr>
        <p:txBody>
          <a:bodyPr wrap="square" lIns="0" rIns="0" tIns="0" bIns="0" anchor="t">
            <a:spAutoFit/>
          </a:bodyPr>
          <a:lstStyle/>
          <a:p>
            <a:pPr algn="l">
              <a:spcAft>
                <a:spcPts val="600"/>
              </a:spcAft>
            </a:pPr>
            <a:r>
              <a:rPr sz="1300" b="0" i="0">
                <a:solidFill>
                  <a:srgbClr val="0A0E1A"/>
                </a:solidFill>
                <a:latin typeface="Calibri"/>
              </a:rPr>
              <a:t>Súbelo de 3 a 5</a:t>
            </a:r>
          </a:p>
        </p:txBody>
      </p:sp>
      <p:sp>
        <p:nvSpPr>
          <p:cNvPr id="21" name="TextBox 20"/>
          <p:cNvSpPr txBox="1"/>
          <p:nvPr/>
        </p:nvSpPr>
        <p:spPr>
          <a:xfrm>
            <a:off x="777240" y="3611880"/>
            <a:ext cx="3749039" cy="457200"/>
          </a:xfrm>
          <a:prstGeom prst="rect">
            <a:avLst/>
          </a:prstGeom>
          <a:noFill/>
        </p:spPr>
        <p:txBody>
          <a:bodyPr wrap="square" lIns="0" rIns="0" tIns="0" bIns="0" anchor="t">
            <a:spAutoFit/>
          </a:bodyPr>
          <a:lstStyle/>
          <a:p>
            <a:pPr algn="l">
              <a:spcAft>
                <a:spcPts val="600"/>
              </a:spcAft>
            </a:pPr>
            <a:r>
              <a:rPr sz="1300" b="1" i="0">
                <a:solidFill>
                  <a:srgbClr val="0A0E1A"/>
                </a:solidFill>
                <a:latin typeface="Calibri"/>
              </a:rPr>
              <a:t>El runner es muy rápido para empezar</a:t>
            </a:r>
          </a:p>
        </p:txBody>
      </p:sp>
      <p:sp>
        <p:nvSpPr>
          <p:cNvPr id="22" name="TextBox 21"/>
          <p:cNvSpPr txBox="1"/>
          <p:nvPr/>
        </p:nvSpPr>
        <p:spPr>
          <a:xfrm>
            <a:off x="4663440" y="3611880"/>
            <a:ext cx="2377440" cy="457200"/>
          </a:xfrm>
          <a:prstGeom prst="rect">
            <a:avLst/>
          </a:prstGeom>
          <a:noFill/>
        </p:spPr>
        <p:txBody>
          <a:bodyPr wrap="square" lIns="0" rIns="0" tIns="0" bIns="0" anchor="t">
            <a:spAutoFit/>
          </a:bodyPr>
          <a:lstStyle/>
          <a:p>
            <a:pPr algn="l">
              <a:spcAft>
                <a:spcPts val="600"/>
              </a:spcAft>
            </a:pPr>
            <a:r>
              <a:rPr sz="1300" b="0" i="0">
                <a:solidFill>
                  <a:srgbClr val="0A0E1A"/>
                </a:solidFill>
                <a:latin typeface="Consolas"/>
              </a:rPr>
              <a:t>Generador De Obstaculos</a:t>
            </a:r>
          </a:p>
        </p:txBody>
      </p:sp>
      <p:sp>
        <p:nvSpPr>
          <p:cNvPr id="23" name="TextBox 22"/>
          <p:cNvSpPr txBox="1"/>
          <p:nvPr/>
        </p:nvSpPr>
        <p:spPr>
          <a:xfrm>
            <a:off x="7132320" y="3611880"/>
            <a:ext cx="2103120" cy="457200"/>
          </a:xfrm>
          <a:prstGeom prst="rect">
            <a:avLst/>
          </a:prstGeom>
          <a:noFill/>
        </p:spPr>
        <p:txBody>
          <a:bodyPr wrap="square" lIns="0" rIns="0" tIns="0" bIns="0" anchor="t">
            <a:spAutoFit/>
          </a:bodyPr>
          <a:lstStyle/>
          <a:p>
            <a:pPr algn="l">
              <a:spcAft>
                <a:spcPts val="600"/>
              </a:spcAft>
            </a:pPr>
            <a:r>
              <a:rPr sz="1300" b="0" i="0">
                <a:solidFill>
                  <a:srgbClr val="0A0E1A"/>
                </a:solidFill>
                <a:latin typeface="Consolas"/>
              </a:rPr>
              <a:t>Primer Pulso</a:t>
            </a:r>
          </a:p>
        </p:txBody>
      </p:sp>
      <p:sp>
        <p:nvSpPr>
          <p:cNvPr id="24" name="TextBox 23"/>
          <p:cNvSpPr txBox="1"/>
          <p:nvPr/>
        </p:nvSpPr>
        <p:spPr>
          <a:xfrm>
            <a:off x="9326880" y="3611880"/>
            <a:ext cx="2194560" cy="457200"/>
          </a:xfrm>
          <a:prstGeom prst="rect">
            <a:avLst/>
          </a:prstGeom>
          <a:noFill/>
        </p:spPr>
        <p:txBody>
          <a:bodyPr wrap="square" lIns="0" rIns="0" tIns="0" bIns="0" anchor="t">
            <a:spAutoFit/>
          </a:bodyPr>
          <a:lstStyle/>
          <a:p>
            <a:pPr algn="l">
              <a:spcAft>
                <a:spcPts val="600"/>
              </a:spcAft>
            </a:pPr>
            <a:r>
              <a:rPr sz="1300" b="0" i="0">
                <a:solidFill>
                  <a:srgbClr val="0A0E1A"/>
                </a:solidFill>
                <a:latin typeface="Calibri"/>
              </a:rPr>
              <a:t>Súbelo a 12 o 16</a:t>
            </a:r>
          </a:p>
        </p:txBody>
      </p:sp>
      <p:sp>
        <p:nvSpPr>
          <p:cNvPr id="25" name="TextBox 24"/>
          <p:cNvSpPr txBox="1"/>
          <p:nvPr/>
        </p:nvSpPr>
        <p:spPr>
          <a:xfrm>
            <a:off x="777240" y="4114800"/>
            <a:ext cx="3749039" cy="457200"/>
          </a:xfrm>
          <a:prstGeom prst="rect">
            <a:avLst/>
          </a:prstGeom>
          <a:noFill/>
        </p:spPr>
        <p:txBody>
          <a:bodyPr wrap="square" lIns="0" rIns="0" tIns="0" bIns="0" anchor="t">
            <a:spAutoFit/>
          </a:bodyPr>
          <a:lstStyle/>
          <a:p>
            <a:pPr algn="l">
              <a:spcAft>
                <a:spcPts val="600"/>
              </a:spcAft>
            </a:pPr>
            <a:r>
              <a:rPr sz="1300" b="1" i="0">
                <a:solidFill>
                  <a:srgbClr val="0A0E1A"/>
                </a:solidFill>
                <a:latin typeface="Calibri"/>
              </a:rPr>
              <a:t>No alcanzan a leer las notas</a:t>
            </a:r>
          </a:p>
        </p:txBody>
      </p:sp>
      <p:sp>
        <p:nvSpPr>
          <p:cNvPr id="26" name="TextBox 25"/>
          <p:cNvSpPr txBox="1"/>
          <p:nvPr/>
        </p:nvSpPr>
        <p:spPr>
          <a:xfrm>
            <a:off x="4663440" y="4114800"/>
            <a:ext cx="2377440" cy="457200"/>
          </a:xfrm>
          <a:prstGeom prst="rect">
            <a:avLst/>
          </a:prstGeom>
          <a:noFill/>
        </p:spPr>
        <p:txBody>
          <a:bodyPr wrap="square" lIns="0" rIns="0" tIns="0" bIns="0" anchor="t">
            <a:spAutoFit/>
          </a:bodyPr>
          <a:lstStyle/>
          <a:p>
            <a:pPr algn="l">
              <a:spcAft>
                <a:spcPts val="600"/>
              </a:spcAft>
            </a:pPr>
            <a:r>
              <a:rPr sz="1300" b="0" i="0">
                <a:solidFill>
                  <a:srgbClr val="0A0E1A"/>
                </a:solidFill>
                <a:latin typeface="Consolas"/>
              </a:rPr>
              <a:t>Generador De Notas</a:t>
            </a:r>
          </a:p>
        </p:txBody>
      </p:sp>
      <p:sp>
        <p:nvSpPr>
          <p:cNvPr id="27" name="TextBox 26"/>
          <p:cNvSpPr txBox="1"/>
          <p:nvPr/>
        </p:nvSpPr>
        <p:spPr>
          <a:xfrm>
            <a:off x="7132320" y="4114800"/>
            <a:ext cx="2103120" cy="457200"/>
          </a:xfrm>
          <a:prstGeom prst="rect">
            <a:avLst/>
          </a:prstGeom>
          <a:noFill/>
        </p:spPr>
        <p:txBody>
          <a:bodyPr wrap="square" lIns="0" rIns="0" tIns="0" bIns="0" anchor="t">
            <a:spAutoFit/>
          </a:bodyPr>
          <a:lstStyle/>
          <a:p>
            <a:pPr algn="l">
              <a:spcAft>
                <a:spcPts val="600"/>
              </a:spcAft>
            </a:pPr>
            <a:r>
              <a:rPr sz="1300" b="0" i="0">
                <a:solidFill>
                  <a:srgbClr val="0A0E1A"/>
                </a:solidFill>
                <a:latin typeface="Consolas"/>
              </a:rPr>
              <a:t>Unidades Por Pulso</a:t>
            </a:r>
          </a:p>
        </p:txBody>
      </p:sp>
      <p:sp>
        <p:nvSpPr>
          <p:cNvPr id="28" name="TextBox 27"/>
          <p:cNvSpPr txBox="1"/>
          <p:nvPr/>
        </p:nvSpPr>
        <p:spPr>
          <a:xfrm>
            <a:off x="9326880" y="4114800"/>
            <a:ext cx="2194560" cy="457200"/>
          </a:xfrm>
          <a:prstGeom prst="rect">
            <a:avLst/>
          </a:prstGeom>
          <a:noFill/>
        </p:spPr>
        <p:txBody>
          <a:bodyPr wrap="square" lIns="0" rIns="0" tIns="0" bIns="0" anchor="t">
            <a:spAutoFit/>
          </a:bodyPr>
          <a:lstStyle/>
          <a:p>
            <a:pPr algn="l">
              <a:spcAft>
                <a:spcPts val="600"/>
              </a:spcAft>
            </a:pPr>
            <a:r>
              <a:rPr sz="1300" b="0" i="0">
                <a:solidFill>
                  <a:srgbClr val="0A0E1A"/>
                </a:solidFill>
                <a:latin typeface="Calibri"/>
              </a:rPr>
              <a:t>Súbelo de 1,5 a 2</a:t>
            </a:r>
          </a:p>
        </p:txBody>
      </p:sp>
      <p:sp>
        <p:nvSpPr>
          <p:cNvPr id="29" name="TextBox 28"/>
          <p:cNvSpPr txBox="1"/>
          <p:nvPr/>
        </p:nvSpPr>
        <p:spPr>
          <a:xfrm>
            <a:off x="777240" y="4617720"/>
            <a:ext cx="3749039" cy="457200"/>
          </a:xfrm>
          <a:prstGeom prst="rect">
            <a:avLst/>
          </a:prstGeom>
          <a:noFill/>
        </p:spPr>
        <p:txBody>
          <a:bodyPr wrap="square" lIns="0" rIns="0" tIns="0" bIns="0" anchor="t">
            <a:spAutoFit/>
          </a:bodyPr>
          <a:lstStyle/>
          <a:p>
            <a:pPr algn="l">
              <a:spcAft>
                <a:spcPts val="600"/>
              </a:spcAft>
            </a:pPr>
            <a:r>
              <a:rPr sz="1300" b="1" i="0">
                <a:solidFill>
                  <a:srgbClr val="0A0E1A"/>
                </a:solidFill>
                <a:latin typeface="Calibri"/>
              </a:rPr>
              <a:t>Aciertan todo sin esfuerzo</a:t>
            </a:r>
          </a:p>
        </p:txBody>
      </p:sp>
      <p:sp>
        <p:nvSpPr>
          <p:cNvPr id="30" name="TextBox 29"/>
          <p:cNvSpPr txBox="1"/>
          <p:nvPr/>
        </p:nvSpPr>
        <p:spPr>
          <a:xfrm>
            <a:off x="4663440" y="4617720"/>
            <a:ext cx="2377440" cy="457200"/>
          </a:xfrm>
          <a:prstGeom prst="rect">
            <a:avLst/>
          </a:prstGeom>
          <a:noFill/>
        </p:spPr>
        <p:txBody>
          <a:bodyPr wrap="square" lIns="0" rIns="0" tIns="0" bIns="0" anchor="t">
            <a:spAutoFit/>
          </a:bodyPr>
          <a:lstStyle/>
          <a:p>
            <a:pPr algn="l">
              <a:spcAft>
                <a:spcPts val="600"/>
              </a:spcAft>
            </a:pPr>
            <a:r>
              <a:rPr sz="1300" b="0" i="0">
                <a:solidFill>
                  <a:srgbClr val="0A0E1A"/>
                </a:solidFill>
                <a:latin typeface="Consolas"/>
              </a:rPr>
              <a:t>Juez De Ritmo</a:t>
            </a:r>
          </a:p>
        </p:txBody>
      </p:sp>
      <p:sp>
        <p:nvSpPr>
          <p:cNvPr id="31" name="TextBox 30"/>
          <p:cNvSpPr txBox="1"/>
          <p:nvPr/>
        </p:nvSpPr>
        <p:spPr>
          <a:xfrm>
            <a:off x="7132320" y="4617720"/>
            <a:ext cx="2103120" cy="457200"/>
          </a:xfrm>
          <a:prstGeom prst="rect">
            <a:avLst/>
          </a:prstGeom>
          <a:noFill/>
        </p:spPr>
        <p:txBody>
          <a:bodyPr wrap="square" lIns="0" rIns="0" tIns="0" bIns="0" anchor="t">
            <a:spAutoFit/>
          </a:bodyPr>
          <a:lstStyle/>
          <a:p>
            <a:pPr algn="l">
              <a:spcAft>
                <a:spcPts val="600"/>
              </a:spcAft>
            </a:pPr>
            <a:r>
              <a:rPr sz="1300" b="0" i="0">
                <a:solidFill>
                  <a:srgbClr val="0A0E1A"/>
                </a:solidFill>
                <a:latin typeface="Consolas"/>
              </a:rPr>
              <a:t>Ventana Perfecto</a:t>
            </a:r>
          </a:p>
        </p:txBody>
      </p:sp>
      <p:sp>
        <p:nvSpPr>
          <p:cNvPr id="32" name="TextBox 31"/>
          <p:cNvSpPr txBox="1"/>
          <p:nvPr/>
        </p:nvSpPr>
        <p:spPr>
          <a:xfrm>
            <a:off x="9326880" y="4617720"/>
            <a:ext cx="2194560" cy="457200"/>
          </a:xfrm>
          <a:prstGeom prst="rect">
            <a:avLst/>
          </a:prstGeom>
          <a:noFill/>
        </p:spPr>
        <p:txBody>
          <a:bodyPr wrap="square" lIns="0" rIns="0" tIns="0" bIns="0" anchor="t">
            <a:spAutoFit/>
          </a:bodyPr>
          <a:lstStyle/>
          <a:p>
            <a:pPr algn="l">
              <a:spcAft>
                <a:spcPts val="600"/>
              </a:spcAft>
            </a:pPr>
            <a:r>
              <a:rPr sz="1300" b="0" i="0">
                <a:solidFill>
                  <a:srgbClr val="0A0E1A"/>
                </a:solidFill>
                <a:latin typeface="Calibri"/>
              </a:rPr>
              <a:t>Bájala de 50 a 35 ms</a:t>
            </a:r>
          </a:p>
        </p:txBody>
      </p:sp>
      <p:sp>
        <p:nvSpPr>
          <p:cNvPr id="33" name="TextBox 32"/>
          <p:cNvSpPr txBox="1"/>
          <p:nvPr/>
        </p:nvSpPr>
        <p:spPr>
          <a:xfrm>
            <a:off x="777240" y="5120640"/>
            <a:ext cx="3749039" cy="457200"/>
          </a:xfrm>
          <a:prstGeom prst="rect">
            <a:avLst/>
          </a:prstGeom>
          <a:noFill/>
        </p:spPr>
        <p:txBody>
          <a:bodyPr wrap="square" lIns="0" rIns="0" tIns="0" bIns="0" anchor="t">
            <a:spAutoFit/>
          </a:bodyPr>
          <a:lstStyle/>
          <a:p>
            <a:pPr algn="l">
              <a:spcAft>
                <a:spcPts val="600"/>
              </a:spcAft>
            </a:pPr>
            <a:r>
              <a:rPr sz="1300" b="1" i="0">
                <a:solidFill>
                  <a:srgbClr val="0A0E1A"/>
                </a:solidFill>
                <a:latin typeface="Calibri"/>
              </a:rPr>
              <a:t>El movimiento fino se siente brusco</a:t>
            </a:r>
          </a:p>
        </p:txBody>
      </p:sp>
      <p:sp>
        <p:nvSpPr>
          <p:cNvPr id="34" name="TextBox 33"/>
          <p:cNvSpPr txBox="1"/>
          <p:nvPr/>
        </p:nvSpPr>
        <p:spPr>
          <a:xfrm>
            <a:off x="4663440" y="5120640"/>
            <a:ext cx="2377440" cy="457200"/>
          </a:xfrm>
          <a:prstGeom prst="rect">
            <a:avLst/>
          </a:prstGeom>
          <a:noFill/>
        </p:spPr>
        <p:txBody>
          <a:bodyPr wrap="square" lIns="0" rIns="0" tIns="0" bIns="0" anchor="t">
            <a:spAutoFit/>
          </a:bodyPr>
          <a:lstStyle/>
          <a:p>
            <a:pPr algn="l">
              <a:spcAft>
                <a:spcPts val="600"/>
              </a:spcAft>
            </a:pPr>
            <a:r>
              <a:rPr sz="1300" b="0" i="0">
                <a:solidFill>
                  <a:srgbClr val="0A0E1A"/>
                </a:solidFill>
                <a:latin typeface="Consolas"/>
              </a:rPr>
              <a:t>ConfiguracionJuego.cs</a:t>
            </a:r>
          </a:p>
        </p:txBody>
      </p:sp>
      <p:sp>
        <p:nvSpPr>
          <p:cNvPr id="35" name="TextBox 34"/>
          <p:cNvSpPr txBox="1"/>
          <p:nvPr/>
        </p:nvSpPr>
        <p:spPr>
          <a:xfrm>
            <a:off x="7132320" y="5120640"/>
            <a:ext cx="2103120" cy="457200"/>
          </a:xfrm>
          <a:prstGeom prst="rect">
            <a:avLst/>
          </a:prstGeom>
          <a:noFill/>
        </p:spPr>
        <p:txBody>
          <a:bodyPr wrap="square" lIns="0" rIns="0" tIns="0" bIns="0" anchor="t">
            <a:spAutoFit/>
          </a:bodyPr>
          <a:lstStyle/>
          <a:p>
            <a:pPr algn="l">
              <a:spcAft>
                <a:spcPts val="600"/>
              </a:spcAft>
            </a:pPr>
            <a:r>
              <a:rPr sz="1300" b="0" i="0">
                <a:solidFill>
                  <a:srgbClr val="0A0E1A"/>
                </a:solidFill>
                <a:latin typeface="Consolas"/>
              </a:rPr>
              <a:t>SensibilidadFina</a:t>
            </a:r>
          </a:p>
        </p:txBody>
      </p:sp>
      <p:sp>
        <p:nvSpPr>
          <p:cNvPr id="36" name="TextBox 35"/>
          <p:cNvSpPr txBox="1"/>
          <p:nvPr/>
        </p:nvSpPr>
        <p:spPr>
          <a:xfrm>
            <a:off x="9326880" y="5120640"/>
            <a:ext cx="2194560" cy="457200"/>
          </a:xfrm>
          <a:prstGeom prst="rect">
            <a:avLst/>
          </a:prstGeom>
          <a:noFill/>
        </p:spPr>
        <p:txBody>
          <a:bodyPr wrap="square" lIns="0" rIns="0" tIns="0" bIns="0" anchor="t">
            <a:spAutoFit/>
          </a:bodyPr>
          <a:lstStyle/>
          <a:p>
            <a:pPr algn="l">
              <a:spcAft>
                <a:spcPts val="600"/>
              </a:spcAft>
            </a:pPr>
            <a:r>
              <a:rPr sz="1300" b="0" i="0">
                <a:solidFill>
                  <a:srgbClr val="0A0E1A"/>
                </a:solidFill>
                <a:latin typeface="Calibri"/>
              </a:rPr>
              <a:t>Bájala de 3 a 2 (en el código)</a:t>
            </a:r>
          </a:p>
        </p:txBody>
      </p:sp>
      <p:sp>
        <p:nvSpPr>
          <p:cNvPr id="37" name="Rounded Rectangle 36"/>
          <p:cNvSpPr/>
          <p:nvPr/>
        </p:nvSpPr>
        <p:spPr>
          <a:xfrm>
            <a:off x="548640" y="5715000"/>
            <a:ext cx="11109960" cy="594360"/>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77240" y="5879592"/>
            <a:ext cx="10652760" cy="320040"/>
          </a:xfrm>
          <a:prstGeom prst="rect">
            <a:avLst/>
          </a:prstGeom>
          <a:noFill/>
        </p:spPr>
        <p:txBody>
          <a:bodyPr wrap="square" lIns="0" rIns="0" tIns="0" bIns="0" anchor="t">
            <a:spAutoFit/>
          </a:bodyPr>
          <a:lstStyle/>
          <a:p>
            <a:pPr algn="l">
              <a:spcAft>
                <a:spcPts val="400"/>
              </a:spcAft>
            </a:pPr>
            <a:r>
              <a:rPr sz="1300" b="1" i="0">
                <a:solidFill>
                  <a:srgbClr val="097A41"/>
                </a:solidFill>
                <a:latin typeface="Calibri"/>
              </a:rPr>
              <a:t>✓  Cambia una sola cosa por vez y vuelve a probar: si cambias tres, no sabes cuál ayudó.</a:t>
            </a:r>
          </a:p>
        </p:txBody>
      </p:sp>
      <p:sp>
        <p:nvSpPr>
          <p:cNvPr id="39"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2 · Probar y publicar  ·  3 de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La segunda versión: guarda antes de cambiar</a:t>
            </a:r>
          </a:p>
        </p:txBody>
      </p:sp>
      <p:sp>
        <p:nvSpPr>
          <p:cNvPr id="4" name="Oval 3"/>
          <p:cNvSpPr/>
          <p:nvPr/>
        </p:nvSpPr>
        <p:spPr>
          <a:xfrm>
            <a:off x="548640" y="164592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5" name="TextBox 4"/>
          <p:cNvSpPr txBox="1"/>
          <p:nvPr/>
        </p:nvSpPr>
        <p:spPr>
          <a:xfrm>
            <a:off x="1051560" y="1664208"/>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Cierra Unity y copia la carpeta del proyecto: </a:t>
            </a:r>
            <a:r>
              <a:rPr sz="1400" b="0" i="0">
                <a:solidFill>
                  <a:srgbClr val="0A0E1A"/>
                </a:solidFill>
                <a:latin typeface="Consolas"/>
              </a:rPr>
              <a:t>Equipo10_Motricidad_v1</a:t>
            </a:r>
            <a:r>
              <a:rPr sz="1500" b="0" i="0">
                <a:solidFill>
                  <a:srgbClr val="0A0E1A"/>
                </a:solidFill>
                <a:latin typeface="Calibri"/>
              </a:rPr>
              <a:t>.</a:t>
            </a:r>
          </a:p>
        </p:txBody>
      </p:sp>
      <p:sp>
        <p:nvSpPr>
          <p:cNvPr id="6" name="Oval 5"/>
          <p:cNvSpPr/>
          <p:nvPr/>
        </p:nvSpPr>
        <p:spPr>
          <a:xfrm>
            <a:off x="548640" y="2395728"/>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7" name="TextBox 6"/>
          <p:cNvSpPr txBox="1"/>
          <p:nvPr/>
        </p:nvSpPr>
        <p:spPr>
          <a:xfrm>
            <a:off x="1051560" y="2414016"/>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Abre el original y haz los cambios de la tabla anterior. Esta es la v2.</a:t>
            </a:r>
          </a:p>
        </p:txBody>
      </p:sp>
      <p:sp>
        <p:nvSpPr>
          <p:cNvPr id="8" name="Oval 7"/>
          <p:cNvSpPr/>
          <p:nvPr/>
        </p:nvSpPr>
        <p:spPr>
          <a:xfrm>
            <a:off x="548640" y="3145536"/>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9" name="TextBox 8"/>
          <p:cNvSpPr txBox="1"/>
          <p:nvPr/>
        </p:nvSpPr>
        <p:spPr>
          <a:xfrm>
            <a:off x="1051560" y="3163824"/>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Pide a las mismas tres personas que jueguen otra vez, y a una nueva.</a:t>
            </a:r>
          </a:p>
        </p:txBody>
      </p:sp>
      <p:sp>
        <p:nvSpPr>
          <p:cNvPr id="10" name="Oval 9"/>
          <p:cNvSpPr/>
          <p:nvPr/>
        </p:nvSpPr>
        <p:spPr>
          <a:xfrm>
            <a:off x="548640" y="3895344"/>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1" name="TextBox 10"/>
          <p:cNvSpPr txBox="1"/>
          <p:nvPr/>
        </p:nvSpPr>
        <p:spPr>
          <a:xfrm>
            <a:off x="1051560" y="3913631"/>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Compara el CSV de la v1 con el de la v2: </a:t>
            </a:r>
            <a:r>
              <a:rPr sz="1500" b="1" i="0">
                <a:solidFill>
                  <a:srgbClr val="0A0E1A"/>
                </a:solidFill>
                <a:latin typeface="Calibri"/>
              </a:rPr>
              <a:t>¿mejoró el dato que querías mejorar?</a:t>
            </a:r>
          </a:p>
        </p:txBody>
      </p:sp>
      <p:sp>
        <p:nvSpPr>
          <p:cNvPr id="12" name="Oval 11"/>
          <p:cNvSpPr/>
          <p:nvPr/>
        </p:nvSpPr>
        <p:spPr>
          <a:xfrm>
            <a:off x="548640" y="4645152"/>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13" name="TextBox 12"/>
          <p:cNvSpPr txBox="1"/>
          <p:nvPr/>
        </p:nvSpPr>
        <p:spPr>
          <a:xfrm>
            <a:off x="1051560" y="4663440"/>
            <a:ext cx="534924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Escribe en Barreras.docx lo que cambiaste, por qué y qué pasó.</a:t>
            </a:r>
          </a:p>
        </p:txBody>
      </p:sp>
      <p:sp>
        <p:nvSpPr>
          <p:cNvPr id="14" name="Rounded Rectangle 13"/>
          <p:cNvSpPr/>
          <p:nvPr/>
        </p:nvSpPr>
        <p:spPr>
          <a:xfrm>
            <a:off x="6766560" y="1645920"/>
            <a:ext cx="4892040" cy="2926080"/>
          </a:xfrm>
          <a:prstGeom prst="roundRect">
            <a:avLst>
              <a:gd name="adj" fmla="val 6000"/>
            </a:avLst>
          </a:prstGeom>
          <a:solidFill>
            <a:srgbClr val="F1E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95160" y="1783080"/>
            <a:ext cx="4480560" cy="2743200"/>
          </a:xfrm>
          <a:prstGeom prst="rect">
            <a:avLst/>
          </a:prstGeom>
          <a:noFill/>
        </p:spPr>
        <p:txBody>
          <a:bodyPr wrap="square" lIns="0" rIns="0" tIns="0" bIns="0" anchor="t">
            <a:spAutoFit/>
          </a:bodyPr>
          <a:lstStyle/>
          <a:p>
            <a:pPr algn="l">
              <a:spcAft>
                <a:spcPts val="800"/>
              </a:spcAft>
            </a:pPr>
            <a:r>
              <a:rPr sz="1400" b="1" i="0">
                <a:solidFill>
                  <a:srgbClr val="0A0E1A"/>
                </a:solidFill>
                <a:latin typeface="Calibri"/>
              </a:rPr>
              <a:t>Lo que cuenta como segunda versión</a:t>
            </a:r>
          </a:p>
          <a:p>
            <a:pPr algn="l">
              <a:spcAft>
                <a:spcPts val="800"/>
              </a:spcAft>
            </a:pPr>
            <a:r>
              <a:rPr sz="1400" b="0" i="0">
                <a:solidFill>
                  <a:srgbClr val="0A0E1A"/>
                </a:solidFill>
                <a:latin typeface="Calibri"/>
              </a:rPr>
              <a:t>Un cambio hecho por algo que observaste en una persona, con su dato antes y después.</a:t>
            </a:r>
          </a:p>
          <a:p>
            <a:pPr algn="l">
              <a:spcAft>
                <a:spcPts val="800"/>
              </a:spcAft>
            </a:pPr>
            <a:r>
              <a:rPr sz="1400" b="1" i="0">
                <a:solidFill>
                  <a:srgbClr val="0A0E1A"/>
                </a:solidFill>
                <a:latin typeface="Calibri"/>
              </a:rPr>
              <a:t>No cuenta: </a:t>
            </a:r>
            <a:r>
              <a:rPr sz="1400" b="0" i="0">
                <a:solidFill>
                  <a:srgbClr val="0A0E1A"/>
                </a:solidFill>
                <a:latin typeface="Calibri"/>
              </a:rPr>
              <a:t>cambiar colores porque se te ocurrió.</a:t>
            </a:r>
          </a:p>
        </p:txBody>
      </p:sp>
      <p:sp>
        <p:nvSpPr>
          <p:cNvPr id="16" name="Rounded Rectangle 15"/>
          <p:cNvSpPr/>
          <p:nvPr/>
        </p:nvSpPr>
        <p:spPr>
          <a:xfrm>
            <a:off x="6766560" y="4754880"/>
            <a:ext cx="4892040" cy="1508760"/>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995160" y="4919472"/>
            <a:ext cx="4434840" cy="1234439"/>
          </a:xfrm>
          <a:prstGeom prst="rect">
            <a:avLst/>
          </a:prstGeom>
          <a:noFill/>
        </p:spPr>
        <p:txBody>
          <a:bodyPr wrap="square" lIns="0" rIns="0" tIns="0" bIns="0" anchor="t">
            <a:spAutoFit/>
          </a:bodyPr>
          <a:lstStyle/>
          <a:p>
            <a:pPr algn="l">
              <a:spcAft>
                <a:spcPts val="400"/>
              </a:spcAft>
            </a:pPr>
            <a:r>
              <a:rPr sz="1300" b="1" i="0">
                <a:solidFill>
                  <a:srgbClr val="097A41"/>
                </a:solidFill>
                <a:latin typeface="Calibri"/>
              </a:rPr>
              <a:t>✓  Cómo sabes que quedó</a:t>
            </a:r>
          </a:p>
          <a:p>
            <a:pPr algn="l">
              <a:spcAft>
                <a:spcPts val="400"/>
              </a:spcAft>
            </a:pPr>
            <a:r>
              <a:rPr sz="1300" b="0" i="0">
                <a:solidFill>
                  <a:srgbClr val="0A0E1A"/>
                </a:solidFill>
                <a:latin typeface="Calibri"/>
              </a:rPr>
              <a:t>Puedes decir: "la persona X no entendía Y, cambié Z, y la siguiente sí lo entendió".</a:t>
            </a:r>
          </a:p>
        </p:txBody>
      </p:sp>
      <p:sp>
        <p:nvSpPr>
          <p:cNvPr id="18"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2 · Probar y publicar  ·  4 de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Parte 2 · Exportar a WebGL, paso a paso</a:t>
            </a:r>
          </a:p>
        </p:txBody>
      </p:sp>
      <p:sp>
        <p:nvSpPr>
          <p:cNvPr id="4" name="Oval 3"/>
          <p:cNvSpPr/>
          <p:nvPr/>
        </p:nvSpPr>
        <p:spPr>
          <a:xfrm>
            <a:off x="548640" y="164592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5" name="TextBox 4"/>
          <p:cNvSpPr txBox="1"/>
          <p:nvPr/>
        </p:nvSpPr>
        <p:spPr>
          <a:xfrm>
            <a:off x="1051560" y="1664208"/>
            <a:ext cx="5532120" cy="502920"/>
          </a:xfrm>
          <a:prstGeom prst="rect">
            <a:avLst/>
          </a:prstGeom>
          <a:noFill/>
        </p:spPr>
        <p:txBody>
          <a:bodyPr wrap="square" lIns="0" rIns="0" tIns="0" bIns="0" anchor="t">
            <a:spAutoFit/>
          </a:bodyPr>
          <a:lstStyle/>
          <a:p>
            <a:pPr algn="l">
              <a:spcAft>
                <a:spcPts val="600"/>
              </a:spcAft>
            </a:pPr>
            <a:r>
              <a:rPr sz="1500" b="1" i="0">
                <a:solidFill>
                  <a:srgbClr val="0A0E1A"/>
                </a:solidFill>
                <a:latin typeface="Calibri"/>
              </a:rPr>
              <a:t>File &gt; Build Settings...</a:t>
            </a:r>
          </a:p>
        </p:txBody>
      </p:sp>
      <p:sp>
        <p:nvSpPr>
          <p:cNvPr id="6" name="Oval 5"/>
          <p:cNvSpPr/>
          <p:nvPr/>
        </p:nvSpPr>
        <p:spPr>
          <a:xfrm>
            <a:off x="548640" y="2304288"/>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7" name="TextBox 6"/>
          <p:cNvSpPr txBox="1"/>
          <p:nvPr/>
        </p:nvSpPr>
        <p:spPr>
          <a:xfrm>
            <a:off x="1051560" y="2322576"/>
            <a:ext cx="55321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Elige </a:t>
            </a:r>
            <a:r>
              <a:rPr sz="1500" b="1" i="0">
                <a:solidFill>
                  <a:srgbClr val="0A0E1A"/>
                </a:solidFill>
                <a:latin typeface="Calibri"/>
              </a:rPr>
              <a:t>WebGL</a:t>
            </a:r>
            <a:r>
              <a:rPr sz="1500" b="0" i="0">
                <a:solidFill>
                  <a:srgbClr val="0A0E1A"/>
                </a:solidFill>
                <a:latin typeface="Calibri"/>
              </a:rPr>
              <a:t> en la lista y pulsa </a:t>
            </a:r>
            <a:r>
              <a:rPr sz="1500" b="1" i="0">
                <a:solidFill>
                  <a:srgbClr val="0A0E1A"/>
                </a:solidFill>
                <a:latin typeface="Calibri"/>
              </a:rPr>
              <a:t>Switch Platform</a:t>
            </a:r>
            <a:r>
              <a:rPr sz="1500" b="0" i="0">
                <a:solidFill>
                  <a:srgbClr val="0A0E1A"/>
                </a:solidFill>
                <a:latin typeface="Calibri"/>
              </a:rPr>
              <a:t>. La primera vez tarda varios minutos.</a:t>
            </a:r>
          </a:p>
        </p:txBody>
      </p:sp>
      <p:sp>
        <p:nvSpPr>
          <p:cNvPr id="8" name="Oval 7"/>
          <p:cNvSpPr/>
          <p:nvPr/>
        </p:nvSpPr>
        <p:spPr>
          <a:xfrm>
            <a:off x="548640" y="2962656"/>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9" name="TextBox 8"/>
          <p:cNvSpPr txBox="1"/>
          <p:nvPr/>
        </p:nvSpPr>
        <p:spPr>
          <a:xfrm>
            <a:off x="1051560" y="2980944"/>
            <a:ext cx="55321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Arrastra las escenas a Scenes In Build, con el menú de primero.</a:t>
            </a:r>
          </a:p>
        </p:txBody>
      </p:sp>
      <p:sp>
        <p:nvSpPr>
          <p:cNvPr id="10" name="Oval 9"/>
          <p:cNvSpPr/>
          <p:nvPr/>
        </p:nvSpPr>
        <p:spPr>
          <a:xfrm>
            <a:off x="548640" y="3621024"/>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1" name="TextBox 10"/>
          <p:cNvSpPr txBox="1"/>
          <p:nvPr/>
        </p:nvSpPr>
        <p:spPr>
          <a:xfrm>
            <a:off x="1051560" y="3639312"/>
            <a:ext cx="55321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Pulsa </a:t>
            </a:r>
            <a:r>
              <a:rPr sz="1500" b="1" i="0">
                <a:solidFill>
                  <a:srgbClr val="0A0E1A"/>
                </a:solidFill>
                <a:latin typeface="Calibri"/>
              </a:rPr>
              <a:t>Player Settings...</a:t>
            </a:r>
            <a:r>
              <a:rPr sz="1500" b="0" i="0">
                <a:solidFill>
                  <a:srgbClr val="0A0E1A"/>
                </a:solidFill>
                <a:latin typeface="Calibri"/>
              </a:rPr>
              <a:t> y abre </a:t>
            </a:r>
            <a:r>
              <a:rPr sz="1500" b="1" i="0">
                <a:solidFill>
                  <a:srgbClr val="0A0E1A"/>
                </a:solidFill>
                <a:latin typeface="Calibri"/>
              </a:rPr>
              <a:t>Publishing Settings</a:t>
            </a:r>
            <a:r>
              <a:rPr sz="1500" b="0" i="0">
                <a:solidFill>
                  <a:srgbClr val="0A0E1A"/>
                </a:solidFill>
                <a:latin typeface="Calibri"/>
              </a:rPr>
              <a:t>.</a:t>
            </a:r>
          </a:p>
        </p:txBody>
      </p:sp>
      <p:sp>
        <p:nvSpPr>
          <p:cNvPr id="12" name="Oval 11"/>
          <p:cNvSpPr/>
          <p:nvPr/>
        </p:nvSpPr>
        <p:spPr>
          <a:xfrm>
            <a:off x="548640" y="4279392"/>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13" name="TextBox 12"/>
          <p:cNvSpPr txBox="1"/>
          <p:nvPr/>
        </p:nvSpPr>
        <p:spPr>
          <a:xfrm>
            <a:off x="1051560" y="4297679"/>
            <a:ext cx="55321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En </a:t>
            </a:r>
            <a:r>
              <a:rPr sz="1500" b="1" i="0">
                <a:solidFill>
                  <a:srgbClr val="0A0E1A"/>
                </a:solidFill>
                <a:latin typeface="Calibri"/>
              </a:rPr>
              <a:t>Compression Format</a:t>
            </a:r>
            <a:r>
              <a:rPr sz="1500" b="0" i="0">
                <a:solidFill>
                  <a:srgbClr val="0A0E1A"/>
                </a:solidFill>
                <a:latin typeface="Calibri"/>
              </a:rPr>
              <a:t> elige </a:t>
            </a:r>
            <a:r>
              <a:rPr sz="1500" b="1" i="0">
                <a:solidFill>
                  <a:srgbClr val="0A0E1A"/>
                </a:solidFill>
                <a:latin typeface="Calibri"/>
              </a:rPr>
              <a:t>Disabled</a:t>
            </a:r>
            <a:r>
              <a:rPr sz="1500" b="0" i="0">
                <a:solidFill>
                  <a:srgbClr val="0A0E1A"/>
                </a:solidFill>
                <a:latin typeface="Calibri"/>
              </a:rPr>
              <a:t>.</a:t>
            </a:r>
          </a:p>
        </p:txBody>
      </p:sp>
      <p:sp>
        <p:nvSpPr>
          <p:cNvPr id="14" name="Oval 13"/>
          <p:cNvSpPr/>
          <p:nvPr/>
        </p:nvSpPr>
        <p:spPr>
          <a:xfrm>
            <a:off x="548640" y="4937759"/>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6</a:t>
            </a:r>
          </a:p>
        </p:txBody>
      </p:sp>
      <p:sp>
        <p:nvSpPr>
          <p:cNvPr id="15" name="TextBox 14"/>
          <p:cNvSpPr txBox="1"/>
          <p:nvPr/>
        </p:nvSpPr>
        <p:spPr>
          <a:xfrm>
            <a:off x="1051560" y="4956047"/>
            <a:ext cx="55321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Pulsa </a:t>
            </a:r>
            <a:r>
              <a:rPr sz="1500" b="1" i="0">
                <a:solidFill>
                  <a:srgbClr val="0A0E1A"/>
                </a:solidFill>
                <a:latin typeface="Calibri"/>
              </a:rPr>
              <a:t>Build And Run</a:t>
            </a:r>
            <a:r>
              <a:rPr sz="1500" b="0" i="0">
                <a:solidFill>
                  <a:srgbClr val="0A0E1A"/>
                </a:solidFill>
                <a:latin typeface="Calibri"/>
              </a:rPr>
              <a:t>: elige una carpeta y espera. Unity lo abre en el navegador.</a:t>
            </a:r>
          </a:p>
        </p:txBody>
      </p:sp>
      <p:sp>
        <p:nvSpPr>
          <p:cNvPr id="16" name="Rounded Rectangle 15"/>
          <p:cNvSpPr/>
          <p:nvPr/>
        </p:nvSpPr>
        <p:spPr>
          <a:xfrm>
            <a:off x="6949440" y="1645920"/>
            <a:ext cx="4709160" cy="2331720"/>
          </a:xfrm>
          <a:prstGeom prst="roundRect">
            <a:avLst>
              <a:gd name="adj" fmla="val 8000"/>
            </a:avLst>
          </a:prstGeom>
          <a:solidFill>
            <a:srgbClr val="FC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178040" y="1810512"/>
            <a:ext cx="4251960" cy="2057400"/>
          </a:xfrm>
          <a:prstGeom prst="rect">
            <a:avLst/>
          </a:prstGeom>
          <a:noFill/>
        </p:spPr>
        <p:txBody>
          <a:bodyPr wrap="square" lIns="0" rIns="0" tIns="0" bIns="0" anchor="t">
            <a:spAutoFit/>
          </a:bodyPr>
          <a:lstStyle/>
          <a:p>
            <a:pPr algn="l">
              <a:spcAft>
                <a:spcPts val="400"/>
              </a:spcAft>
            </a:pPr>
            <a:r>
              <a:rPr sz="1300" b="1" i="0">
                <a:solidFill>
                  <a:srgbClr val="875A00"/>
                </a:solidFill>
                <a:latin typeface="Calibri"/>
              </a:rPr>
              <a:t>!  Por qué Disabled</a:t>
            </a:r>
          </a:p>
          <a:p>
            <a:pPr algn="l">
              <a:spcAft>
                <a:spcPts val="400"/>
              </a:spcAft>
            </a:pPr>
            <a:r>
              <a:rPr sz="1300" b="0" i="0">
                <a:solidFill>
                  <a:srgbClr val="0A0E1A"/>
                </a:solidFill>
                <a:latin typeface="Calibri"/>
              </a:rPr>
              <a:t>GitHub Pages no puede enviar el encabezado que necesitan los archivos comprimidos. Con Gzip o Brotli, el navegador no puede abrirlos y el juego no carga. Con Disabled sí: así se probó.</a:t>
            </a:r>
          </a:p>
        </p:txBody>
      </p:sp>
      <p:sp>
        <p:nvSpPr>
          <p:cNvPr id="18" name="Rounded Rectangle 17"/>
          <p:cNvSpPr/>
          <p:nvPr/>
        </p:nvSpPr>
        <p:spPr>
          <a:xfrm>
            <a:off x="6949440" y="4160520"/>
            <a:ext cx="4709160" cy="2103120"/>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178040" y="4325112"/>
            <a:ext cx="4251960" cy="1828799"/>
          </a:xfrm>
          <a:prstGeom prst="rect">
            <a:avLst/>
          </a:prstGeom>
          <a:noFill/>
        </p:spPr>
        <p:txBody>
          <a:bodyPr wrap="square" lIns="0" rIns="0" tIns="0" bIns="0" anchor="t">
            <a:spAutoFit/>
          </a:bodyPr>
          <a:lstStyle/>
          <a:p>
            <a:pPr algn="l">
              <a:spcAft>
                <a:spcPts val="400"/>
              </a:spcAft>
            </a:pPr>
            <a:r>
              <a:rPr sz="1300" b="1" i="0">
                <a:solidFill>
                  <a:srgbClr val="097A41"/>
                </a:solidFill>
                <a:latin typeface="Calibri"/>
              </a:rPr>
              <a:t>✓  Cómo sabes que quedó</a:t>
            </a:r>
          </a:p>
          <a:p>
            <a:pPr algn="l">
              <a:spcAft>
                <a:spcPts val="400"/>
              </a:spcAft>
            </a:pPr>
            <a:r>
              <a:rPr sz="1300" b="0" i="0">
                <a:solidFill>
                  <a:srgbClr val="0A0E1A"/>
                </a:solidFill>
                <a:latin typeface="Calibri"/>
              </a:rPr>
              <a:t>La carpeta tiene index.html, Build y TemplateData.</a:t>
            </a:r>
          </a:p>
          <a:p>
            <a:pPr algn="l">
              <a:spcAft>
                <a:spcPts val="400"/>
              </a:spcAft>
            </a:pPr>
            <a:r>
              <a:rPr sz="1300" b="0" i="0">
                <a:solidFill>
                  <a:srgbClr val="0A0E1A"/>
                </a:solidFill>
                <a:latin typeface="Calibri"/>
              </a:rPr>
              <a:t>Build And Run abre el juego en el navegador.</a:t>
            </a:r>
          </a:p>
          <a:p>
            <a:pPr algn="l">
              <a:spcAft>
                <a:spcPts val="400"/>
              </a:spcAft>
            </a:pPr>
            <a:r>
              <a:rPr sz="1300" b="0" i="0">
                <a:solidFill>
                  <a:srgbClr val="0A0E1A"/>
                </a:solidFill>
                <a:latin typeface="Calibri"/>
              </a:rPr>
              <a:t>La carpeta pesa unos 21 MB en estos juegos.</a:t>
            </a:r>
          </a:p>
        </p:txBody>
      </p:sp>
      <p:sp>
        <p:nvSpPr>
          <p:cNvPr id="20"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2 · Probar y publicar  ·  5 de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El error que da una carpeta con tilde</a:t>
            </a:r>
          </a:p>
        </p:txBody>
      </p:sp>
      <p:sp>
        <p:nvSpPr>
          <p:cNvPr id="4" name="Rounded Rectangle 3"/>
          <p:cNvSpPr/>
          <p:nvPr/>
        </p:nvSpPr>
        <p:spPr>
          <a:xfrm>
            <a:off x="548640" y="1645920"/>
            <a:ext cx="11109960" cy="1417320"/>
          </a:xfrm>
          <a:prstGeom prst="roundRect">
            <a:avLst>
              <a:gd name="adj" fmla="val 5000"/>
            </a:avLst>
          </a:prstGeom>
          <a:solidFill>
            <a:srgbClr val="0F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828800"/>
            <a:ext cx="10652760" cy="1143000"/>
          </a:xfrm>
          <a:prstGeom prst="rect">
            <a:avLst/>
          </a:prstGeom>
          <a:noFill/>
        </p:spPr>
        <p:txBody>
          <a:bodyPr wrap="square" lIns="0" rIns="0" tIns="0" bIns="0" anchor="t">
            <a:spAutoFit/>
          </a:bodyPr>
          <a:lstStyle/>
          <a:p>
            <a:pPr algn="l">
              <a:spcAft>
                <a:spcPts val="200"/>
              </a:spcAft>
            </a:pPr>
            <a:r>
              <a:rPr sz="1300" b="0" i="0">
                <a:solidFill>
                  <a:srgbClr val="E9EEFB"/>
                </a:solidFill>
                <a:latin typeface="Consolas"/>
              </a:rPr>
              <a:t>il2cpp.exe did not run properly!</a:t>
            </a:r>
          </a:p>
          <a:p>
            <a:pPr algn="l">
              <a:spcAft>
                <a:spcPts val="200"/>
              </a:spcAft>
            </a:pPr>
            <a:r>
              <a:rPr sz="1300" b="0" i="0">
                <a:solidFill>
                  <a:srgbClr val="E9EEFB"/>
                </a:solidFill>
                <a:latin typeface="Consolas"/>
              </a:rPr>
              <a:t>...opt.exe: ...\Library\il2cpp_cache\940702E2....o: error: Could not open input file:</a:t>
            </a:r>
          </a:p>
          <a:p>
            <a:pPr algn="l">
              <a:spcAft>
                <a:spcPts val="200"/>
              </a:spcAft>
            </a:pPr>
            <a:r>
              <a:rPr sz="1300" b="0" i="0">
                <a:solidFill>
                  <a:srgbClr val="E9EEFB"/>
                </a:solidFill>
                <a:latin typeface="Consolas"/>
              </a:rPr>
              <a:t>No hay ninguna asignación en la página de códigos de múltiples bytes...</a:t>
            </a:r>
          </a:p>
        </p:txBody>
      </p:sp>
      <p:sp>
        <p:nvSpPr>
          <p:cNvPr id="6" name="TextBox 5"/>
          <p:cNvSpPr txBox="1"/>
          <p:nvPr/>
        </p:nvSpPr>
        <p:spPr>
          <a:xfrm>
            <a:off x="548640" y="3246120"/>
            <a:ext cx="5577840" cy="2926080"/>
          </a:xfrm>
          <a:prstGeom prst="rect">
            <a:avLst/>
          </a:prstGeom>
          <a:noFill/>
        </p:spPr>
        <p:txBody>
          <a:bodyPr wrap="square" lIns="0" rIns="0" tIns="0" bIns="0" anchor="t">
            <a:spAutoFit/>
          </a:bodyPr>
          <a:lstStyle/>
          <a:p>
            <a:pPr algn="l">
              <a:spcAft>
                <a:spcPts val="1000"/>
              </a:spcAft>
            </a:pPr>
            <a:r>
              <a:rPr sz="1500" b="1" i="0">
                <a:solidFill>
                  <a:srgbClr val="0A0E1A"/>
                </a:solidFill>
                <a:latin typeface="Calibri"/>
              </a:rPr>
              <a:t>Qué pasa: </a:t>
            </a:r>
            <a:r>
              <a:rPr sz="1500" b="0" i="0">
                <a:solidFill>
                  <a:srgbClr val="0A0E1A"/>
                </a:solidFill>
                <a:latin typeface="Calibri"/>
              </a:rPr>
              <a:t>el compilador de WebGL de Unity 2019.4 no entiende las letras con tilde en la ruta del proyecto. Falla si una carpeta se llama, por ejemplo, </a:t>
            </a:r>
            <a:r>
              <a:rPr sz="1400" b="0" i="0">
                <a:solidFill>
                  <a:srgbClr val="0A0E1A"/>
                </a:solidFill>
                <a:latin typeface="Consolas"/>
              </a:rPr>
              <a:t>Tecnología</a:t>
            </a:r>
            <a:r>
              <a:rPr sz="1500" b="0" i="0">
                <a:solidFill>
                  <a:srgbClr val="0A0E1A"/>
                </a:solidFill>
                <a:latin typeface="Calibri"/>
              </a:rPr>
              <a:t>.</a:t>
            </a:r>
          </a:p>
          <a:p>
            <a:pPr algn="l">
              <a:spcAft>
                <a:spcPts val="1000"/>
              </a:spcAft>
            </a:pPr>
            <a:r>
              <a:rPr sz="1500" b="1" i="0">
                <a:solidFill>
                  <a:srgbClr val="0A0E1A"/>
                </a:solidFill>
                <a:latin typeface="Calibri"/>
              </a:rPr>
              <a:t>Se descubrió exportando el juego de referencia: </a:t>
            </a:r>
            <a:r>
              <a:rPr sz="1500" b="0" i="0">
                <a:solidFill>
                  <a:srgbClr val="0A0E1A"/>
                </a:solidFill>
                <a:latin typeface="Calibri"/>
              </a:rPr>
              <a:t>el mismo proyecto falló desde una carpeta con tilde y salió bien al copiarlo a una sin tildes.</a:t>
            </a:r>
          </a:p>
        </p:txBody>
      </p:sp>
      <p:sp>
        <p:nvSpPr>
          <p:cNvPr id="7" name="Rounded Rectangle 6"/>
          <p:cNvSpPr/>
          <p:nvPr/>
        </p:nvSpPr>
        <p:spPr>
          <a:xfrm>
            <a:off x="6492240" y="3246120"/>
            <a:ext cx="5166360" cy="2971800"/>
          </a:xfrm>
          <a:prstGeom prst="roundRect">
            <a:avLst>
              <a:gd name="adj" fmla="val 6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720840" y="3383280"/>
            <a:ext cx="4754880" cy="2743200"/>
          </a:xfrm>
          <a:prstGeom prst="rect">
            <a:avLst/>
          </a:prstGeom>
          <a:noFill/>
        </p:spPr>
        <p:txBody>
          <a:bodyPr wrap="square" lIns="0" rIns="0" tIns="0" bIns="0" anchor="t">
            <a:spAutoFit/>
          </a:bodyPr>
          <a:lstStyle/>
          <a:p>
            <a:pPr algn="l">
              <a:spcAft>
                <a:spcPts val="800"/>
              </a:spcAft>
            </a:pPr>
            <a:r>
              <a:rPr sz="1400" b="1" i="0">
                <a:solidFill>
                  <a:srgbClr val="097A41"/>
                </a:solidFill>
                <a:latin typeface="Calibri"/>
              </a:rPr>
              <a:t>✓  Cómo se arregla</a:t>
            </a:r>
          </a:p>
          <a:p>
            <a:pPr algn="l">
              <a:spcAft>
                <a:spcPts val="800"/>
              </a:spcAft>
            </a:pPr>
            <a:r>
              <a:rPr sz="1400" b="0" i="0">
                <a:solidFill>
                  <a:srgbClr val="0A0E1A"/>
                </a:solidFill>
                <a:latin typeface="Calibri"/>
              </a:rPr>
              <a:t>Mueve el proyecto a </a:t>
            </a:r>
            <a:r>
              <a:rPr sz="1400" b="1" i="0">
                <a:solidFill>
                  <a:srgbClr val="0A0E1A"/>
                </a:solidFill>
                <a:latin typeface="Consolas"/>
              </a:rPr>
              <a:t>C:\Unity</a:t>
            </a:r>
            <a:r>
              <a:rPr sz="1400" b="0" i="0">
                <a:solidFill>
                  <a:srgbClr val="0A0E1A"/>
                </a:solidFill>
                <a:latin typeface="Calibri"/>
              </a:rPr>
              <a:t>, como en la Guía 0. Ahí no hay tildes ni espacios.</a:t>
            </a:r>
          </a:p>
          <a:p>
            <a:pPr algn="l">
              <a:spcAft>
                <a:spcPts val="800"/>
              </a:spcAft>
            </a:pPr>
            <a:r>
              <a:rPr sz="1400" b="0" i="0">
                <a:solidFill>
                  <a:srgbClr val="0A0E1A"/>
                </a:solidFill>
                <a:latin typeface="Calibri"/>
              </a:rPr>
              <a:t>Cuida también que el nombre del proyecto no las tenga: Equipo10_Motricidad, no Motricidad_años.</a:t>
            </a:r>
          </a:p>
        </p:txBody>
      </p:sp>
      <p:sp>
        <p:nvSpPr>
          <p:cNvPr id="9"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2 · Probar y publicar  ·  6 de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Lo que cambia cuando el juego corre en el navegador</a:t>
            </a:r>
          </a:p>
        </p:txBody>
      </p:sp>
      <p:sp>
        <p:nvSpPr>
          <p:cNvPr id="4" name="Rounded Rectangle 3"/>
          <p:cNvSpPr/>
          <p:nvPr/>
        </p:nvSpPr>
        <p:spPr>
          <a:xfrm>
            <a:off x="512063" y="1609344"/>
            <a:ext cx="4645152" cy="2930652"/>
          </a:xfrm>
          <a:prstGeom prst="roundRect">
            <a:avLst>
              <a:gd name="adj" fmla="val 3000"/>
            </a:avLst>
          </a:prstGeom>
          <a:solidFill>
            <a:srgbClr val="070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web_menu_lienzo.png"/>
          <p:cNvPicPr>
            <a:picLocks noChangeAspect="1"/>
          </p:cNvPicPr>
          <p:nvPr/>
        </p:nvPicPr>
        <p:blipFill>
          <a:blip r:embed="rId2"/>
          <a:stretch>
            <a:fillRect/>
          </a:stretch>
        </p:blipFill>
        <p:spPr>
          <a:xfrm>
            <a:off x="548640" y="1645920"/>
            <a:ext cx="4572000" cy="2857500"/>
          </a:xfrm>
          <a:prstGeom prst="rect">
            <a:avLst/>
          </a:prstGeom>
        </p:spPr>
      </p:pic>
      <p:sp>
        <p:nvSpPr>
          <p:cNvPr id="6" name="TextBox 5"/>
          <p:cNvSpPr txBox="1"/>
          <p:nvPr/>
        </p:nvSpPr>
        <p:spPr>
          <a:xfrm>
            <a:off x="548640" y="4613148"/>
            <a:ext cx="4572000" cy="320040"/>
          </a:xfrm>
          <a:prstGeom prst="rect">
            <a:avLst/>
          </a:prstGeom>
          <a:noFill/>
        </p:spPr>
        <p:txBody>
          <a:bodyPr wrap="square" lIns="0" rIns="0" tIns="0" bIns="0" anchor="t">
            <a:spAutoFit/>
          </a:bodyPr>
          <a:lstStyle/>
          <a:p>
            <a:pPr algn="l">
              <a:spcAft>
                <a:spcPts val="600"/>
              </a:spcAft>
            </a:pPr>
            <a:r>
              <a:rPr sz="1200" b="0" i="0">
                <a:solidFill>
                  <a:srgbClr val="4F5C75"/>
                </a:solidFill>
                <a:latin typeface="Calibri"/>
              </a:rPr>
              <a:t>El menú de motricidad en Chrome.</a:t>
            </a:r>
          </a:p>
        </p:txBody>
      </p:sp>
      <p:sp>
        <p:nvSpPr>
          <p:cNvPr id="7" name="Rounded Rectangle 6"/>
          <p:cNvSpPr/>
          <p:nvPr/>
        </p:nvSpPr>
        <p:spPr>
          <a:xfrm>
            <a:off x="5440680" y="1645920"/>
            <a:ext cx="6217920" cy="105156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669280" y="1755648"/>
            <a:ext cx="5806440" cy="914400"/>
          </a:xfrm>
          <a:prstGeom prst="rect">
            <a:avLst/>
          </a:prstGeom>
          <a:noFill/>
        </p:spPr>
        <p:txBody>
          <a:bodyPr wrap="square" lIns="0" rIns="0" tIns="0" bIns="0" anchor="t">
            <a:spAutoFit/>
          </a:bodyPr>
          <a:lstStyle/>
          <a:p>
            <a:pPr algn="l">
              <a:spcAft>
                <a:spcPts val="200"/>
              </a:spcAft>
            </a:pPr>
            <a:r>
              <a:rPr sz="1400" b="1" i="0">
                <a:solidFill>
                  <a:srgbClr val="0A0E1A"/>
                </a:solidFill>
                <a:latin typeface="Calibri"/>
              </a:rPr>
              <a:t>El sonido espera un clic</a:t>
            </a:r>
          </a:p>
          <a:p>
            <a:pPr algn="l">
              <a:spcAft>
                <a:spcPts val="200"/>
              </a:spcAft>
            </a:pPr>
            <a:r>
              <a:rPr sz="1200" b="0" i="0">
                <a:solidFill>
                  <a:srgbClr val="4F5C75"/>
                </a:solidFill>
                <a:latin typeface="Calibri"/>
              </a:rPr>
              <a:t>El navegador no deja sonar nada hasta que la persona haga clic en la página. En los menús ya hay un clic antes de que empiece la música, así que no falla.</a:t>
            </a:r>
          </a:p>
        </p:txBody>
      </p:sp>
      <p:sp>
        <p:nvSpPr>
          <p:cNvPr id="9" name="Rounded Rectangle 8"/>
          <p:cNvSpPr/>
          <p:nvPr/>
        </p:nvSpPr>
        <p:spPr>
          <a:xfrm>
            <a:off x="5440680" y="2816352"/>
            <a:ext cx="6217920" cy="105156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0" y="2926080"/>
            <a:ext cx="5806440" cy="914400"/>
          </a:xfrm>
          <a:prstGeom prst="rect">
            <a:avLst/>
          </a:prstGeom>
          <a:noFill/>
        </p:spPr>
        <p:txBody>
          <a:bodyPr wrap="square" lIns="0" rIns="0" tIns="0" bIns="0" anchor="t">
            <a:spAutoFit/>
          </a:bodyPr>
          <a:lstStyle/>
          <a:p>
            <a:pPr algn="l">
              <a:spcAft>
                <a:spcPts val="200"/>
              </a:spcAft>
            </a:pPr>
            <a:r>
              <a:rPr sz="1400" b="1" i="0">
                <a:solidFill>
                  <a:srgbClr val="0A0E1A"/>
                </a:solidFill>
                <a:latin typeface="Calibri"/>
              </a:rPr>
              <a:t>El mouse se captura con un clic</a:t>
            </a:r>
          </a:p>
          <a:p>
            <a:pPr algn="l">
              <a:spcAft>
                <a:spcPts val="200"/>
              </a:spcAft>
            </a:pPr>
            <a:r>
              <a:rPr sz="1200" b="0" i="0">
                <a:solidFill>
                  <a:srgbClr val="4F5C75"/>
                </a:solidFill>
                <a:latin typeface="Calibri"/>
              </a:rPr>
              <a:t>El cursor virtual pide al navegador que capture el mouse. Escape lo suelta; si no hay captura, el juego sigue funcionando con el movimiento normal.</a:t>
            </a:r>
          </a:p>
        </p:txBody>
      </p:sp>
      <p:sp>
        <p:nvSpPr>
          <p:cNvPr id="11" name="Rounded Rectangle 10"/>
          <p:cNvSpPr/>
          <p:nvPr/>
        </p:nvSpPr>
        <p:spPr>
          <a:xfrm>
            <a:off x="5440680" y="3986784"/>
            <a:ext cx="6217920" cy="105156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669280" y="4096512"/>
            <a:ext cx="5806440" cy="914400"/>
          </a:xfrm>
          <a:prstGeom prst="rect">
            <a:avLst/>
          </a:prstGeom>
          <a:noFill/>
        </p:spPr>
        <p:txBody>
          <a:bodyPr wrap="square" lIns="0" rIns="0" tIns="0" bIns="0" anchor="t">
            <a:spAutoFit/>
          </a:bodyPr>
          <a:lstStyle/>
          <a:p>
            <a:pPr algn="l">
              <a:spcAft>
                <a:spcPts val="200"/>
              </a:spcAft>
            </a:pPr>
            <a:r>
              <a:rPr sz="1400" b="1" i="0">
                <a:solidFill>
                  <a:srgbClr val="0A0E1A"/>
                </a:solidFill>
                <a:latin typeface="Calibri"/>
              </a:rPr>
              <a:t>Los datos no se guardan en un archivo</a:t>
            </a:r>
          </a:p>
          <a:p>
            <a:pPr algn="l">
              <a:spcAft>
                <a:spcPts val="200"/>
              </a:spcAft>
            </a:pPr>
            <a:r>
              <a:rPr sz="1200" b="0" i="0">
                <a:solidFill>
                  <a:srgbClr val="4F5C75"/>
                </a:solidFill>
                <a:latin typeface="Calibri"/>
              </a:rPr>
              <a:t>Un navegador no puede escribir en el disco. Los resultados salen en la consola (F12) y la última fila queda en PlayerPrefs.</a:t>
            </a:r>
          </a:p>
        </p:txBody>
      </p:sp>
      <p:sp>
        <p:nvSpPr>
          <p:cNvPr id="13" name="Rounded Rectangle 12"/>
          <p:cNvSpPr/>
          <p:nvPr/>
        </p:nvSpPr>
        <p:spPr>
          <a:xfrm>
            <a:off x="5440680" y="5157216"/>
            <a:ext cx="6217920" cy="105156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669280" y="5266944"/>
            <a:ext cx="5806440" cy="914400"/>
          </a:xfrm>
          <a:prstGeom prst="rect">
            <a:avLst/>
          </a:prstGeom>
          <a:noFill/>
        </p:spPr>
        <p:txBody>
          <a:bodyPr wrap="square" lIns="0" rIns="0" tIns="0" bIns="0" anchor="t">
            <a:spAutoFit/>
          </a:bodyPr>
          <a:lstStyle/>
          <a:p>
            <a:pPr algn="l">
              <a:spcAft>
                <a:spcPts val="200"/>
              </a:spcAft>
            </a:pPr>
            <a:r>
              <a:rPr sz="1400" b="1" i="0">
                <a:solidFill>
                  <a:srgbClr val="0A0E1A"/>
                </a:solidFill>
                <a:latin typeface="Calibri"/>
              </a:rPr>
              <a:t>Salir no hace nada</a:t>
            </a:r>
          </a:p>
          <a:p>
            <a:pPr algn="l">
              <a:spcAft>
                <a:spcPts val="200"/>
              </a:spcAft>
            </a:pPr>
            <a:r>
              <a:rPr sz="1200" b="0" i="0">
                <a:solidFill>
                  <a:srgbClr val="4F5C75"/>
                </a:solidFill>
                <a:latin typeface="Calibri"/>
              </a:rPr>
              <a:t>Application.Quit no cierra una pestaña. El botón de salir no aplica en la web.</a:t>
            </a:r>
          </a:p>
        </p:txBody>
      </p:sp>
      <p:sp>
        <p:nvSpPr>
          <p:cNvPr id="15" name="Rounded Rectangle 14"/>
          <p:cNvSpPr/>
          <p:nvPr/>
        </p:nvSpPr>
        <p:spPr>
          <a:xfrm>
            <a:off x="548640" y="5029200"/>
            <a:ext cx="4572000" cy="1280160"/>
          </a:xfrm>
          <a:prstGeom prst="roundRect">
            <a:avLst>
              <a:gd name="adj" fmla="val 8000"/>
            </a:avLst>
          </a:prstGeom>
          <a:solidFill>
            <a:srgbClr val="FC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77240" y="5193792"/>
            <a:ext cx="4114800" cy="1005839"/>
          </a:xfrm>
          <a:prstGeom prst="rect">
            <a:avLst/>
          </a:prstGeom>
          <a:noFill/>
        </p:spPr>
        <p:txBody>
          <a:bodyPr wrap="square" lIns="0" rIns="0" tIns="0" bIns="0" anchor="t">
            <a:spAutoFit/>
          </a:bodyPr>
          <a:lstStyle/>
          <a:p>
            <a:pPr algn="l">
              <a:spcAft>
                <a:spcPts val="400"/>
              </a:spcAft>
            </a:pPr>
            <a:r>
              <a:rPr sz="1200" b="1" i="0">
                <a:solidFill>
                  <a:srgbClr val="875A00"/>
                </a:solidFill>
                <a:latin typeface="Calibri"/>
              </a:rPr>
              <a:t>!  Esto lo tienes que mirar tú</a:t>
            </a:r>
          </a:p>
          <a:p>
            <a:pPr algn="l">
              <a:spcAft>
                <a:spcPts val="400"/>
              </a:spcAft>
            </a:pPr>
            <a:r>
              <a:rPr sz="1200" b="0" i="0">
                <a:solidFill>
                  <a:srgbClr val="0A0E1A"/>
                </a:solidFill>
                <a:latin typeface="Calibri"/>
              </a:rPr>
              <a:t>La captura del mouse y la sensibilidad no se pudieron probar sin una persona: ver diapositiva 9.</a:t>
            </a:r>
          </a:p>
        </p:txBody>
      </p:sp>
      <p:sp>
        <p:nvSpPr>
          <p:cNvPr id="17"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2 · Probar y publicar  ·  7 de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Cómo llega el juego a la página del semillero</a:t>
            </a:r>
          </a:p>
        </p:txBody>
      </p:sp>
      <p:sp>
        <p:nvSpPr>
          <p:cNvPr id="4" name="Rounded Rectangle 3"/>
          <p:cNvSpPr/>
          <p:nvPr/>
        </p:nvSpPr>
        <p:spPr>
          <a:xfrm>
            <a:off x="548640" y="1691640"/>
            <a:ext cx="3520440" cy="301752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 y="1874519"/>
            <a:ext cx="457200" cy="457200"/>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6" name="TextBox 5"/>
          <p:cNvSpPr txBox="1"/>
          <p:nvPr/>
        </p:nvSpPr>
        <p:spPr>
          <a:xfrm>
            <a:off x="777240" y="2514600"/>
            <a:ext cx="3108960" cy="2103120"/>
          </a:xfrm>
          <a:prstGeom prst="rect">
            <a:avLst/>
          </a:prstGeom>
          <a:noFill/>
        </p:spPr>
        <p:txBody>
          <a:bodyPr wrap="square" lIns="0" rIns="0" tIns="0" bIns="0" anchor="t">
            <a:spAutoFit/>
          </a:bodyPr>
          <a:lstStyle/>
          <a:p>
            <a:pPr algn="l">
              <a:spcAft>
                <a:spcPts val="800"/>
              </a:spcAft>
            </a:pPr>
            <a:r>
              <a:rPr sz="1800" b="1" i="0">
                <a:solidFill>
                  <a:srgbClr val="0A0E1A"/>
                </a:solidFill>
                <a:latin typeface="Calibri"/>
              </a:rPr>
              <a:t>Entregas la carpeta</a:t>
            </a:r>
          </a:p>
          <a:p>
            <a:pPr algn="l">
              <a:spcAft>
                <a:spcPts val="800"/>
              </a:spcAft>
            </a:pPr>
            <a:r>
              <a:rPr sz="1400" b="0" i="0">
                <a:solidFill>
                  <a:srgbClr val="0A0E1A"/>
                </a:solidFill>
                <a:latin typeface="Calibri"/>
              </a:rPr>
              <a:t>La carpeta que exportó Unity, completa, en tu carpeta de Drive con el nombre del juego.</a:t>
            </a:r>
          </a:p>
        </p:txBody>
      </p:sp>
      <p:sp>
        <p:nvSpPr>
          <p:cNvPr id="7" name="Right Arrow 6"/>
          <p:cNvSpPr/>
          <p:nvPr/>
        </p:nvSpPr>
        <p:spPr>
          <a:xfrm>
            <a:off x="4096511" y="3017520"/>
            <a:ext cx="182880" cy="274320"/>
          </a:xfrm>
          <a:prstGeom prst="rightArrow">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4297679" y="1691640"/>
            <a:ext cx="3520440" cy="301752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526279" y="1874519"/>
            <a:ext cx="457200" cy="457200"/>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10" name="TextBox 9"/>
          <p:cNvSpPr txBox="1"/>
          <p:nvPr/>
        </p:nvSpPr>
        <p:spPr>
          <a:xfrm>
            <a:off x="4526279" y="2514600"/>
            <a:ext cx="3108960" cy="2103120"/>
          </a:xfrm>
          <a:prstGeom prst="rect">
            <a:avLst/>
          </a:prstGeom>
          <a:noFill/>
        </p:spPr>
        <p:txBody>
          <a:bodyPr wrap="square" lIns="0" rIns="0" tIns="0" bIns="0" anchor="t">
            <a:spAutoFit/>
          </a:bodyPr>
          <a:lstStyle/>
          <a:p>
            <a:pPr algn="l">
              <a:spcAft>
                <a:spcPts val="800"/>
              </a:spcAft>
            </a:pPr>
            <a:r>
              <a:rPr sz="1800" b="1" i="0">
                <a:solidFill>
                  <a:srgbClr val="0A0E1A"/>
                </a:solidFill>
                <a:latin typeface="Calibri"/>
              </a:rPr>
              <a:t>El profe la revisa</a:t>
            </a:r>
          </a:p>
          <a:p>
            <a:pPr algn="l">
              <a:spcAft>
                <a:spcPts val="800"/>
              </a:spcAft>
            </a:pPr>
            <a:r>
              <a:rPr sz="1400" b="0" i="0">
                <a:solidFill>
                  <a:srgbClr val="0A0E1A"/>
                </a:solidFill>
                <a:latin typeface="Calibri"/>
              </a:rPr>
              <a:t>La abre, la juega y revisa que no tenga imágenes ni música con derechos de otros.</a:t>
            </a:r>
          </a:p>
        </p:txBody>
      </p:sp>
      <p:sp>
        <p:nvSpPr>
          <p:cNvPr id="11" name="Right Arrow 10"/>
          <p:cNvSpPr/>
          <p:nvPr/>
        </p:nvSpPr>
        <p:spPr>
          <a:xfrm>
            <a:off x="7845551" y="3017520"/>
            <a:ext cx="182880" cy="274320"/>
          </a:xfrm>
          <a:prstGeom prst="rightArrow">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19" y="1691640"/>
            <a:ext cx="3520440" cy="301752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8275319" y="1874519"/>
            <a:ext cx="457200" cy="457200"/>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4" name="TextBox 13"/>
          <p:cNvSpPr txBox="1"/>
          <p:nvPr/>
        </p:nvSpPr>
        <p:spPr>
          <a:xfrm>
            <a:off x="8275319" y="2514600"/>
            <a:ext cx="3108960" cy="2103120"/>
          </a:xfrm>
          <a:prstGeom prst="rect">
            <a:avLst/>
          </a:prstGeom>
          <a:noFill/>
        </p:spPr>
        <p:txBody>
          <a:bodyPr wrap="square" lIns="0" rIns="0" tIns="0" bIns="0" anchor="t">
            <a:spAutoFit/>
          </a:bodyPr>
          <a:lstStyle/>
          <a:p>
            <a:pPr algn="l">
              <a:spcAft>
                <a:spcPts val="800"/>
              </a:spcAft>
            </a:pPr>
            <a:r>
              <a:rPr sz="1800" b="1" i="0">
                <a:solidFill>
                  <a:srgbClr val="0A0E1A"/>
                </a:solidFill>
                <a:latin typeface="Calibri"/>
              </a:rPr>
              <a:t>Se publica</a:t>
            </a:r>
          </a:p>
          <a:p>
            <a:pPr algn="l">
              <a:spcAft>
                <a:spcPts val="800"/>
              </a:spcAft>
            </a:pPr>
            <a:r>
              <a:rPr sz="1400" b="0" i="0">
                <a:solidFill>
                  <a:srgbClr val="0A0E1A"/>
                </a:solidFill>
                <a:latin typeface="Calibri"/>
              </a:rPr>
              <a:t>Se agrega a la página y queda un enlace para jugar sin instalar nada.</a:t>
            </a:r>
          </a:p>
        </p:txBody>
      </p:sp>
      <p:sp>
        <p:nvSpPr>
          <p:cNvPr id="15" name="Rounded Rectangle 14"/>
          <p:cNvSpPr/>
          <p:nvPr/>
        </p:nvSpPr>
        <p:spPr>
          <a:xfrm>
            <a:off x="548640" y="4937760"/>
            <a:ext cx="5486400" cy="1325880"/>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77240" y="5102352"/>
            <a:ext cx="5029200" cy="1051560"/>
          </a:xfrm>
          <a:prstGeom prst="rect">
            <a:avLst/>
          </a:prstGeom>
          <a:noFill/>
        </p:spPr>
        <p:txBody>
          <a:bodyPr wrap="square" lIns="0" rIns="0" tIns="0" bIns="0" anchor="t">
            <a:spAutoFit/>
          </a:bodyPr>
          <a:lstStyle/>
          <a:p>
            <a:pPr algn="l">
              <a:spcAft>
                <a:spcPts val="400"/>
              </a:spcAft>
            </a:pPr>
            <a:r>
              <a:rPr sz="1300" b="1" i="0">
                <a:solidFill>
                  <a:srgbClr val="097A41"/>
                </a:solidFill>
                <a:latin typeface="Calibri"/>
              </a:rPr>
              <a:t>✓  Lo que ya cumple el kit</a:t>
            </a:r>
          </a:p>
          <a:p>
            <a:pPr algn="l">
              <a:spcAft>
                <a:spcPts val="400"/>
              </a:spcAft>
            </a:pPr>
            <a:r>
              <a:rPr sz="1300" b="0" i="0">
                <a:solidFill>
                  <a:srgbClr val="0A0E1A"/>
                </a:solidFill>
                <a:latin typeface="Calibri"/>
              </a:rPr>
              <a:t>Los personajes, fondos, íconos y canciones son originales. Sin música de bandas ni personajes de series.</a:t>
            </a:r>
          </a:p>
        </p:txBody>
      </p:sp>
      <p:sp>
        <p:nvSpPr>
          <p:cNvPr id="17" name="Rounded Rectangle 16"/>
          <p:cNvSpPr/>
          <p:nvPr/>
        </p:nvSpPr>
        <p:spPr>
          <a:xfrm>
            <a:off x="6172200" y="4937760"/>
            <a:ext cx="5486400" cy="1325880"/>
          </a:xfrm>
          <a:prstGeom prst="roundRect">
            <a:avLst>
              <a:gd name="adj" fmla="val 8000"/>
            </a:avLst>
          </a:prstGeom>
          <a:solidFill>
            <a:srgbClr val="FC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0" y="5102352"/>
            <a:ext cx="5029200" cy="1051560"/>
          </a:xfrm>
          <a:prstGeom prst="rect">
            <a:avLst/>
          </a:prstGeom>
          <a:noFill/>
        </p:spPr>
        <p:txBody>
          <a:bodyPr wrap="square" lIns="0" rIns="0" tIns="0" bIns="0" anchor="t">
            <a:spAutoFit/>
          </a:bodyPr>
          <a:lstStyle/>
          <a:p>
            <a:pPr algn="l">
              <a:spcAft>
                <a:spcPts val="400"/>
              </a:spcAft>
            </a:pPr>
            <a:r>
              <a:rPr sz="1300" b="1" i="0">
                <a:solidFill>
                  <a:srgbClr val="875A00"/>
                </a:solidFill>
                <a:latin typeface="Calibri"/>
              </a:rPr>
              <a:t>!  Si agregas algo de internet</a:t>
            </a:r>
          </a:p>
          <a:p>
            <a:pPr algn="l">
              <a:spcAft>
                <a:spcPts val="400"/>
              </a:spcAft>
            </a:pPr>
            <a:r>
              <a:rPr sz="1300" b="0" i="0">
                <a:solidFill>
                  <a:srgbClr val="0A0E1A"/>
                </a:solidFill>
                <a:latin typeface="Calibri"/>
              </a:rPr>
              <a:t>Anota de dónde salió y su licencia en el LEEME antes de entregarlo. Sin eso no se puede publicar.</a:t>
            </a:r>
          </a:p>
        </p:txBody>
      </p:sp>
      <p:sp>
        <p:nvSpPr>
          <p:cNvPr id="19"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2 · Probar y publicar  ·  8 de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La prueba que solo puede hacer una persona</a:t>
            </a:r>
          </a:p>
        </p:txBody>
      </p:sp>
      <p:sp>
        <p:nvSpPr>
          <p:cNvPr id="4" name="TextBox 3"/>
          <p:cNvSpPr txBox="1"/>
          <p:nvPr/>
        </p:nvSpPr>
        <p:spPr>
          <a:xfrm>
            <a:off x="548640" y="1645920"/>
            <a:ext cx="5852160" cy="82296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Abre el juego en Chrome con la carpeta exportada y comprueba esto. Son dos minutos. Anota en Barreras.docx lo que falle.</a:t>
            </a:r>
          </a:p>
        </p:txBody>
      </p:sp>
      <p:sp>
        <p:nvSpPr>
          <p:cNvPr id="5" name="TextBox 4"/>
          <p:cNvSpPr txBox="1"/>
          <p:nvPr/>
        </p:nvSpPr>
        <p:spPr>
          <a:xfrm>
            <a:off x="548640" y="2606040"/>
            <a:ext cx="6035040" cy="548640"/>
          </a:xfrm>
          <a:prstGeom prst="rect">
            <a:avLst/>
          </a:prstGeom>
          <a:noFill/>
        </p:spPr>
        <p:txBody>
          <a:bodyPr wrap="square" lIns="0" rIns="0" tIns="0" bIns="0" anchor="t">
            <a:spAutoFit/>
          </a:bodyPr>
          <a:lstStyle/>
          <a:p>
            <a:pPr algn="l">
              <a:spcAft>
                <a:spcPts val="600"/>
              </a:spcAft>
            </a:pPr>
            <a:r>
              <a:rPr sz="1800" b="0" i="0">
                <a:solidFill>
                  <a:srgbClr val="7317C9"/>
                </a:solidFill>
                <a:latin typeface="Calibri"/>
              </a:rPr>
              <a:t>☐   </a:t>
            </a:r>
            <a:r>
              <a:rPr sz="1400" b="0" i="0">
                <a:solidFill>
                  <a:srgbClr val="0A0E1A"/>
                </a:solidFill>
                <a:latin typeface="Calibri"/>
              </a:rPr>
              <a:t>Hay un clic en la página y el cursor virtual aparece donde esperas.</a:t>
            </a:r>
          </a:p>
        </p:txBody>
      </p:sp>
      <p:sp>
        <p:nvSpPr>
          <p:cNvPr id="6" name="TextBox 5"/>
          <p:cNvSpPr txBox="1"/>
          <p:nvPr/>
        </p:nvSpPr>
        <p:spPr>
          <a:xfrm>
            <a:off x="548640" y="3191256"/>
            <a:ext cx="6035040" cy="548640"/>
          </a:xfrm>
          <a:prstGeom prst="rect">
            <a:avLst/>
          </a:prstGeom>
          <a:noFill/>
        </p:spPr>
        <p:txBody>
          <a:bodyPr wrap="square" lIns="0" rIns="0" tIns="0" bIns="0" anchor="t">
            <a:spAutoFit/>
          </a:bodyPr>
          <a:lstStyle/>
          <a:p>
            <a:pPr algn="l">
              <a:spcAft>
                <a:spcPts val="600"/>
              </a:spcAft>
            </a:pPr>
            <a:r>
              <a:rPr sz="1800" b="0" i="0">
                <a:solidFill>
                  <a:srgbClr val="7317C9"/>
                </a:solidFill>
                <a:latin typeface="Calibri"/>
              </a:rPr>
              <a:t>☐   </a:t>
            </a:r>
            <a:r>
              <a:rPr sz="1400" b="0" i="0">
                <a:solidFill>
                  <a:srgbClr val="0A0E1A"/>
                </a:solidFill>
                <a:latin typeface="Calibri"/>
              </a:rPr>
              <a:t>Con sensibilidad fina, un movimiento corto de la mano cruza la pantalla.</a:t>
            </a:r>
          </a:p>
        </p:txBody>
      </p:sp>
      <p:sp>
        <p:nvSpPr>
          <p:cNvPr id="7" name="TextBox 6"/>
          <p:cNvSpPr txBox="1"/>
          <p:nvPr/>
        </p:nvSpPr>
        <p:spPr>
          <a:xfrm>
            <a:off x="548640" y="3776472"/>
            <a:ext cx="6035040" cy="548640"/>
          </a:xfrm>
          <a:prstGeom prst="rect">
            <a:avLst/>
          </a:prstGeom>
          <a:noFill/>
        </p:spPr>
        <p:txBody>
          <a:bodyPr wrap="square" lIns="0" rIns="0" tIns="0" bIns="0" anchor="t">
            <a:spAutoFit/>
          </a:bodyPr>
          <a:lstStyle/>
          <a:p>
            <a:pPr algn="l">
              <a:spcAft>
                <a:spcPts val="600"/>
              </a:spcAft>
            </a:pPr>
            <a:r>
              <a:rPr sz="1800" b="0" i="0">
                <a:solidFill>
                  <a:srgbClr val="7317C9"/>
                </a:solidFill>
                <a:latin typeface="Calibri"/>
              </a:rPr>
              <a:t>☐   </a:t>
            </a:r>
            <a:r>
              <a:rPr sz="1400" b="0" i="0">
                <a:solidFill>
                  <a:srgbClr val="0A0E1A"/>
                </a:solidFill>
                <a:latin typeface="Calibri"/>
              </a:rPr>
              <a:t>Con sensibilidad gruesa, hay que mover el brazo para llegar.</a:t>
            </a:r>
          </a:p>
        </p:txBody>
      </p:sp>
      <p:sp>
        <p:nvSpPr>
          <p:cNvPr id="8" name="TextBox 7"/>
          <p:cNvSpPr txBox="1"/>
          <p:nvPr/>
        </p:nvSpPr>
        <p:spPr>
          <a:xfrm>
            <a:off x="548640" y="4361688"/>
            <a:ext cx="6035040" cy="548640"/>
          </a:xfrm>
          <a:prstGeom prst="rect">
            <a:avLst/>
          </a:prstGeom>
          <a:noFill/>
        </p:spPr>
        <p:txBody>
          <a:bodyPr wrap="square" lIns="0" rIns="0" tIns="0" bIns="0" anchor="t">
            <a:spAutoFit/>
          </a:bodyPr>
          <a:lstStyle/>
          <a:p>
            <a:pPr algn="l">
              <a:spcAft>
                <a:spcPts val="600"/>
              </a:spcAft>
            </a:pPr>
            <a:r>
              <a:rPr sz="1800" b="0" i="0">
                <a:solidFill>
                  <a:srgbClr val="7317C9"/>
                </a:solidFill>
                <a:latin typeface="Calibri"/>
              </a:rPr>
              <a:t>☐   </a:t>
            </a:r>
            <a:r>
              <a:rPr sz="1400" b="0" i="0">
                <a:solidFill>
                  <a:srgbClr val="0A0E1A"/>
                </a:solidFill>
                <a:latin typeface="Calibri"/>
              </a:rPr>
              <a:t>Escape suelta el mouse y un clic lo vuelve a capturar.</a:t>
            </a:r>
          </a:p>
        </p:txBody>
      </p:sp>
      <p:sp>
        <p:nvSpPr>
          <p:cNvPr id="9" name="TextBox 8"/>
          <p:cNvSpPr txBox="1"/>
          <p:nvPr/>
        </p:nvSpPr>
        <p:spPr>
          <a:xfrm>
            <a:off x="548640" y="4946904"/>
            <a:ext cx="6035040" cy="548640"/>
          </a:xfrm>
          <a:prstGeom prst="rect">
            <a:avLst/>
          </a:prstGeom>
          <a:noFill/>
        </p:spPr>
        <p:txBody>
          <a:bodyPr wrap="square" lIns="0" rIns="0" tIns="0" bIns="0" anchor="t">
            <a:spAutoFit/>
          </a:bodyPr>
          <a:lstStyle/>
          <a:p>
            <a:pPr algn="l">
              <a:spcAft>
                <a:spcPts val="600"/>
              </a:spcAft>
            </a:pPr>
            <a:r>
              <a:rPr sz="1800" b="0" i="0">
                <a:solidFill>
                  <a:srgbClr val="7317C9"/>
                </a:solidFill>
                <a:latin typeface="Calibri"/>
              </a:rPr>
              <a:t>☐   </a:t>
            </a:r>
            <a:r>
              <a:rPr sz="1400" b="0" i="0">
                <a:solidFill>
                  <a:srgbClr val="0A0E1A"/>
                </a:solidFill>
                <a:latin typeface="Calibri"/>
              </a:rPr>
              <a:t>La música suena y las notas caen al ritmo, sin desfase.</a:t>
            </a:r>
          </a:p>
        </p:txBody>
      </p:sp>
      <p:sp>
        <p:nvSpPr>
          <p:cNvPr id="10" name="TextBox 9"/>
          <p:cNvSpPr txBox="1"/>
          <p:nvPr/>
        </p:nvSpPr>
        <p:spPr>
          <a:xfrm>
            <a:off x="548640" y="5532120"/>
            <a:ext cx="6035040" cy="548640"/>
          </a:xfrm>
          <a:prstGeom prst="rect">
            <a:avLst/>
          </a:prstGeom>
          <a:noFill/>
        </p:spPr>
        <p:txBody>
          <a:bodyPr wrap="square" lIns="0" rIns="0" tIns="0" bIns="0" anchor="t">
            <a:spAutoFit/>
          </a:bodyPr>
          <a:lstStyle/>
          <a:p>
            <a:pPr algn="l">
              <a:spcAft>
                <a:spcPts val="600"/>
              </a:spcAft>
            </a:pPr>
            <a:r>
              <a:rPr sz="1800" b="0" i="0">
                <a:solidFill>
                  <a:srgbClr val="7317C9"/>
                </a:solidFill>
                <a:latin typeface="Calibri"/>
              </a:rPr>
              <a:t>☐   </a:t>
            </a:r>
            <a:r>
              <a:rPr sz="1400" b="0" i="0">
                <a:solidFill>
                  <a:srgbClr val="0A0E1A"/>
                </a:solidFill>
                <a:latin typeface="Calibri"/>
              </a:rPr>
              <a:t>El juego se ve completo, sin franjas ni cortes, en pantalla completa.</a:t>
            </a:r>
          </a:p>
        </p:txBody>
      </p:sp>
      <p:sp>
        <p:nvSpPr>
          <p:cNvPr id="11" name="Rounded Rectangle 10"/>
          <p:cNvSpPr/>
          <p:nvPr/>
        </p:nvSpPr>
        <p:spPr>
          <a:xfrm>
            <a:off x="6949440" y="1645920"/>
            <a:ext cx="4709160" cy="4617720"/>
          </a:xfrm>
          <a:prstGeom prst="roundRect">
            <a:avLst>
              <a:gd name="adj" fmla="val 6000"/>
            </a:avLst>
          </a:prstGeom>
          <a:solidFill>
            <a:srgbClr val="F1E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178040" y="1783080"/>
            <a:ext cx="4297680" cy="4389120"/>
          </a:xfrm>
          <a:prstGeom prst="rect">
            <a:avLst/>
          </a:prstGeom>
          <a:noFill/>
        </p:spPr>
        <p:txBody>
          <a:bodyPr wrap="square" lIns="0" rIns="0" tIns="0" bIns="0" anchor="t">
            <a:spAutoFit/>
          </a:bodyPr>
          <a:lstStyle/>
          <a:p>
            <a:pPr algn="l">
              <a:spcAft>
                <a:spcPts val="900"/>
              </a:spcAft>
            </a:pPr>
            <a:r>
              <a:rPr sz="1300" b="1" i="0">
                <a:solidFill>
                  <a:srgbClr val="0A0E1A"/>
                </a:solidFill>
                <a:latin typeface="Calibri"/>
              </a:rPr>
              <a:t>Por qué esta prueba</a:t>
            </a:r>
          </a:p>
          <a:p>
            <a:pPr algn="l">
              <a:spcAft>
                <a:spcPts val="900"/>
              </a:spcAft>
            </a:pPr>
            <a:r>
              <a:rPr sz="1300" b="0" i="0">
                <a:solidFill>
                  <a:srgbClr val="0A0E1A"/>
                </a:solidFill>
                <a:latin typeface="Calibri"/>
              </a:rPr>
              <a:t>Un navegador automático no concede la captura del mouse: se comprobó con una página mínima, sin Unity, y falla igual.</a:t>
            </a:r>
          </a:p>
          <a:p>
            <a:pPr algn="l">
              <a:spcAft>
                <a:spcPts val="900"/>
              </a:spcAft>
            </a:pPr>
            <a:r>
              <a:rPr sz="1300" b="0" i="0">
                <a:solidFill>
                  <a:srgbClr val="0A0E1A"/>
                </a:solidFill>
                <a:latin typeface="Calibri"/>
              </a:rPr>
              <a:t>La sensibilidad también puede sentirse distinta en la web que en Windows. No lo pude medir sin una persona, así que no lo doy por bueno.</a:t>
            </a:r>
          </a:p>
          <a:p>
            <a:pPr algn="l">
              <a:spcAft>
                <a:spcPts val="900"/>
              </a:spcAft>
            </a:pPr>
            <a:r>
              <a:rPr sz="1300" b="1" i="0">
                <a:solidFill>
                  <a:srgbClr val="0A0E1A"/>
                </a:solidFill>
                <a:latin typeface="Calibri"/>
              </a:rPr>
              <a:t>Si se siente muy rápido o muy lento: </a:t>
            </a:r>
            <a:r>
              <a:rPr sz="1300" b="0" i="0">
                <a:solidFill>
                  <a:srgbClr val="0A0E1A"/>
                </a:solidFill>
                <a:latin typeface="Calibri"/>
              </a:rPr>
              <a:t>cambia SensibilidadFina y SensibilidadGruesa en ConfiguracionJuego.cs y vuelve a exportar.</a:t>
            </a:r>
          </a:p>
        </p:txBody>
      </p:sp>
      <p:sp>
        <p:nvSpPr>
          <p:cNvPr id="13"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2 · Probar y publicar  ·  9 de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0B18"/>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C59BFF"/>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E9EEFB"/>
                </a:solidFill>
                <a:latin typeface="Cambria"/>
              </a:rPr>
              <a:t>Antes del 13 de noviembre</a:t>
            </a:r>
          </a:p>
        </p:txBody>
      </p:sp>
      <p:sp>
        <p:nvSpPr>
          <p:cNvPr id="4" name="TextBox 3"/>
          <p:cNvSpPr txBox="1"/>
          <p:nvPr/>
        </p:nvSpPr>
        <p:spPr>
          <a:xfrm>
            <a:off x="548640" y="1737360"/>
            <a:ext cx="7132320" cy="594360"/>
          </a:xfrm>
          <a:prstGeom prst="rect">
            <a:avLst/>
          </a:prstGeom>
          <a:noFill/>
        </p:spPr>
        <p:txBody>
          <a:bodyPr wrap="square" lIns="0" rIns="0" tIns="0" bIns="0" anchor="t">
            <a:spAutoFit/>
          </a:bodyPr>
          <a:lstStyle/>
          <a:p>
            <a:pPr algn="l">
              <a:spcAft>
                <a:spcPts val="600"/>
              </a:spcAft>
            </a:pPr>
            <a:r>
              <a:rPr sz="2000" b="0" i="0">
                <a:solidFill>
                  <a:srgbClr val="C59BFF"/>
                </a:solidFill>
                <a:latin typeface="Calibri"/>
              </a:rPr>
              <a:t>☐   </a:t>
            </a:r>
            <a:r>
              <a:rPr sz="1600" b="0" i="0">
                <a:solidFill>
                  <a:srgbClr val="E9EEFB"/>
                </a:solidFill>
                <a:latin typeface="Calibri"/>
              </a:rPr>
              <a:t>Tres personas distintas jugaron y quedó anotado qué no entendieron.</a:t>
            </a:r>
          </a:p>
        </p:txBody>
      </p:sp>
      <p:sp>
        <p:nvSpPr>
          <p:cNvPr id="5" name="TextBox 4"/>
          <p:cNvSpPr txBox="1"/>
          <p:nvPr/>
        </p:nvSpPr>
        <p:spPr>
          <a:xfrm>
            <a:off x="548640" y="2423160"/>
            <a:ext cx="7132320" cy="594360"/>
          </a:xfrm>
          <a:prstGeom prst="rect">
            <a:avLst/>
          </a:prstGeom>
          <a:noFill/>
        </p:spPr>
        <p:txBody>
          <a:bodyPr wrap="square" lIns="0" rIns="0" tIns="0" bIns="0" anchor="t">
            <a:spAutoFit/>
          </a:bodyPr>
          <a:lstStyle/>
          <a:p>
            <a:pPr algn="l">
              <a:spcAft>
                <a:spcPts val="600"/>
              </a:spcAft>
            </a:pPr>
            <a:r>
              <a:rPr sz="2000" b="0" i="0">
                <a:solidFill>
                  <a:srgbClr val="C59BFF"/>
                </a:solidFill>
                <a:latin typeface="Calibri"/>
              </a:rPr>
              <a:t>☐   </a:t>
            </a:r>
            <a:r>
              <a:rPr sz="1600" b="0" i="0">
                <a:solidFill>
                  <a:srgbClr val="E9EEFB"/>
                </a:solidFill>
                <a:latin typeface="Calibri"/>
              </a:rPr>
              <a:t>Hay una v2 con cambios por lo observado, y el dato antes y después.</a:t>
            </a:r>
          </a:p>
        </p:txBody>
      </p:sp>
      <p:sp>
        <p:nvSpPr>
          <p:cNvPr id="6" name="TextBox 5"/>
          <p:cNvSpPr txBox="1"/>
          <p:nvPr/>
        </p:nvSpPr>
        <p:spPr>
          <a:xfrm>
            <a:off x="548640" y="3108960"/>
            <a:ext cx="7132320" cy="594360"/>
          </a:xfrm>
          <a:prstGeom prst="rect">
            <a:avLst/>
          </a:prstGeom>
          <a:noFill/>
        </p:spPr>
        <p:txBody>
          <a:bodyPr wrap="square" lIns="0" rIns="0" tIns="0" bIns="0" anchor="t">
            <a:spAutoFit/>
          </a:bodyPr>
          <a:lstStyle/>
          <a:p>
            <a:pPr algn="l">
              <a:spcAft>
                <a:spcPts val="600"/>
              </a:spcAft>
            </a:pPr>
            <a:r>
              <a:rPr sz="2000" b="0" i="0">
                <a:solidFill>
                  <a:srgbClr val="C59BFF"/>
                </a:solidFill>
                <a:latin typeface="Calibri"/>
              </a:rPr>
              <a:t>☐   </a:t>
            </a:r>
            <a:r>
              <a:rPr sz="1600" b="0" i="0">
                <a:solidFill>
                  <a:srgbClr val="E9EEFB"/>
                </a:solidFill>
                <a:latin typeface="Calibri"/>
              </a:rPr>
              <a:t>El juego se exportó a WebGL con Compression Format en Disabled.</a:t>
            </a:r>
          </a:p>
        </p:txBody>
      </p:sp>
      <p:sp>
        <p:nvSpPr>
          <p:cNvPr id="7" name="TextBox 6"/>
          <p:cNvSpPr txBox="1"/>
          <p:nvPr/>
        </p:nvSpPr>
        <p:spPr>
          <a:xfrm>
            <a:off x="548640" y="3794760"/>
            <a:ext cx="7132320" cy="594360"/>
          </a:xfrm>
          <a:prstGeom prst="rect">
            <a:avLst/>
          </a:prstGeom>
          <a:noFill/>
        </p:spPr>
        <p:txBody>
          <a:bodyPr wrap="square" lIns="0" rIns="0" tIns="0" bIns="0" anchor="t">
            <a:spAutoFit/>
          </a:bodyPr>
          <a:lstStyle/>
          <a:p>
            <a:pPr algn="l">
              <a:spcAft>
                <a:spcPts val="600"/>
              </a:spcAft>
            </a:pPr>
            <a:r>
              <a:rPr sz="2000" b="0" i="0">
                <a:solidFill>
                  <a:srgbClr val="C59BFF"/>
                </a:solidFill>
                <a:latin typeface="Calibri"/>
              </a:rPr>
              <a:t>☐   </a:t>
            </a:r>
            <a:r>
              <a:rPr sz="1600" b="0" i="0">
                <a:solidFill>
                  <a:srgbClr val="E9EEFB"/>
                </a:solidFill>
                <a:latin typeface="Calibri"/>
              </a:rPr>
              <a:t>La carpeta exportada está en Drive, completa, con su LEEME de recursos.</a:t>
            </a:r>
          </a:p>
        </p:txBody>
      </p:sp>
      <p:sp>
        <p:nvSpPr>
          <p:cNvPr id="8" name="TextBox 7"/>
          <p:cNvSpPr txBox="1"/>
          <p:nvPr/>
        </p:nvSpPr>
        <p:spPr>
          <a:xfrm>
            <a:off x="548640" y="4480560"/>
            <a:ext cx="7132320" cy="594360"/>
          </a:xfrm>
          <a:prstGeom prst="rect">
            <a:avLst/>
          </a:prstGeom>
          <a:noFill/>
        </p:spPr>
        <p:txBody>
          <a:bodyPr wrap="square" lIns="0" rIns="0" tIns="0" bIns="0" anchor="t">
            <a:spAutoFit/>
          </a:bodyPr>
          <a:lstStyle/>
          <a:p>
            <a:pPr algn="l">
              <a:spcAft>
                <a:spcPts val="600"/>
              </a:spcAft>
            </a:pPr>
            <a:r>
              <a:rPr sz="2000" b="0" i="0">
                <a:solidFill>
                  <a:srgbClr val="C59BFF"/>
                </a:solidFill>
                <a:latin typeface="Calibri"/>
              </a:rPr>
              <a:t>☐   </a:t>
            </a:r>
            <a:r>
              <a:rPr sz="1600" b="0" i="0">
                <a:solidFill>
                  <a:srgbClr val="E9EEFB"/>
                </a:solidFill>
                <a:latin typeface="Calibri"/>
              </a:rPr>
              <a:t>La prueba de la diapositiva 9 está hecha y lo que falló, anotado.</a:t>
            </a:r>
          </a:p>
        </p:txBody>
      </p:sp>
      <p:sp>
        <p:nvSpPr>
          <p:cNvPr id="9" name="Rounded Rectangle 8"/>
          <p:cNvSpPr/>
          <p:nvPr/>
        </p:nvSpPr>
        <p:spPr>
          <a:xfrm>
            <a:off x="8092440" y="1737360"/>
            <a:ext cx="3566160" cy="2331720"/>
          </a:xfrm>
          <a:prstGeom prst="roundRect">
            <a:avLst>
              <a:gd name="adj" fmla="val 5000"/>
            </a:avLst>
          </a:prstGeom>
          <a:solidFill>
            <a:srgbClr val="141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321040" y="1965960"/>
            <a:ext cx="3108960" cy="2011680"/>
          </a:xfrm>
          <a:prstGeom prst="rect">
            <a:avLst/>
          </a:prstGeom>
          <a:noFill/>
        </p:spPr>
        <p:txBody>
          <a:bodyPr wrap="square" lIns="0" rIns="0" tIns="0" bIns="0" anchor="t">
            <a:spAutoFit/>
          </a:bodyPr>
          <a:lstStyle/>
          <a:p>
            <a:pPr algn="l">
              <a:spcAft>
                <a:spcPts val="800"/>
              </a:spcAft>
            </a:pPr>
            <a:r>
              <a:rPr sz="1300" b="1" i="0">
                <a:solidFill>
                  <a:srgbClr val="C59BFF"/>
                </a:solidFill>
                <a:latin typeface="Calibri"/>
              </a:rPr>
              <a:t>ENTREGA OFICIAL</a:t>
            </a:r>
          </a:p>
          <a:p>
            <a:pPr algn="l">
              <a:spcAft>
                <a:spcPts val="800"/>
              </a:spcAft>
            </a:pPr>
            <a:r>
              <a:rPr sz="2400" b="1" i="0">
                <a:solidFill>
                  <a:srgbClr val="E9EEFB"/>
                </a:solidFill>
                <a:latin typeface="Cambria"/>
              </a:rPr>
              <a:t>13 de noviembre</a:t>
            </a:r>
          </a:p>
          <a:p>
            <a:pPr algn="l">
              <a:spcAft>
                <a:spcPts val="800"/>
              </a:spcAft>
            </a:pPr>
            <a:r>
              <a:rPr sz="1400" b="0" i="0">
                <a:solidFill>
                  <a:srgbClr val="94A4C6"/>
                </a:solidFill>
                <a:latin typeface="Calibri"/>
              </a:rPr>
              <a:t>Después de aprobarlo, el juego se publica en la página del semillero.</a:t>
            </a:r>
          </a:p>
        </p:txBody>
      </p:sp>
      <p:sp>
        <p:nvSpPr>
          <p:cNvPr id="11"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94A4C6"/>
                </a:solidFill>
                <a:latin typeface="Calibri"/>
              </a:rPr>
              <a:t>Guía 2 · Probar y publicar  ·  10 de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