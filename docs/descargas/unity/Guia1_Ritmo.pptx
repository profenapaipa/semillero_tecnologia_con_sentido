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es la guía de tu juego, David. Es del estilo de Guitar Hero o de los juegos de flechas: las notas bajan y hay que tocarlas justo cuando pasan por la línea. Lo de coordinación está en que se mezclan teclas con la mano izquierda, clics con la derecha, notas que se sostienen y notas que van al mismo tiempo. Lo que ves es el juego armado con las mismas piezas que te entrego.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Antes de armar, la idea. Cualquier juego rítmico tiene tres piezas. Un reloj, que sabe en qué pulso de la canción vamos. Una partitura, que dice qué nota va en qué pulso. Y un juez, que compara cuándo tocaste con cuándo tocaba. El detalle importante es el reloj: no sirve el tiempo del juego, porque se atrasa cuando el computador se pone lento. Usamos el reloj de la tarjeta de sonido, que es el mismo de la música.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 la izquierda lo que te entrego hecho y probado. A la derecha lo que te toca: armar las dos escenas y conectar las piezas. Las partituras vienen hechas, pero al final de la guía te enseño a escribir las tuyas, que es donde el juego se vuelve tuyo.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partitura es un archivo de texto que puedes abrir con el Bloc de notas. Cada renglón es una nota: en qué pulso cae, en qué carril y cuánto dura. Si la duración es cero, es de toque; si es dos, hay que sostenerla dos pulsos. Las del kit tienen cuatro secciones, y cada una entrena una forma distinta de coordinar. Esa progresión es la que puedes medir para tu artículo.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menú es corto: tres botones, uno por canción. Cada botón hace dos cosas en orden: guarda el género y abre la escena del juego. IrA siempre de último. Y ojo con Electronica: va sin tilde, porque así se llama la opción en la música; si el botón dice otra cosa, suena la primera canción.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Primero el reloj. Un objeto Conductor con tres componentes: la fuente de audio, el Conductor y Musica Por Genero. Muy importante: desmarca Play On Awake. Si Unity arranca la canción solo, no sabemos en qué instante exacto empezó, y todas las notas quedan corridas unos milisegundos. El Conductor la programa en un instante preciso.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Los carriles son solo dibujos: seis rectángulos con un color suave. Lo que importa es su posición en X, porque el generador pone cada nota en la X de su carril. Fíjate en el hueco entre K y el clic izquierdo: separa visualmente lo que hace cada mano. Esa separación ayuda a leer la coordinación.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generador lee la partitura y crea cada nota un poco antes de que toque. La nota no baja un poquito cada cuadro: en cada cuadro se calcula dónde debe estar según cuántos pulsos le faltan. Es la fórmula de abajo. Por eso, aunque el computador se atrase, la nota llega a la línea justo en el pulso. Con Unidades Por Pulso controlas qué tan rápido se ven bajar.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juez es el que mide. Una nota tocada a menos de 50 milisegundos es perfecta; hasta 110 es bien. Un golpe lejos de cualquier nota no te castiga, para que apretar de más no arruine el combo de alguien que está aprendiendo. Y al final te muestra el error promedio en milisegundos: ese número es el tiempo de reacción que buscas para tu proyecto.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Aquí está la coordinación de verdad. En la sección tres, una mano sostiene una tecla mientras la otra hace clic: eso es independencia de manos. En la cuatro, tecla y clic van al mismo tiempo: eso es sincronización. Son dos habilidades distintas, y el juego te da datos separados de cada una.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reto que hace tuyo el juego: escribir tu propia partitura. Es solo texto. Copia la de rock, cámbiala y prueba. Una pista: a 120 BPM cada pulso dura medio segundo, así que el pulso 8 es el segundo 4. Y el decimal va con punto, 9.5, aunque el computador esté en español.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canción que juegues queda como una fila en este archivo, con el género, la precisión y el error en milisegundos. Esta fila es real: la dejó el juego armado con tus piezas. Abajo, los cuatro errores que más te pueden salir, con su arreglo.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Lo mínimo para el 30 es que el juego se pueda jugar de punta a punta con las tres canciones. El video y el CSV son la evidencia. Del 31 al 13 de noviembre: tu propia partitura, que lo pruebe alguien de fuera, y exportarlo para la página del semillero.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extBox 2"/>
          <p:cNvSpPr txBox="1"/>
          <p:nvPr/>
        </p:nvSpPr>
        <p:spPr>
          <a:xfrm>
            <a:off x="548640" y="1371600"/>
            <a:ext cx="5669280" cy="365760"/>
          </a:xfrm>
          <a:prstGeom prst="rect">
            <a:avLst/>
          </a:prstGeom>
          <a:noFill/>
        </p:spPr>
        <p:txBody>
          <a:bodyPr wrap="square" lIns="0" rIns="0" tIns="0" bIns="0" anchor="t">
            <a:spAutoFit/>
          </a:bodyPr>
          <a:lstStyle/>
          <a:p>
            <a:pPr algn="l">
              <a:spcAft>
                <a:spcPts val="600"/>
              </a:spcAft>
            </a:pPr>
            <a:r>
              <a:rPr sz="1400" b="1" i="0">
                <a:solidFill>
                  <a:srgbClr val="C59BFF"/>
                </a:solidFill>
                <a:latin typeface="Calibri"/>
              </a:rPr>
              <a:t>GUÍA 1  ·  UNIR LAS PIEZAS</a:t>
            </a:r>
          </a:p>
        </p:txBody>
      </p:sp>
      <p:sp>
        <p:nvSpPr>
          <p:cNvPr id="4" name="Título"/>
          <p:cNvSpPr txBox="1"/>
          <p:nvPr/>
        </p:nvSpPr>
        <p:spPr>
          <a:xfrm>
            <a:off x="548640" y="1828800"/>
            <a:ext cx="5669280" cy="2194560"/>
          </a:xfrm>
          <a:prstGeom prst="rect">
            <a:avLst/>
          </a:prstGeom>
          <a:noFill/>
        </p:spPr>
        <p:txBody>
          <a:bodyPr wrap="square" lIns="0" rIns="0" tIns="0" bIns="0" anchor="t">
            <a:spAutoFit/>
          </a:bodyPr>
          <a:lstStyle/>
          <a:p>
            <a:pPr algn="l">
              <a:spcAft>
                <a:spcPts val="600"/>
              </a:spcAft>
            </a:pPr>
            <a:r>
              <a:rPr sz="4000" b="1" i="0">
                <a:solidFill>
                  <a:srgbClr val="E9EEFB"/>
                </a:solidFill>
                <a:latin typeface="Cambria"/>
              </a:rPr>
              <a:t>Un juego rítmico de coordinación, armado en Unity</a:t>
            </a:r>
          </a:p>
        </p:txBody>
      </p:sp>
      <p:sp>
        <p:nvSpPr>
          <p:cNvPr id="5" name="TextBox 4"/>
          <p:cNvSpPr txBox="1"/>
          <p:nvPr/>
        </p:nvSpPr>
        <p:spPr>
          <a:xfrm>
            <a:off x="548640" y="4206240"/>
            <a:ext cx="5486400" cy="1280160"/>
          </a:xfrm>
          <a:prstGeom prst="rect">
            <a:avLst/>
          </a:prstGeom>
          <a:noFill/>
        </p:spPr>
        <p:txBody>
          <a:bodyPr wrap="square" lIns="0" rIns="0" tIns="0" bIns="0" anchor="t">
            <a:spAutoFit/>
          </a:bodyPr>
          <a:lstStyle/>
          <a:p>
            <a:pPr algn="l">
              <a:spcAft>
                <a:spcPts val="600"/>
              </a:spcAft>
            </a:pPr>
            <a:r>
              <a:rPr sz="1500" b="0" i="0">
                <a:solidFill>
                  <a:srgbClr val="94A4C6"/>
                </a:solidFill>
                <a:latin typeface="Calibri"/>
              </a:rPr>
              <a:t>Equipo 10.2  ·  Unity 2019.4.38f1</a:t>
            </a:r>
          </a:p>
          <a:p>
            <a:pPr algn="l">
              <a:spcAft>
                <a:spcPts val="600"/>
              </a:spcAft>
            </a:pPr>
            <a:r>
              <a:rPr sz="1500" b="0" i="0">
                <a:solidFill>
                  <a:srgbClr val="94A4C6"/>
                </a:solidFill>
                <a:latin typeface="Calibri"/>
              </a:rPr>
              <a:t>Del 28 al 30 de octubre, y en clase hasta el 13 de noviembre.</a:t>
            </a:r>
          </a:p>
          <a:p>
            <a:pPr algn="l">
              <a:spcAft>
                <a:spcPts val="600"/>
              </a:spcAft>
            </a:pPr>
            <a:r>
              <a:rPr sz="1500" b="0" i="0">
                <a:solidFill>
                  <a:srgbClr val="94A4C6"/>
                </a:solidFill>
                <a:latin typeface="Calibri"/>
              </a:rPr>
              <a:t>Requisito: el kit importado (Guía 0, diapositivas 7 a 9) y el letrero Kit listo en verde.</a:t>
            </a:r>
          </a:p>
        </p:txBody>
      </p:sp>
      <p:sp>
        <p:nvSpPr>
          <p:cNvPr id="6" name="Rounded Rectangle 5"/>
          <p:cNvSpPr/>
          <p:nvPr/>
        </p:nvSpPr>
        <p:spPr>
          <a:xfrm>
            <a:off x="6501384" y="1380744"/>
            <a:ext cx="5193792" cy="295351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r02_sostenidas.png"/>
          <p:cNvPicPr>
            <a:picLocks noChangeAspect="1"/>
          </p:cNvPicPr>
          <p:nvPr/>
        </p:nvPicPr>
        <p:blipFill>
          <a:blip r:embed="rId2"/>
          <a:stretch>
            <a:fillRect/>
          </a:stretch>
        </p:blipFill>
        <p:spPr>
          <a:xfrm>
            <a:off x="6537960" y="1417320"/>
            <a:ext cx="5120640" cy="2880360"/>
          </a:xfrm>
          <a:prstGeom prst="rect">
            <a:avLst/>
          </a:prstGeom>
        </p:spPr>
      </p:pic>
      <p:sp>
        <p:nvSpPr>
          <p:cNvPr id="8" name="TextBox 7"/>
          <p:cNvSpPr txBox="1"/>
          <p:nvPr/>
        </p:nvSpPr>
        <p:spPr>
          <a:xfrm>
            <a:off x="6537960" y="4407408"/>
            <a:ext cx="5120640" cy="320040"/>
          </a:xfrm>
          <a:prstGeom prst="rect">
            <a:avLst/>
          </a:prstGeom>
          <a:noFill/>
        </p:spPr>
        <p:txBody>
          <a:bodyPr wrap="square" lIns="0" rIns="0" tIns="0" bIns="0" anchor="t">
            <a:spAutoFit/>
          </a:bodyPr>
          <a:lstStyle/>
          <a:p>
            <a:pPr algn="l">
              <a:spcAft>
                <a:spcPts val="600"/>
              </a:spcAft>
            </a:pPr>
            <a:r>
              <a:rPr sz="1200" b="0" i="0">
                <a:solidFill>
                  <a:srgbClr val="94A4C6"/>
                </a:solidFill>
                <a:latin typeface="Calibri"/>
              </a:rPr>
              <a:t>El juego armado con las piezas del kit: notas sostenidas en D y K.</a:t>
            </a:r>
          </a:p>
        </p:txBody>
      </p:sp>
      <p:sp>
        <p:nvSpPr>
          <p:cNvPr id="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1 · Ritmo  ·  1 de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Todo juego rítmico tiene tres piezas</a:t>
            </a:r>
          </a:p>
        </p:txBody>
      </p:sp>
      <p:sp>
        <p:nvSpPr>
          <p:cNvPr id="4" name="Rounded Rectangle 3"/>
          <p:cNvSpPr/>
          <p:nvPr/>
        </p:nvSpPr>
        <p:spPr>
          <a:xfrm>
            <a:off x="548640" y="1691640"/>
            <a:ext cx="3520440" cy="27432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74519"/>
            <a:ext cx="3108960" cy="2468880"/>
          </a:xfrm>
          <a:prstGeom prst="rect">
            <a:avLst/>
          </a:prstGeom>
          <a:noFill/>
        </p:spPr>
        <p:txBody>
          <a:bodyPr wrap="square" lIns="0" rIns="0" tIns="0" bIns="0" anchor="t">
            <a:spAutoFit/>
          </a:bodyPr>
          <a:lstStyle/>
          <a:p>
            <a:pPr algn="l">
              <a:spcAft>
                <a:spcPts val="1000"/>
              </a:spcAft>
            </a:pPr>
            <a:r>
              <a:rPr sz="2000" b="1" i="0">
                <a:solidFill>
                  <a:srgbClr val="0A0E1A"/>
                </a:solidFill>
                <a:latin typeface="Calibri"/>
              </a:rPr>
              <a:t>1  El reloj</a:t>
            </a:r>
          </a:p>
          <a:p>
            <a:pPr algn="l">
              <a:spcAft>
                <a:spcPts val="1000"/>
              </a:spcAft>
            </a:pPr>
            <a:r>
              <a:rPr sz="1500" b="0" i="0">
                <a:solidFill>
                  <a:srgbClr val="0A0E1A"/>
                </a:solidFill>
                <a:latin typeface="Calibri"/>
              </a:rPr>
              <a:t>Dice en qué pulso de la canción vamos. Todo se mueve según él.</a:t>
            </a:r>
          </a:p>
          <a:p>
            <a:pPr algn="l">
              <a:spcAft>
                <a:spcPts val="1000"/>
              </a:spcAft>
            </a:pPr>
            <a:r>
              <a:rPr sz="1400" b="0" i="0">
                <a:solidFill>
                  <a:srgbClr val="7317C9"/>
                </a:solidFill>
                <a:latin typeface="Consolas"/>
              </a:rPr>
              <a:t>Conductor.cs</a:t>
            </a:r>
          </a:p>
        </p:txBody>
      </p:sp>
      <p:sp>
        <p:nvSpPr>
          <p:cNvPr id="6" name="Right Arrow 5"/>
          <p:cNvSpPr/>
          <p:nvPr/>
        </p:nvSpPr>
        <p:spPr>
          <a:xfrm>
            <a:off x="4096511" y="2926080"/>
            <a:ext cx="182880" cy="274320"/>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4297679" y="1691640"/>
            <a:ext cx="3520440" cy="27432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26279" y="1874519"/>
            <a:ext cx="3108960" cy="2468880"/>
          </a:xfrm>
          <a:prstGeom prst="rect">
            <a:avLst/>
          </a:prstGeom>
          <a:noFill/>
        </p:spPr>
        <p:txBody>
          <a:bodyPr wrap="square" lIns="0" rIns="0" tIns="0" bIns="0" anchor="t">
            <a:spAutoFit/>
          </a:bodyPr>
          <a:lstStyle/>
          <a:p>
            <a:pPr algn="l">
              <a:spcAft>
                <a:spcPts val="1000"/>
              </a:spcAft>
            </a:pPr>
            <a:r>
              <a:rPr sz="2000" b="1" i="0">
                <a:solidFill>
                  <a:srgbClr val="0A0E1A"/>
                </a:solidFill>
                <a:latin typeface="Calibri"/>
              </a:rPr>
              <a:t>2  La partitura</a:t>
            </a:r>
          </a:p>
          <a:p>
            <a:pPr algn="l">
              <a:spcAft>
                <a:spcPts val="1000"/>
              </a:spcAft>
            </a:pPr>
            <a:r>
              <a:rPr sz="1500" b="0" i="0">
                <a:solidFill>
                  <a:srgbClr val="0A0E1A"/>
                </a:solidFill>
                <a:latin typeface="Calibri"/>
              </a:rPr>
              <a:t>Dice qué nota cae en qué pulso y en qué carril, y las baja por la pantalla.</a:t>
            </a:r>
          </a:p>
          <a:p>
            <a:pPr algn="l">
              <a:spcAft>
                <a:spcPts val="1000"/>
              </a:spcAft>
            </a:pPr>
            <a:r>
              <a:rPr sz="1400" b="0" i="0">
                <a:solidFill>
                  <a:srgbClr val="7317C9"/>
                </a:solidFill>
                <a:latin typeface="Consolas"/>
              </a:rPr>
              <a:t>GeneradorDeNotas.cs</a:t>
            </a:r>
          </a:p>
        </p:txBody>
      </p:sp>
      <p:sp>
        <p:nvSpPr>
          <p:cNvPr id="9" name="Right Arrow 8"/>
          <p:cNvSpPr/>
          <p:nvPr/>
        </p:nvSpPr>
        <p:spPr>
          <a:xfrm>
            <a:off x="7845551" y="2926080"/>
            <a:ext cx="182880" cy="274320"/>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046719" y="1691640"/>
            <a:ext cx="3520440" cy="27432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75319" y="1874519"/>
            <a:ext cx="3108960" cy="2468880"/>
          </a:xfrm>
          <a:prstGeom prst="rect">
            <a:avLst/>
          </a:prstGeom>
          <a:noFill/>
        </p:spPr>
        <p:txBody>
          <a:bodyPr wrap="square" lIns="0" rIns="0" tIns="0" bIns="0" anchor="t">
            <a:spAutoFit/>
          </a:bodyPr>
          <a:lstStyle/>
          <a:p>
            <a:pPr algn="l">
              <a:spcAft>
                <a:spcPts val="1000"/>
              </a:spcAft>
            </a:pPr>
            <a:r>
              <a:rPr sz="2000" b="1" i="0">
                <a:solidFill>
                  <a:srgbClr val="0A0E1A"/>
                </a:solidFill>
                <a:latin typeface="Calibri"/>
              </a:rPr>
              <a:t>3  El juez</a:t>
            </a:r>
          </a:p>
          <a:p>
            <a:pPr algn="l">
              <a:spcAft>
                <a:spcPts val="1000"/>
              </a:spcAft>
            </a:pPr>
            <a:r>
              <a:rPr sz="1500" b="0" i="0">
                <a:solidFill>
                  <a:srgbClr val="0A0E1A"/>
                </a:solidFill>
                <a:latin typeface="Calibri"/>
              </a:rPr>
              <a:t>Escucha teclas y clics, mide cuántos milisegundos se alejó cada golpe y califica.</a:t>
            </a:r>
          </a:p>
          <a:p>
            <a:pPr algn="l">
              <a:spcAft>
                <a:spcPts val="1000"/>
              </a:spcAft>
            </a:pPr>
            <a:r>
              <a:rPr sz="1400" b="0" i="0">
                <a:solidFill>
                  <a:srgbClr val="7317C9"/>
                </a:solidFill>
                <a:latin typeface="Consolas"/>
              </a:rPr>
              <a:t>JuezDeRitmo.cs</a:t>
            </a:r>
          </a:p>
        </p:txBody>
      </p:sp>
      <p:sp>
        <p:nvSpPr>
          <p:cNvPr id="12" name="Rounded Rectangle 11"/>
          <p:cNvSpPr/>
          <p:nvPr/>
        </p:nvSpPr>
        <p:spPr>
          <a:xfrm>
            <a:off x="548640" y="4663440"/>
            <a:ext cx="11109960" cy="155448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828031"/>
            <a:ext cx="10652760" cy="1280160"/>
          </a:xfrm>
          <a:prstGeom prst="rect">
            <a:avLst/>
          </a:prstGeom>
          <a:noFill/>
        </p:spPr>
        <p:txBody>
          <a:bodyPr wrap="square" lIns="0" rIns="0" tIns="0" bIns="0" anchor="t">
            <a:spAutoFit/>
          </a:bodyPr>
          <a:lstStyle/>
          <a:p>
            <a:pPr algn="l">
              <a:spcAft>
                <a:spcPts val="400"/>
              </a:spcAft>
            </a:pPr>
            <a:r>
              <a:rPr sz="1400" b="1" i="0">
                <a:solidFill>
                  <a:srgbClr val="875A00"/>
                </a:solidFill>
                <a:latin typeface="Calibri"/>
              </a:rPr>
              <a:t>!  Por qué el reloj no es Time.time</a:t>
            </a:r>
          </a:p>
          <a:p>
            <a:pPr algn="l">
              <a:spcAft>
                <a:spcPts val="400"/>
              </a:spcAft>
            </a:pPr>
            <a:r>
              <a:rPr sz="1400" b="0" i="0">
                <a:solidFill>
                  <a:srgbClr val="0A0E1A"/>
                </a:solidFill>
                <a:latin typeface="Calibri"/>
              </a:rPr>
              <a:t>Time.time avanza con los cuadros del juego; la música avanza con la tarjeta de sonido. Si el computador se pone lento un instante, los cuadros se atrasan pero la música no, y las notas quedan corridas.</a:t>
            </a:r>
          </a:p>
          <a:p>
            <a:pPr algn="l">
              <a:spcAft>
                <a:spcPts val="400"/>
              </a:spcAft>
            </a:pPr>
            <a:r>
              <a:rPr sz="1400" b="0" i="0">
                <a:solidFill>
                  <a:srgbClr val="0A0E1A"/>
                </a:solidFill>
                <a:latin typeface="Calibri"/>
              </a:rPr>
              <a:t>El Conductor usa </a:t>
            </a:r>
            <a:r>
              <a:rPr sz="1400" b="0" i="0">
                <a:solidFill>
                  <a:srgbClr val="0A0E1A"/>
                </a:solidFill>
                <a:latin typeface="Consolas"/>
              </a:rPr>
              <a:t>AudioSettings.dspTime</a:t>
            </a:r>
            <a:r>
              <a:rPr sz="1400" b="0" i="0">
                <a:solidFill>
                  <a:srgbClr val="0A0E1A"/>
                </a:solidFill>
                <a:latin typeface="Calibri"/>
              </a:rPr>
              <a:t>, el reloj de la tarjeta de sonido: notas y música nunca se separan.</a:t>
            </a:r>
          </a:p>
        </p:txBody>
      </p:sp>
      <p:sp>
        <p:nvSpPr>
          <p:cNvPr id="14"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2 de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 que viene hecho y lo que armas tú</a:t>
            </a:r>
          </a:p>
        </p:txBody>
      </p:sp>
      <p:sp>
        <p:nvSpPr>
          <p:cNvPr id="4" name="Rounded Rectangle 3"/>
          <p:cNvSpPr/>
          <p:nvPr/>
        </p:nvSpPr>
        <p:spPr>
          <a:xfrm>
            <a:off x="548640" y="1600200"/>
            <a:ext cx="5486400" cy="43434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502920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Viene hecho en el kit</a:t>
            </a:r>
          </a:p>
        </p:txBody>
      </p:sp>
      <p:sp>
        <p:nvSpPr>
          <p:cNvPr id="6" name="TextBox 5"/>
          <p:cNvSpPr txBox="1"/>
          <p:nvPr/>
        </p:nvSpPr>
        <p:spPr>
          <a:xfrm>
            <a:off x="822960" y="2286000"/>
            <a:ext cx="5029200" cy="3566160"/>
          </a:xfrm>
          <a:prstGeom prst="rect">
            <a:avLst/>
          </a:prstGeom>
          <a:noFill/>
        </p:spPr>
        <p:txBody>
          <a:bodyPr wrap="square" lIns="0" rIns="0" tIns="0" bIns="0" anchor="t">
            <a:spAutoFit/>
          </a:bodyPr>
          <a:lstStyle/>
          <a:p>
            <a:pPr algn="l">
              <a:spcAft>
                <a:spcPts val="1000"/>
              </a:spcAft>
            </a:pPr>
            <a:r>
              <a:rPr sz="1500" b="1" i="0">
                <a:solidFill>
                  <a:srgbClr val="7317C9"/>
                </a:solidFill>
                <a:latin typeface="Calibri"/>
              </a:rPr>
              <a:t>Prefabs  </a:t>
            </a:r>
            <a:r>
              <a:rPr sz="1500" b="0" i="0">
                <a:solidFill>
                  <a:srgbClr val="0A0E1A"/>
                </a:solidFill>
                <a:latin typeface="Calibri"/>
              </a:rPr>
              <a:t>Nota (cabeza y cola), PantallaFinal</a:t>
            </a:r>
          </a:p>
          <a:p>
            <a:pPr algn="l">
              <a:spcAft>
                <a:spcPts val="1000"/>
              </a:spcAft>
            </a:pPr>
            <a:r>
              <a:rPr sz="1500" b="1" i="0">
                <a:solidFill>
                  <a:srgbClr val="7317C9"/>
                </a:solidFill>
                <a:latin typeface="Calibri"/>
              </a:rPr>
              <a:t>Scripts  </a:t>
            </a:r>
            <a:r>
              <a:rPr sz="1500" b="0" i="0">
                <a:solidFill>
                  <a:srgbClr val="0A0E1A"/>
                </a:solidFill>
                <a:latin typeface="Calibri"/>
              </a:rPr>
              <a:t>Conductor, GeneradorDeNotas, NotaRitmica, JuezDeRitmo, MusicaPorGenero y los comunes</a:t>
            </a:r>
          </a:p>
          <a:p>
            <a:pPr algn="l">
              <a:spcAft>
                <a:spcPts val="1000"/>
              </a:spcAft>
            </a:pPr>
            <a:r>
              <a:rPr sz="1500" b="1" i="0">
                <a:solidFill>
                  <a:srgbClr val="7317C9"/>
                </a:solidFill>
                <a:latin typeface="Calibri"/>
              </a:rPr>
              <a:t>Música  </a:t>
            </a:r>
            <a:r>
              <a:rPr sz="1500" b="0" i="0">
                <a:solidFill>
                  <a:srgbClr val="0A0E1A"/>
                </a:solidFill>
                <a:latin typeface="Calibri"/>
              </a:rPr>
              <a:t>rock 120, electrónica 128 y metal 160 BPM, original y libre de derechos</a:t>
            </a:r>
          </a:p>
          <a:p>
            <a:pPr algn="l">
              <a:spcAft>
                <a:spcPts val="1000"/>
              </a:spcAft>
            </a:pPr>
            <a:r>
              <a:rPr sz="1500" b="1" i="0">
                <a:solidFill>
                  <a:srgbClr val="7317C9"/>
                </a:solidFill>
                <a:latin typeface="Calibri"/>
              </a:rPr>
              <a:t>Partituras  </a:t>
            </a:r>
            <a:r>
              <a:rPr sz="1500" b="0" i="0">
                <a:solidFill>
                  <a:srgbClr val="0A0E1A"/>
                </a:solidFill>
                <a:latin typeface="Calibri"/>
              </a:rPr>
              <a:t>una por canción, en texto, con cuatro secciones que suben de dificultad</a:t>
            </a:r>
          </a:p>
          <a:p>
            <a:pPr algn="l">
              <a:spcAft>
                <a:spcPts val="1000"/>
              </a:spcAft>
            </a:pPr>
            <a:r>
              <a:rPr sz="1500" b="1" i="0">
                <a:solidFill>
                  <a:srgbClr val="7317C9"/>
                </a:solidFill>
                <a:latin typeface="Calibri"/>
              </a:rPr>
              <a:t>Dibujos  </a:t>
            </a:r>
            <a:r>
              <a:rPr sz="1500" b="0" i="0">
                <a:solidFill>
                  <a:srgbClr val="0A0E1A"/>
                </a:solidFill>
                <a:latin typeface="Calibri"/>
              </a:rPr>
              <a:t>teclas D F J K, los dos clics del mouse y los fondos</a:t>
            </a:r>
          </a:p>
        </p:txBody>
      </p:sp>
      <p:sp>
        <p:nvSpPr>
          <p:cNvPr id="7" name="Rounded Rectangle 6"/>
          <p:cNvSpPr/>
          <p:nvPr/>
        </p:nvSpPr>
        <p:spPr>
          <a:xfrm>
            <a:off x="6355080" y="1600200"/>
            <a:ext cx="5303520" cy="434340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29400" y="1783080"/>
            <a:ext cx="484632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Lo armas tú</a:t>
            </a:r>
          </a:p>
        </p:txBody>
      </p:sp>
      <p:sp>
        <p:nvSpPr>
          <p:cNvPr id="9" name="Oval 8"/>
          <p:cNvSpPr/>
          <p:nvPr/>
        </p:nvSpPr>
        <p:spPr>
          <a:xfrm>
            <a:off x="6629400" y="23317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7132320" y="2350008"/>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La escena 01_Menu con los tres géneros.</a:t>
            </a:r>
          </a:p>
        </p:txBody>
      </p:sp>
      <p:sp>
        <p:nvSpPr>
          <p:cNvPr id="11" name="Oval 10"/>
          <p:cNvSpPr/>
          <p:nvPr/>
        </p:nvSpPr>
        <p:spPr>
          <a:xfrm>
            <a:off x="6629400" y="29352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7132320" y="2953512"/>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La escena 02_Ritmo: reloj, carriles y línea.</a:t>
            </a:r>
          </a:p>
        </p:txBody>
      </p:sp>
      <p:sp>
        <p:nvSpPr>
          <p:cNvPr id="13" name="Oval 12"/>
          <p:cNvSpPr/>
          <p:nvPr/>
        </p:nvSpPr>
        <p:spPr>
          <a:xfrm>
            <a:off x="6629400" y="3538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7132320" y="3557016"/>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Conectar generador y juez a esos objetos.</a:t>
            </a:r>
          </a:p>
        </p:txBody>
      </p:sp>
      <p:sp>
        <p:nvSpPr>
          <p:cNvPr id="15" name="Oval 14"/>
          <p:cNvSpPr/>
          <p:nvPr/>
        </p:nvSpPr>
        <p:spPr>
          <a:xfrm>
            <a:off x="6629400" y="4142231"/>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7132320" y="4160519"/>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La lista de escenas en Build Settings.</a:t>
            </a:r>
          </a:p>
        </p:txBody>
      </p:sp>
      <p:sp>
        <p:nvSpPr>
          <p:cNvPr id="17" name="Oval 16"/>
          <p:cNvSpPr/>
          <p:nvPr/>
        </p:nvSpPr>
        <p:spPr>
          <a:xfrm>
            <a:off x="6629400" y="47457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8" name="TextBox 17"/>
          <p:cNvSpPr txBox="1"/>
          <p:nvPr/>
        </p:nvSpPr>
        <p:spPr>
          <a:xfrm>
            <a:off x="7132320" y="4764023"/>
            <a:ext cx="434340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Tu propia partitura, como reto.</a:t>
            </a:r>
          </a:p>
        </p:txBody>
      </p:sp>
      <p:sp>
        <p:nvSpPr>
          <p:cNvPr id="1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3 de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La partitura es un archivo de texto</a:t>
            </a:r>
          </a:p>
        </p:txBody>
      </p:sp>
      <p:sp>
        <p:nvSpPr>
          <p:cNvPr id="4" name="Rounded Rectangle 3"/>
          <p:cNvSpPr/>
          <p:nvPr/>
        </p:nvSpPr>
        <p:spPr>
          <a:xfrm>
            <a:off x="548640" y="1645920"/>
            <a:ext cx="5029200" cy="301752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28800"/>
            <a:ext cx="4572000" cy="2743200"/>
          </a:xfrm>
          <a:prstGeom prst="rect">
            <a:avLst/>
          </a:prstGeom>
          <a:noFill/>
        </p:spPr>
        <p:txBody>
          <a:bodyPr wrap="square" lIns="0" rIns="0" tIns="0" bIns="0" anchor="t">
            <a:spAutoFit/>
          </a:bodyPr>
          <a:lstStyle/>
          <a:p>
            <a:pPr algn="l">
              <a:spcAft>
                <a:spcPts val="200"/>
              </a:spcAft>
            </a:pPr>
            <a:r>
              <a:rPr sz="1500" b="0" i="0">
                <a:solidFill>
                  <a:srgbClr val="E9EEFB"/>
                </a:solidFill>
                <a:latin typeface="Consolas"/>
              </a:rPr>
              <a:t># pulso  carril  duración</a:t>
            </a:r>
          </a:p>
          <a:p>
            <a:pPr algn="l">
              <a:spcAft>
                <a:spcPts val="200"/>
              </a:spcAft>
            </a:pPr>
            <a:r>
              <a:rPr sz="1500" b="0" i="0">
                <a:solidFill>
                  <a:srgbClr val="E9EEFB"/>
                </a:solidFill>
                <a:latin typeface="Consolas"/>
              </a:rPr>
              <a:t>8        0       0</a:t>
            </a:r>
          </a:p>
          <a:p>
            <a:pPr algn="l">
              <a:spcAft>
                <a:spcPts val="200"/>
              </a:spcAft>
            </a:pPr>
            <a:r>
              <a:rPr sz="1500" b="0" i="0">
                <a:solidFill>
                  <a:srgbClr val="E9EEFB"/>
                </a:solidFill>
                <a:latin typeface="Consolas"/>
              </a:rPr>
              <a:t>10       1       0</a:t>
            </a:r>
          </a:p>
          <a:p>
            <a:pPr algn="l">
              <a:spcAft>
                <a:spcPts val="200"/>
              </a:spcAft>
            </a:pPr>
            <a:r>
              <a:rPr sz="1500" b="0" i="0">
                <a:solidFill>
                  <a:srgbClr val="E9EEFB"/>
                </a:solidFill>
                <a:latin typeface="Consolas"/>
              </a:rPr>
              <a:t>36       0       0</a:t>
            </a:r>
          </a:p>
          <a:p>
            <a:pPr algn="l">
              <a:spcAft>
                <a:spcPts val="200"/>
              </a:spcAft>
            </a:pPr>
            <a:r>
              <a:rPr sz="1500" b="0" i="0">
                <a:solidFill>
                  <a:srgbClr val="E9EEFB"/>
                </a:solidFill>
                <a:latin typeface="Consolas"/>
              </a:rPr>
              <a:t>37       4       0</a:t>
            </a:r>
          </a:p>
          <a:p>
            <a:pPr algn="l">
              <a:spcAft>
                <a:spcPts val="200"/>
              </a:spcAft>
            </a:pPr>
            <a:r>
              <a:rPr sz="1500" b="0" i="0">
                <a:solidFill>
                  <a:srgbClr val="E9EEFB"/>
                </a:solidFill>
                <a:latin typeface="Consolas"/>
              </a:rPr>
              <a:t>64       0       2</a:t>
            </a:r>
          </a:p>
          <a:p>
            <a:pPr algn="l">
              <a:spcAft>
                <a:spcPts val="200"/>
              </a:spcAft>
            </a:pPr>
            <a:r>
              <a:rPr sz="1500" b="0" i="0">
                <a:solidFill>
                  <a:srgbClr val="E9EEFB"/>
                </a:solidFill>
                <a:latin typeface="Consolas"/>
              </a:rPr>
              <a:t>65       5       0</a:t>
            </a:r>
          </a:p>
          <a:p>
            <a:pPr algn="l">
              <a:spcAft>
                <a:spcPts val="200"/>
              </a:spcAft>
            </a:pPr>
            <a:r>
              <a:rPr sz="1500" b="0" i="0">
                <a:solidFill>
                  <a:srgbClr val="E9EEFB"/>
                </a:solidFill>
                <a:latin typeface="Consolas"/>
              </a:rPr>
              <a:t>92       1       0</a:t>
            </a:r>
          </a:p>
          <a:p>
            <a:pPr algn="l">
              <a:spcAft>
                <a:spcPts val="200"/>
              </a:spcAft>
            </a:pPr>
            <a:r>
              <a:rPr sz="1500" b="0" i="0">
                <a:solidFill>
                  <a:srgbClr val="E9EEFB"/>
                </a:solidFill>
                <a:latin typeface="Consolas"/>
              </a:rPr>
              <a:t>92       4       0</a:t>
            </a:r>
          </a:p>
        </p:txBody>
      </p:sp>
      <p:sp>
        <p:nvSpPr>
          <p:cNvPr id="6" name="TextBox 5"/>
          <p:cNvSpPr txBox="1"/>
          <p:nvPr/>
        </p:nvSpPr>
        <p:spPr>
          <a:xfrm>
            <a:off x="548640" y="4846320"/>
            <a:ext cx="5029200" cy="1371600"/>
          </a:xfrm>
          <a:prstGeom prst="rect">
            <a:avLst/>
          </a:prstGeom>
          <a:noFill/>
        </p:spPr>
        <p:txBody>
          <a:bodyPr wrap="square" lIns="0" rIns="0" tIns="0" bIns="0" anchor="t">
            <a:spAutoFit/>
          </a:bodyPr>
          <a:lstStyle/>
          <a:p>
            <a:pPr algn="l">
              <a:spcAft>
                <a:spcPts val="600"/>
              </a:spcAft>
            </a:pPr>
            <a:r>
              <a:rPr sz="1300" b="0" i="0">
                <a:solidFill>
                  <a:srgbClr val="4F5C75"/>
                </a:solidFill>
                <a:latin typeface="Consolas"/>
              </a:rPr>
              <a:t>Ritmo/Partituras/Rock.txt</a:t>
            </a:r>
          </a:p>
          <a:p>
            <a:pPr algn="l">
              <a:spcAft>
                <a:spcPts val="600"/>
              </a:spcAft>
            </a:pPr>
            <a:r>
              <a:rPr sz="1400" b="0" i="0">
                <a:solidFill>
                  <a:srgbClr val="0A0E1A"/>
                </a:solidFill>
                <a:latin typeface="Calibri"/>
              </a:rPr>
              <a:t>Duración 0 es una nota de toque. Dos renglones con el mismo pulso son un acorde.</a:t>
            </a:r>
          </a:p>
        </p:txBody>
      </p:sp>
      <p:sp>
        <p:nvSpPr>
          <p:cNvPr id="7" name="Rounded Rectangle 6"/>
          <p:cNvSpPr/>
          <p:nvPr/>
        </p:nvSpPr>
        <p:spPr>
          <a:xfrm>
            <a:off x="5943600" y="1645920"/>
            <a:ext cx="5715000" cy="1874519"/>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172200" y="1783080"/>
            <a:ext cx="5303520" cy="1645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Los seis carriles</a:t>
            </a:r>
          </a:p>
          <a:p>
            <a:pPr algn="l">
              <a:spcAft>
                <a:spcPts val="600"/>
              </a:spcAft>
            </a:pPr>
            <a:r>
              <a:rPr sz="1500" b="1" i="0">
                <a:solidFill>
                  <a:srgbClr val="0A0E1A"/>
                </a:solidFill>
                <a:latin typeface="Consolas"/>
              </a:rPr>
              <a:t>0 </a:t>
            </a:r>
            <a:r>
              <a:rPr sz="1500" b="0" i="0">
                <a:solidFill>
                  <a:srgbClr val="0A0E1A"/>
                </a:solidFill>
                <a:latin typeface="Calibri"/>
              </a:rPr>
              <a:t>D    </a:t>
            </a:r>
            <a:r>
              <a:rPr sz="1500" b="1" i="0">
                <a:solidFill>
                  <a:srgbClr val="0A0E1A"/>
                </a:solidFill>
                <a:latin typeface="Consolas"/>
              </a:rPr>
              <a:t>1 </a:t>
            </a:r>
            <a:r>
              <a:rPr sz="1500" b="0" i="0">
                <a:solidFill>
                  <a:srgbClr val="0A0E1A"/>
                </a:solidFill>
                <a:latin typeface="Calibri"/>
              </a:rPr>
              <a:t>F    </a:t>
            </a:r>
            <a:r>
              <a:rPr sz="1500" b="1" i="0">
                <a:solidFill>
                  <a:srgbClr val="0A0E1A"/>
                </a:solidFill>
                <a:latin typeface="Consolas"/>
              </a:rPr>
              <a:t>2 </a:t>
            </a:r>
            <a:r>
              <a:rPr sz="1500" b="0" i="0">
                <a:solidFill>
                  <a:srgbClr val="0A0E1A"/>
                </a:solidFill>
                <a:latin typeface="Calibri"/>
              </a:rPr>
              <a:t>J    </a:t>
            </a:r>
            <a:r>
              <a:rPr sz="1500" b="1" i="0">
                <a:solidFill>
                  <a:srgbClr val="0A0E1A"/>
                </a:solidFill>
                <a:latin typeface="Consolas"/>
              </a:rPr>
              <a:t>3 </a:t>
            </a:r>
            <a:r>
              <a:rPr sz="1500" b="0" i="0">
                <a:solidFill>
                  <a:srgbClr val="0A0E1A"/>
                </a:solidFill>
                <a:latin typeface="Calibri"/>
              </a:rPr>
              <a:t>K</a:t>
            </a:r>
          </a:p>
          <a:p>
            <a:pPr algn="l">
              <a:spcAft>
                <a:spcPts val="600"/>
              </a:spcAft>
            </a:pPr>
            <a:r>
              <a:rPr sz="1500" b="1" i="0">
                <a:solidFill>
                  <a:srgbClr val="0A0E1A"/>
                </a:solidFill>
                <a:latin typeface="Consolas"/>
              </a:rPr>
              <a:t>4 </a:t>
            </a:r>
            <a:r>
              <a:rPr sz="1500" b="0" i="0">
                <a:solidFill>
                  <a:srgbClr val="0A0E1A"/>
                </a:solidFill>
                <a:latin typeface="Calibri"/>
              </a:rPr>
              <a:t>clic izquierdo     </a:t>
            </a:r>
            <a:r>
              <a:rPr sz="1500" b="1" i="0">
                <a:solidFill>
                  <a:srgbClr val="0A0E1A"/>
                </a:solidFill>
                <a:latin typeface="Consolas"/>
              </a:rPr>
              <a:t>5 </a:t>
            </a:r>
            <a:r>
              <a:rPr sz="1500" b="0" i="0">
                <a:solidFill>
                  <a:srgbClr val="0A0E1A"/>
                </a:solidFill>
                <a:latin typeface="Calibri"/>
              </a:rPr>
              <a:t>clic derecho</a:t>
            </a:r>
          </a:p>
        </p:txBody>
      </p:sp>
      <p:sp>
        <p:nvSpPr>
          <p:cNvPr id="9" name="Rounded Rectangle 8"/>
          <p:cNvSpPr/>
          <p:nvPr/>
        </p:nvSpPr>
        <p:spPr>
          <a:xfrm>
            <a:off x="5943600" y="3703320"/>
            <a:ext cx="5715000" cy="251460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72200" y="3840480"/>
            <a:ext cx="5303520" cy="2286000"/>
          </a:xfrm>
          <a:prstGeom prst="rect">
            <a:avLst/>
          </a:prstGeom>
          <a:noFill/>
        </p:spPr>
        <p:txBody>
          <a:bodyPr wrap="square" lIns="0" rIns="0" tIns="0" bIns="0" anchor="t">
            <a:spAutoFit/>
          </a:bodyPr>
          <a:lstStyle/>
          <a:p>
            <a:pPr algn="l">
              <a:spcAft>
                <a:spcPts val="500"/>
              </a:spcAft>
            </a:pPr>
            <a:r>
              <a:rPr sz="1400" b="1" i="0">
                <a:solidFill>
                  <a:srgbClr val="0A0E1A"/>
                </a:solidFill>
                <a:latin typeface="Calibri"/>
              </a:rPr>
              <a:t>Cuatro secciones, cuatro formas de coordinar</a:t>
            </a:r>
          </a:p>
          <a:p>
            <a:pPr algn="l">
              <a:spcAft>
                <a:spcPts val="500"/>
              </a:spcAft>
            </a:pPr>
            <a:r>
              <a:rPr sz="1400" b="0" i="0">
                <a:solidFill>
                  <a:srgbClr val="0A0E1A"/>
                </a:solidFill>
                <a:latin typeface="Calibri"/>
              </a:rPr>
              <a:t>1. Solo teclas, una cada dos pulsos.</a:t>
            </a:r>
          </a:p>
          <a:p>
            <a:pPr algn="l">
              <a:spcAft>
                <a:spcPts val="500"/>
              </a:spcAft>
            </a:pPr>
            <a:r>
              <a:rPr sz="1400" b="0" i="0">
                <a:solidFill>
                  <a:srgbClr val="0A0E1A"/>
                </a:solidFill>
                <a:latin typeface="Calibri"/>
              </a:rPr>
              <a:t>2. Tecla y clic alternados: las manos se turnan.</a:t>
            </a:r>
          </a:p>
          <a:p>
            <a:pPr algn="l">
              <a:spcAft>
                <a:spcPts val="500"/>
              </a:spcAft>
            </a:pPr>
            <a:r>
              <a:rPr sz="1400" b="0" i="0">
                <a:solidFill>
                  <a:srgbClr val="0A0E1A"/>
                </a:solidFill>
                <a:latin typeface="Calibri"/>
              </a:rPr>
              <a:t>3. Una mano sostiene mientras la otra hace clic.</a:t>
            </a:r>
          </a:p>
          <a:p>
            <a:pPr algn="l">
              <a:spcAft>
                <a:spcPts val="500"/>
              </a:spcAft>
            </a:pPr>
            <a:r>
              <a:rPr sz="1400" b="0" i="0">
                <a:solidFill>
                  <a:srgbClr val="0A0E1A"/>
                </a:solidFill>
                <a:latin typeface="Calibri"/>
              </a:rPr>
              <a:t>4. Acordes: tecla y clic al mismo tiempo.</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4 de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01_Menu: elegir la canción</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07492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File &gt; New Scene</a:t>
            </a:r>
            <a:r>
              <a:rPr sz="1500" b="0" i="0">
                <a:solidFill>
                  <a:srgbClr val="0A0E1A"/>
                </a:solidFill>
                <a:latin typeface="Calibri"/>
              </a:rPr>
              <a:t>, guárdala como 01_Menu.</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Fondo: arrastra </a:t>
            </a:r>
            <a:r>
              <a:rPr sz="1500" b="1" i="0">
                <a:solidFill>
                  <a:srgbClr val="0A0E1A"/>
                </a:solidFill>
                <a:latin typeface="Calibri"/>
              </a:rPr>
              <a:t>Electronica</a:t>
            </a:r>
            <a:r>
              <a:rPr sz="1500" b="0" i="0">
                <a:solidFill>
                  <a:srgbClr val="0A0E1A"/>
                </a:solidFill>
                <a:latin typeface="Calibri"/>
              </a:rPr>
              <a:t> desde Comun/Arte/Fondos.</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07492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GameObject &gt; UI &gt; Button</a:t>
            </a:r>
            <a:r>
              <a:rPr sz="1500" b="0" i="0">
                <a:solidFill>
                  <a:srgbClr val="0A0E1A"/>
                </a:solidFill>
                <a:latin typeface="Calibri"/>
              </a:rPr>
              <a:t> crea Canvas, EventSystem y el botón. Hazlo tres.</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Create Empty en el Canvas: </a:t>
            </a:r>
            <a:r>
              <a:rPr sz="1500" b="1" i="0">
                <a:solidFill>
                  <a:srgbClr val="0A0E1A"/>
                </a:solidFill>
                <a:latin typeface="Calibri"/>
              </a:rPr>
              <a:t>Navegacion</a:t>
            </a:r>
            <a:r>
              <a:rPr sz="1500" b="0" i="0">
                <a:solidFill>
                  <a:srgbClr val="0A0E1A"/>
                </a:solidFill>
                <a:latin typeface="Calibri"/>
              </a:rPr>
              <a:t>, con </a:t>
            </a:r>
            <a:r>
              <a:rPr sz="1500" b="1" i="0">
                <a:solidFill>
                  <a:srgbClr val="0A0E1A"/>
                </a:solidFill>
                <a:latin typeface="Calibri"/>
              </a:rPr>
              <a:t>Cambiar Escena</a:t>
            </a:r>
            <a:r>
              <a:rPr sz="1500" b="0" i="0">
                <a:solidFill>
                  <a:srgbClr val="0A0E1A"/>
                </a:solidFill>
                <a:latin typeface="Calibri"/>
              </a:rPr>
              <a:t> y </a:t>
            </a:r>
            <a:r>
              <a:rPr sz="1500" b="1" i="0">
                <a:solidFill>
                  <a:srgbClr val="0A0E1A"/>
                </a:solidFill>
                <a:latin typeface="Calibri"/>
              </a:rPr>
              <a:t>Menu De Opciones</a:t>
            </a:r>
            <a:r>
              <a:rPr sz="1500" b="0" i="0">
                <a:solidFill>
                  <a:srgbClr val="0A0E1A"/>
                </a:solidFill>
                <a:latin typeface="Calibri"/>
              </a:rPr>
              <a:t>.</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0749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On Click () de cada botón, dos acciones:</a:t>
            </a:r>
          </a:p>
        </p:txBody>
      </p:sp>
      <p:sp>
        <p:nvSpPr>
          <p:cNvPr id="14" name="Rounded Rectangle 13"/>
          <p:cNvSpPr/>
          <p:nvPr/>
        </p:nvSpPr>
        <p:spPr>
          <a:xfrm>
            <a:off x="1051560" y="4983480"/>
            <a:ext cx="5074920" cy="118872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80160" y="5166360"/>
            <a:ext cx="4617720" cy="914400"/>
          </a:xfrm>
          <a:prstGeom prst="rect">
            <a:avLst/>
          </a:prstGeom>
          <a:noFill/>
        </p:spPr>
        <p:txBody>
          <a:bodyPr wrap="square" lIns="0" rIns="0" tIns="0" bIns="0" anchor="t">
            <a:spAutoFit/>
          </a:bodyPr>
          <a:lstStyle/>
          <a:p>
            <a:pPr algn="l">
              <a:spcAft>
                <a:spcPts val="200"/>
              </a:spcAft>
            </a:pPr>
            <a:r>
              <a:rPr sz="1400" b="0" i="0">
                <a:solidFill>
                  <a:srgbClr val="E9EEFB"/>
                </a:solidFill>
                <a:latin typeface="Consolas"/>
              </a:rPr>
              <a:t>MenuDeOpciones.ElegirGenero   "Metal"</a:t>
            </a:r>
          </a:p>
          <a:p>
            <a:pPr algn="l">
              <a:spcAft>
                <a:spcPts val="200"/>
              </a:spcAft>
            </a:pPr>
            <a:r>
              <a:rPr sz="1400" b="0" i="0">
                <a:solidFill>
                  <a:srgbClr val="E9EEFB"/>
                </a:solidFill>
                <a:latin typeface="Consolas"/>
              </a:rPr>
              <a:t>CambiarEscena.IrA             "02_Ritmo"</a:t>
            </a:r>
          </a:p>
        </p:txBody>
      </p:sp>
      <p:sp>
        <p:nvSpPr>
          <p:cNvPr id="16" name="Rounded Rectangle 15"/>
          <p:cNvSpPr/>
          <p:nvPr/>
        </p:nvSpPr>
        <p:spPr>
          <a:xfrm>
            <a:off x="6409944" y="1609344"/>
            <a:ext cx="5285232" cy="3004947"/>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01_menu.png"/>
          <p:cNvPicPr>
            <a:picLocks noChangeAspect="1"/>
          </p:cNvPicPr>
          <p:nvPr/>
        </p:nvPicPr>
        <p:blipFill>
          <a:blip r:embed="rId2"/>
          <a:stretch>
            <a:fillRect/>
          </a:stretch>
        </p:blipFill>
        <p:spPr>
          <a:xfrm>
            <a:off x="6446520" y="1645920"/>
            <a:ext cx="5212080" cy="2931795"/>
          </a:xfrm>
          <a:prstGeom prst="rect">
            <a:avLst/>
          </a:prstGeom>
        </p:spPr>
      </p:pic>
      <p:sp>
        <p:nvSpPr>
          <p:cNvPr id="18" name="TextBox 17"/>
          <p:cNvSpPr txBox="1"/>
          <p:nvPr/>
        </p:nvSpPr>
        <p:spPr>
          <a:xfrm>
            <a:off x="6446520" y="4687443"/>
            <a:ext cx="521208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El menú de referencia.</a:t>
            </a:r>
          </a:p>
        </p:txBody>
      </p:sp>
      <p:sp>
        <p:nvSpPr>
          <p:cNvPr id="19" name="Rounded Rectangle 18"/>
          <p:cNvSpPr/>
          <p:nvPr/>
        </p:nvSpPr>
        <p:spPr>
          <a:xfrm>
            <a:off x="6446520" y="5126355"/>
            <a:ext cx="5212080" cy="96012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75120" y="5290947"/>
            <a:ext cx="4754880" cy="68580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Electronica va sin tilde</a:t>
            </a:r>
          </a:p>
          <a:p>
            <a:pPr algn="l">
              <a:spcAft>
                <a:spcPts val="400"/>
              </a:spcAft>
            </a:pPr>
            <a:r>
              <a:rPr sz="1300" b="0" i="0">
                <a:solidFill>
                  <a:srgbClr val="0A0E1A"/>
                </a:solidFill>
                <a:latin typeface="Calibri"/>
              </a:rPr>
              <a:t>Es el nombre de la opción de la música. Si no coincide, suena la primera canción.</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5 de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02_Ritmo (1 de 4): el reloj y la música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Fondo: </a:t>
            </a:r>
            <a:r>
              <a:rPr sz="1500" b="1" i="0">
                <a:solidFill>
                  <a:srgbClr val="0A0E1A"/>
                </a:solidFill>
                <a:latin typeface="Calibri"/>
              </a:rPr>
              <a:t>Electronica</a:t>
            </a:r>
            <a:r>
              <a:rPr sz="1500" b="0" i="0">
                <a:solidFill>
                  <a:srgbClr val="0A0E1A"/>
                </a:solidFill>
                <a:latin typeface="Calibri"/>
              </a:rPr>
              <a:t> con Order in Layer en ‑10 y Color gris oscuro, para que resalten las notas.</a:t>
            </a:r>
          </a:p>
        </p:txBody>
      </p:sp>
      <p:sp>
        <p:nvSpPr>
          <p:cNvPr id="6" name="Oval 5"/>
          <p:cNvSpPr/>
          <p:nvPr/>
        </p:nvSpPr>
        <p:spPr>
          <a:xfrm>
            <a:off x="548640" y="23774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9572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Create Empty: </a:t>
            </a:r>
            <a:r>
              <a:rPr sz="1500" b="1" i="0">
                <a:solidFill>
                  <a:srgbClr val="0A0E1A"/>
                </a:solidFill>
                <a:latin typeface="Calibri"/>
              </a:rPr>
              <a:t>Conductor</a:t>
            </a:r>
            <a:r>
              <a:rPr sz="1500" b="0" i="0">
                <a:solidFill>
                  <a:srgbClr val="0A0E1A"/>
                </a:solidFill>
                <a:latin typeface="Calibri"/>
              </a:rPr>
              <a:t>. Add Component &gt; </a:t>
            </a:r>
            <a:r>
              <a:rPr sz="1500" b="1" i="0">
                <a:solidFill>
                  <a:srgbClr val="0A0E1A"/>
                </a:solidFill>
                <a:latin typeface="Calibri"/>
              </a:rPr>
              <a:t>Audio Source</a:t>
            </a:r>
            <a:r>
              <a:rPr sz="1500" b="0" i="0">
                <a:solidFill>
                  <a:srgbClr val="0A0E1A"/>
                </a:solidFill>
                <a:latin typeface="Calibri"/>
              </a:rPr>
              <a:t>. Desmarca Play On Awake.</a:t>
            </a:r>
          </a:p>
        </p:txBody>
      </p:sp>
      <p:sp>
        <p:nvSpPr>
          <p:cNvPr id="8" name="Oval 7"/>
          <p:cNvSpPr/>
          <p:nvPr/>
        </p:nvSpPr>
        <p:spPr>
          <a:xfrm>
            <a:off x="548640" y="310896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2724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Al mismo objeto: </a:t>
            </a:r>
            <a:r>
              <a:rPr sz="1500" b="1" i="0">
                <a:solidFill>
                  <a:srgbClr val="0A0E1A"/>
                </a:solidFill>
                <a:latin typeface="Calibri"/>
              </a:rPr>
              <a:t>Conductor</a:t>
            </a:r>
            <a:r>
              <a:rPr sz="1500" b="0" i="0">
                <a:solidFill>
                  <a:srgbClr val="0A0E1A"/>
                </a:solidFill>
                <a:latin typeface="Calibri"/>
              </a:rPr>
              <a:t> y </a:t>
            </a:r>
            <a:r>
              <a:rPr sz="1500" b="1" i="0">
                <a:solidFill>
                  <a:srgbClr val="0A0E1A"/>
                </a:solidFill>
                <a:latin typeface="Calibri"/>
              </a:rPr>
              <a:t>Musica Por Genero</a:t>
            </a:r>
            <a:r>
              <a:rPr sz="1500" b="0" i="0">
                <a:solidFill>
                  <a:srgbClr val="0A0E1A"/>
                </a:solidFill>
                <a:latin typeface="Calibri"/>
              </a:rPr>
              <a:t>.</a:t>
            </a:r>
          </a:p>
        </p:txBody>
      </p:sp>
      <p:sp>
        <p:nvSpPr>
          <p:cNvPr id="10" name="Oval 9"/>
          <p:cNvSpPr/>
          <p:nvPr/>
        </p:nvSpPr>
        <p:spPr>
          <a:xfrm>
            <a:off x="548640" y="38404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85876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Musica Por Genero, Opciones en 3: género, canción, BPM, fondo y </a:t>
            </a:r>
            <a:r>
              <a:rPr sz="1500" b="1" i="0">
                <a:solidFill>
                  <a:srgbClr val="0A0E1A"/>
                </a:solidFill>
                <a:latin typeface="Calibri"/>
              </a:rPr>
              <a:t>Partitura</a:t>
            </a:r>
            <a:r>
              <a:rPr sz="1500" b="0" i="0">
                <a:solidFill>
                  <a:srgbClr val="0A0E1A"/>
                </a:solidFill>
                <a:latin typeface="Calibri"/>
              </a:rPr>
              <a:t>.</a:t>
            </a:r>
          </a:p>
        </p:txBody>
      </p:sp>
      <p:sp>
        <p:nvSpPr>
          <p:cNvPr id="12" name="Oval 11"/>
          <p:cNvSpPr/>
          <p:nvPr/>
        </p:nvSpPr>
        <p:spPr>
          <a:xfrm>
            <a:off x="548640" y="45720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59028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Fondo a la casilla </a:t>
            </a:r>
            <a:r>
              <a:rPr sz="1500" b="1" i="0">
                <a:solidFill>
                  <a:srgbClr val="0A0E1A"/>
                </a:solidFill>
                <a:latin typeface="Calibri"/>
              </a:rPr>
              <a:t>Fondo</a:t>
            </a:r>
            <a:r>
              <a:rPr sz="1500" b="0" i="0">
                <a:solidFill>
                  <a:srgbClr val="0A0E1A"/>
                </a:solidFill>
                <a:latin typeface="Calibri"/>
              </a:rPr>
              <a:t>.</a:t>
            </a:r>
          </a:p>
        </p:txBody>
      </p:sp>
      <p:sp>
        <p:nvSpPr>
          <p:cNvPr id="14" name="Rounded Rectangle 13"/>
          <p:cNvSpPr/>
          <p:nvPr/>
        </p:nvSpPr>
        <p:spPr>
          <a:xfrm>
            <a:off x="6766560" y="1645920"/>
            <a:ext cx="4892040" cy="2514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95160" y="1783080"/>
            <a:ext cx="4480560" cy="365760"/>
          </a:xfrm>
          <a:prstGeom prst="rect">
            <a:avLst/>
          </a:prstGeom>
          <a:noFill/>
        </p:spPr>
        <p:txBody>
          <a:bodyPr wrap="square" lIns="0" rIns="0" tIns="0" bIns="0" anchor="t">
            <a:spAutoFit/>
          </a:bodyPr>
          <a:lstStyle/>
          <a:p>
            <a:pPr algn="l">
              <a:spcAft>
                <a:spcPts val="600"/>
              </a:spcAft>
            </a:pPr>
            <a:r>
              <a:rPr sz="1600" b="1" i="0">
                <a:solidFill>
                  <a:srgbClr val="0A0E1A"/>
                </a:solidFill>
                <a:latin typeface="Calibri"/>
              </a:rPr>
              <a:t>Las tres opciones</a:t>
            </a:r>
          </a:p>
        </p:txBody>
      </p:sp>
      <p:sp>
        <p:nvSpPr>
          <p:cNvPr id="16" name="TextBox 15"/>
          <p:cNvSpPr txBox="1"/>
          <p:nvPr/>
        </p:nvSpPr>
        <p:spPr>
          <a:xfrm>
            <a:off x="6995160" y="2286000"/>
            <a:ext cx="448056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Rock</a:t>
            </a:r>
            <a:r>
              <a:rPr sz="1400" b="0" i="0">
                <a:solidFill>
                  <a:srgbClr val="0A0E1A"/>
                </a:solidFill>
                <a:latin typeface="Calibri"/>
              </a:rPr>
              <a:t>   BPM 120</a:t>
            </a:r>
            <a:r>
              <a:rPr sz="1200" b="0" i="0">
                <a:solidFill>
                  <a:srgbClr val="4F5C75"/>
                </a:solidFill>
                <a:latin typeface="Consolas"/>
              </a:rPr>
              <a:t>   Rock.txt</a:t>
            </a:r>
          </a:p>
        </p:txBody>
      </p:sp>
      <p:sp>
        <p:nvSpPr>
          <p:cNvPr id="17" name="TextBox 16"/>
          <p:cNvSpPr txBox="1"/>
          <p:nvPr/>
        </p:nvSpPr>
        <p:spPr>
          <a:xfrm>
            <a:off x="6995160" y="2880360"/>
            <a:ext cx="448056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Electronica</a:t>
            </a:r>
            <a:r>
              <a:rPr sz="1400" b="0" i="0">
                <a:solidFill>
                  <a:srgbClr val="0A0E1A"/>
                </a:solidFill>
                <a:latin typeface="Calibri"/>
              </a:rPr>
              <a:t>   BPM 128</a:t>
            </a:r>
            <a:r>
              <a:rPr sz="1200" b="0" i="0">
                <a:solidFill>
                  <a:srgbClr val="4F5C75"/>
                </a:solidFill>
                <a:latin typeface="Consolas"/>
              </a:rPr>
              <a:t>   Electronica.txt</a:t>
            </a:r>
          </a:p>
        </p:txBody>
      </p:sp>
      <p:sp>
        <p:nvSpPr>
          <p:cNvPr id="18" name="TextBox 17"/>
          <p:cNvSpPr txBox="1"/>
          <p:nvPr/>
        </p:nvSpPr>
        <p:spPr>
          <a:xfrm>
            <a:off x="6995160" y="3474720"/>
            <a:ext cx="4480560" cy="548640"/>
          </a:xfrm>
          <a:prstGeom prst="rect">
            <a:avLst/>
          </a:prstGeom>
          <a:noFill/>
        </p:spPr>
        <p:txBody>
          <a:bodyPr wrap="square" lIns="0" rIns="0" tIns="0" bIns="0" anchor="t">
            <a:spAutoFit/>
          </a:bodyPr>
          <a:lstStyle/>
          <a:p>
            <a:pPr algn="l">
              <a:spcAft>
                <a:spcPts val="600"/>
              </a:spcAft>
            </a:pPr>
            <a:r>
              <a:rPr sz="1400" b="1" i="0">
                <a:solidFill>
                  <a:srgbClr val="0A0E1A"/>
                </a:solidFill>
                <a:latin typeface="Consolas"/>
              </a:rPr>
              <a:t>Metal</a:t>
            </a:r>
            <a:r>
              <a:rPr sz="1400" b="0" i="0">
                <a:solidFill>
                  <a:srgbClr val="0A0E1A"/>
                </a:solidFill>
                <a:latin typeface="Calibri"/>
              </a:rPr>
              <a:t>   BPM 160</a:t>
            </a:r>
            <a:r>
              <a:rPr sz="1200" b="0" i="0">
                <a:solidFill>
                  <a:srgbClr val="4F5C75"/>
                </a:solidFill>
                <a:latin typeface="Consolas"/>
              </a:rPr>
              <a:t>   Metal.txt</a:t>
            </a:r>
          </a:p>
        </p:txBody>
      </p:sp>
      <p:sp>
        <p:nvSpPr>
          <p:cNvPr id="19" name="Rounded Rectangle 18"/>
          <p:cNvSpPr/>
          <p:nvPr/>
        </p:nvSpPr>
        <p:spPr>
          <a:xfrm>
            <a:off x="6766560" y="4343400"/>
            <a:ext cx="4892040" cy="192024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95160" y="4507992"/>
            <a:ext cx="4434840" cy="164592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Play On Awake desmarcado</a:t>
            </a:r>
          </a:p>
          <a:p>
            <a:pPr algn="l">
              <a:spcAft>
                <a:spcPts val="400"/>
              </a:spcAft>
            </a:pPr>
            <a:r>
              <a:rPr sz="1300" b="0" i="0">
                <a:solidFill>
                  <a:srgbClr val="0A0E1A"/>
                </a:solidFill>
                <a:latin typeface="Calibri"/>
              </a:rPr>
              <a:t>La canción la arranca el Conductor con PlayScheduled, en un instante exacto del reloj de sonido. Si la arranca Unity, no se sabe cuándo empezó y las notas quedan corridas.</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6 de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02_Ritmo (2 de 4): seis carriles y la línea de golpe</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Seis sprites </a:t>
            </a:r>
            <a:r>
              <a:rPr sz="1500" b="1" i="0">
                <a:solidFill>
                  <a:srgbClr val="0A0E1A"/>
                </a:solidFill>
                <a:latin typeface="Calibri"/>
              </a:rPr>
              <a:t>Cuadrado</a:t>
            </a:r>
            <a:r>
              <a:rPr sz="1500" b="0" i="0">
                <a:solidFill>
                  <a:srgbClr val="0A0E1A"/>
                </a:solidFill>
                <a:latin typeface="Calibri"/>
              </a:rPr>
              <a:t> llamados Carril 0 a Carril 5. Scale: 1,15 · 10,4.</a:t>
            </a:r>
          </a:p>
        </p:txBody>
      </p:sp>
      <p:sp>
        <p:nvSpPr>
          <p:cNvPr id="6" name="Oval 5"/>
          <p:cNvSpPr/>
          <p:nvPr/>
        </p:nvSpPr>
        <p:spPr>
          <a:xfrm>
            <a:off x="548640" y="24688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8716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Ponlos en las X de la tabla. Order in Layer en ‑1, y a cada uno un color con poca opacidad.</a:t>
            </a:r>
          </a:p>
        </p:txBody>
      </p:sp>
      <p:sp>
        <p:nvSpPr>
          <p:cNvPr id="8" name="Oval 7"/>
          <p:cNvSpPr/>
          <p:nvPr/>
        </p:nvSpPr>
        <p:spPr>
          <a:xfrm>
            <a:off x="548640" y="32918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31012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Debajo de cada carril, su icono: </a:t>
            </a:r>
            <a:r>
              <a:rPr sz="1500" b="1" i="0">
                <a:solidFill>
                  <a:srgbClr val="0A0E1A"/>
                </a:solidFill>
                <a:latin typeface="Calibri"/>
              </a:rPr>
              <a:t>Tecla_D</a:t>
            </a:r>
            <a:r>
              <a:rPr sz="1500" b="0" i="0">
                <a:solidFill>
                  <a:srgbClr val="0A0E1A"/>
                </a:solidFill>
                <a:latin typeface="Calibri"/>
              </a:rPr>
              <a:t>, F, J, K, </a:t>
            </a:r>
            <a:r>
              <a:rPr sz="1500" b="1" i="0">
                <a:solidFill>
                  <a:srgbClr val="0A0E1A"/>
                </a:solidFill>
                <a:latin typeface="Calibri"/>
              </a:rPr>
              <a:t>Clic_Izquierdo</a:t>
            </a:r>
            <a:r>
              <a:rPr sz="1500" b="0" i="0">
                <a:solidFill>
                  <a:srgbClr val="0A0E1A"/>
                </a:solidFill>
                <a:latin typeface="Calibri"/>
              </a:rPr>
              <a:t>, </a:t>
            </a:r>
            <a:r>
              <a:rPr sz="1500" b="1" i="0">
                <a:solidFill>
                  <a:srgbClr val="0A0E1A"/>
                </a:solidFill>
                <a:latin typeface="Calibri"/>
              </a:rPr>
              <a:t>Clic_Derecho</a:t>
            </a:r>
            <a:r>
              <a:rPr sz="1500" b="0" i="0">
                <a:solidFill>
                  <a:srgbClr val="0A0E1A"/>
                </a:solidFill>
                <a:latin typeface="Calibri"/>
              </a:rPr>
              <a:t>. Y en ‑4,55.</a:t>
            </a:r>
          </a:p>
        </p:txBody>
      </p:sp>
      <p:sp>
        <p:nvSpPr>
          <p:cNvPr id="10" name="Oval 9"/>
          <p:cNvSpPr/>
          <p:nvPr/>
        </p:nvSpPr>
        <p:spPr>
          <a:xfrm>
            <a:off x="548640" y="41148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4133087"/>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Un Cuadrado más: </a:t>
            </a:r>
            <a:r>
              <a:rPr sz="1500" b="1" i="0">
                <a:solidFill>
                  <a:srgbClr val="0A0E1A"/>
                </a:solidFill>
                <a:latin typeface="Calibri"/>
              </a:rPr>
              <a:t>LineaDeGolpe</a:t>
            </a:r>
            <a:r>
              <a:rPr sz="1500" b="0" i="0">
                <a:solidFill>
                  <a:srgbClr val="0A0E1A"/>
                </a:solidFill>
                <a:latin typeface="Calibri"/>
              </a:rPr>
              <a:t>, en Y ‑3,6, Scale 10,6 · 0,08.</a:t>
            </a:r>
          </a:p>
        </p:txBody>
      </p:sp>
      <p:sp>
        <p:nvSpPr>
          <p:cNvPr id="12" name="Rounded Rectangle 11"/>
          <p:cNvSpPr/>
          <p:nvPr/>
        </p:nvSpPr>
        <p:spPr>
          <a:xfrm>
            <a:off x="548640" y="5074920"/>
            <a:ext cx="5852160" cy="114300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5257800"/>
            <a:ext cx="5394960" cy="868680"/>
          </a:xfrm>
          <a:prstGeom prst="rect">
            <a:avLst/>
          </a:prstGeom>
          <a:noFill/>
        </p:spPr>
        <p:txBody>
          <a:bodyPr wrap="square" lIns="0" rIns="0" tIns="0" bIns="0" anchor="t">
            <a:spAutoFit/>
          </a:bodyPr>
          <a:lstStyle/>
          <a:p>
            <a:pPr algn="l">
              <a:spcAft>
                <a:spcPts val="200"/>
              </a:spcAft>
            </a:pPr>
            <a:r>
              <a:rPr sz="1400" b="0" i="0">
                <a:solidFill>
                  <a:srgbClr val="E9EEFB"/>
                </a:solidFill>
                <a:latin typeface="Consolas"/>
              </a:rPr>
              <a:t>carril   0     1     2     3     4    5</a:t>
            </a:r>
          </a:p>
          <a:p>
            <a:pPr algn="l">
              <a:spcAft>
                <a:spcPts val="200"/>
              </a:spcAft>
            </a:pPr>
            <a:r>
              <a:rPr sz="1400" b="0" i="0">
                <a:solidFill>
                  <a:srgbClr val="E9EEFB"/>
                </a:solidFill>
                <a:latin typeface="Consolas"/>
              </a:rPr>
              <a:t>X     -4,6  -3,2  -1,8  -0,4  2,4  3,8</a:t>
            </a:r>
          </a:p>
        </p:txBody>
      </p:sp>
      <p:sp>
        <p:nvSpPr>
          <p:cNvPr id="14" name="Rounded Rectangle 13"/>
          <p:cNvSpPr/>
          <p:nvPr/>
        </p:nvSpPr>
        <p:spPr>
          <a:xfrm>
            <a:off x="6729984" y="1609344"/>
            <a:ext cx="4965192" cy="2824924"/>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r02_teclas_y_clics.png"/>
          <p:cNvPicPr>
            <a:picLocks noChangeAspect="1"/>
          </p:cNvPicPr>
          <p:nvPr/>
        </p:nvPicPr>
        <p:blipFill>
          <a:blip r:embed="rId2"/>
          <a:stretch>
            <a:fillRect/>
          </a:stretch>
        </p:blipFill>
        <p:spPr>
          <a:xfrm>
            <a:off x="6766560" y="1645920"/>
            <a:ext cx="4892040" cy="2751772"/>
          </a:xfrm>
          <a:prstGeom prst="rect">
            <a:avLst/>
          </a:prstGeom>
        </p:spPr>
      </p:pic>
      <p:sp>
        <p:nvSpPr>
          <p:cNvPr id="16" name="TextBox 15"/>
          <p:cNvSpPr txBox="1"/>
          <p:nvPr/>
        </p:nvSpPr>
        <p:spPr>
          <a:xfrm>
            <a:off x="6766560" y="4507420"/>
            <a:ext cx="489204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Teclas a la izquierda, clics a la derecha.</a:t>
            </a:r>
          </a:p>
        </p:txBody>
      </p:sp>
      <p:sp>
        <p:nvSpPr>
          <p:cNvPr id="17" name="Rounded Rectangle 16"/>
          <p:cNvSpPr/>
          <p:nvPr/>
        </p:nvSpPr>
        <p:spPr>
          <a:xfrm>
            <a:off x="6766560" y="4946332"/>
            <a:ext cx="4892040" cy="11887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95160" y="5110924"/>
            <a:ext cx="4434840" cy="9144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Por qué el hueco entre K y el clic</a:t>
            </a:r>
          </a:p>
          <a:p>
            <a:pPr algn="l">
              <a:spcAft>
                <a:spcPts val="400"/>
              </a:spcAft>
            </a:pPr>
            <a:r>
              <a:rPr sz="1300" b="0" i="0">
                <a:solidFill>
                  <a:srgbClr val="0A0E1A"/>
                </a:solidFill>
                <a:latin typeface="Calibri"/>
              </a:rPr>
              <a:t>Separa las dos manos: la izquierda en el teclado, la derecha en el mouse.</a:t>
            </a:r>
          </a:p>
        </p:txBody>
      </p:sp>
      <p:sp>
        <p:nvSpPr>
          <p:cNvPr id="1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7 de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02_Ritmo (3 de 4): el generador de notas</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Conductor: Add Component &gt; </a:t>
            </a:r>
            <a:r>
              <a:rPr sz="1500" b="1" i="0">
                <a:solidFill>
                  <a:srgbClr val="0A0E1A"/>
                </a:solidFill>
                <a:latin typeface="Calibri"/>
              </a:rPr>
              <a:t>Generador De Notas</a:t>
            </a:r>
            <a:r>
              <a:rPr sz="1500" b="0" i="0">
                <a:solidFill>
                  <a:srgbClr val="0A0E1A"/>
                </a:solidFill>
                <a:latin typeface="Calibri"/>
              </a:rPr>
              <a:t>.</a:t>
            </a:r>
          </a:p>
        </p:txBody>
      </p:sp>
      <p:sp>
        <p:nvSpPr>
          <p:cNvPr id="6" name="Oval 5"/>
          <p:cNvSpPr/>
          <p:nvPr/>
        </p:nvSpPr>
        <p:spPr>
          <a:xfrm>
            <a:off x="548640" y="23774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9572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Rock.txt a </a:t>
            </a:r>
            <a:r>
              <a:rPr sz="1500" b="1" i="0">
                <a:solidFill>
                  <a:srgbClr val="0A0E1A"/>
                </a:solidFill>
                <a:latin typeface="Calibri"/>
              </a:rPr>
              <a:t>Partitura</a:t>
            </a:r>
            <a:r>
              <a:rPr sz="1500" b="0" i="0">
                <a:solidFill>
                  <a:srgbClr val="0A0E1A"/>
                </a:solidFill>
                <a:latin typeface="Calibri"/>
              </a:rPr>
              <a:t>: se usa si abres la escena sin pasar por el menú.</a:t>
            </a:r>
          </a:p>
        </p:txBody>
      </p:sp>
      <p:sp>
        <p:nvSpPr>
          <p:cNvPr id="8" name="Oval 7"/>
          <p:cNvSpPr/>
          <p:nvPr/>
        </p:nvSpPr>
        <p:spPr>
          <a:xfrm>
            <a:off x="548640" y="310896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2724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prefab </a:t>
            </a:r>
            <a:r>
              <a:rPr sz="1500" b="1" i="0">
                <a:solidFill>
                  <a:srgbClr val="0A0E1A"/>
                </a:solidFill>
                <a:latin typeface="Calibri"/>
              </a:rPr>
              <a:t>Nota</a:t>
            </a:r>
            <a:r>
              <a:rPr sz="1500" b="0" i="0">
                <a:solidFill>
                  <a:srgbClr val="0A0E1A"/>
                </a:solidFill>
                <a:latin typeface="Calibri"/>
              </a:rPr>
              <a:t> (Ritmo/Prefabs) a </a:t>
            </a:r>
            <a:r>
              <a:rPr sz="1500" b="1" i="0">
                <a:solidFill>
                  <a:srgbClr val="0A0E1A"/>
                </a:solidFill>
                <a:latin typeface="Calibri"/>
              </a:rPr>
              <a:t>Prefab Nota</a:t>
            </a:r>
            <a:r>
              <a:rPr sz="1500" b="0" i="0">
                <a:solidFill>
                  <a:srgbClr val="0A0E1A"/>
                </a:solidFill>
                <a:latin typeface="Calibri"/>
              </a:rPr>
              <a:t>.</a:t>
            </a:r>
          </a:p>
        </p:txBody>
      </p:sp>
      <p:sp>
        <p:nvSpPr>
          <p:cNvPr id="10" name="Oval 9"/>
          <p:cNvSpPr/>
          <p:nvPr/>
        </p:nvSpPr>
        <p:spPr>
          <a:xfrm>
            <a:off x="548640" y="38404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85876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a:t>
            </a:r>
            <a:r>
              <a:rPr sz="1500" b="1" i="0">
                <a:solidFill>
                  <a:srgbClr val="0A0E1A"/>
                </a:solidFill>
                <a:latin typeface="Calibri"/>
              </a:rPr>
              <a:t>Carriles</a:t>
            </a:r>
            <a:r>
              <a:rPr sz="1500" b="0" i="0">
                <a:solidFill>
                  <a:srgbClr val="0A0E1A"/>
                </a:solidFill>
                <a:latin typeface="Calibri"/>
              </a:rPr>
              <a:t>, Size 6, y arrastra Carril 0 a Carril 5 en orden.</a:t>
            </a:r>
          </a:p>
        </p:txBody>
      </p:sp>
      <p:sp>
        <p:nvSpPr>
          <p:cNvPr id="12" name="Oval 11"/>
          <p:cNvSpPr/>
          <p:nvPr/>
        </p:nvSpPr>
        <p:spPr>
          <a:xfrm>
            <a:off x="548640" y="45720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59028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LineaDeGolpe a </a:t>
            </a:r>
            <a:r>
              <a:rPr sz="1500" b="1" i="0">
                <a:solidFill>
                  <a:srgbClr val="0A0E1A"/>
                </a:solidFill>
                <a:latin typeface="Calibri"/>
              </a:rPr>
              <a:t>Linea De Golpe</a:t>
            </a:r>
            <a:r>
              <a:rPr sz="1500" b="0" i="0">
                <a:solidFill>
                  <a:srgbClr val="0A0E1A"/>
                </a:solidFill>
                <a:latin typeface="Calibri"/>
              </a:rPr>
              <a:t>.</a:t>
            </a:r>
          </a:p>
        </p:txBody>
      </p:sp>
      <p:sp>
        <p:nvSpPr>
          <p:cNvPr id="14" name="Rounded Rectangle 13"/>
          <p:cNvSpPr/>
          <p:nvPr/>
        </p:nvSpPr>
        <p:spPr>
          <a:xfrm>
            <a:off x="548640" y="5349240"/>
            <a:ext cx="5852160" cy="86868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5532120"/>
            <a:ext cx="5394960" cy="594359"/>
          </a:xfrm>
          <a:prstGeom prst="rect">
            <a:avLst/>
          </a:prstGeom>
          <a:noFill/>
        </p:spPr>
        <p:txBody>
          <a:bodyPr wrap="square" lIns="0" rIns="0" tIns="0" bIns="0" anchor="t">
            <a:spAutoFit/>
          </a:bodyPr>
          <a:lstStyle/>
          <a:p>
            <a:pPr algn="l">
              <a:spcAft>
                <a:spcPts val="200"/>
              </a:spcAft>
            </a:pPr>
            <a:r>
              <a:rPr sz="1200" b="0" i="0">
                <a:solidFill>
                  <a:srgbClr val="E9EEFB"/>
                </a:solidFill>
                <a:latin typeface="Consolas"/>
              </a:rPr>
              <a:t>y = lineaDeGolpe + (pulsoNota - pulsoActual) * unidadesPorPulso</a:t>
            </a:r>
          </a:p>
        </p:txBody>
      </p:sp>
      <p:sp>
        <p:nvSpPr>
          <p:cNvPr id="16" name="Rounded Rectangle 15"/>
          <p:cNvSpPr/>
          <p:nvPr/>
        </p:nvSpPr>
        <p:spPr>
          <a:xfrm>
            <a:off x="6766560" y="1645920"/>
            <a:ext cx="4892040" cy="45720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95160" y="1783080"/>
            <a:ext cx="4480560" cy="4297680"/>
          </a:xfrm>
          <a:prstGeom prst="rect">
            <a:avLst/>
          </a:prstGeom>
          <a:noFill/>
        </p:spPr>
        <p:txBody>
          <a:bodyPr wrap="square" lIns="0" rIns="0" tIns="0" bIns="0" anchor="t">
            <a:spAutoFit/>
          </a:bodyPr>
          <a:lstStyle/>
          <a:p>
            <a:pPr algn="l">
              <a:spcAft>
                <a:spcPts val="600"/>
              </a:spcAft>
            </a:pPr>
            <a:r>
              <a:rPr sz="1400" b="1" i="0">
                <a:solidFill>
                  <a:srgbClr val="0A0E1A"/>
                </a:solidFill>
                <a:latin typeface="Calibri"/>
              </a:rPr>
              <a:t>Dos casillas para ajustar la dificultad</a:t>
            </a:r>
          </a:p>
          <a:p>
            <a:pPr algn="l">
              <a:spcAft>
                <a:spcPts val="600"/>
              </a:spcAft>
            </a:pPr>
            <a:r>
              <a:rPr sz="1400" b="1" i="0">
                <a:solidFill>
                  <a:srgbClr val="0A0E1A"/>
                </a:solidFill>
                <a:latin typeface="Consolas"/>
              </a:rPr>
              <a:t>Unidades Por Pulso</a:t>
            </a:r>
          </a:p>
          <a:p>
            <a:pPr algn="l">
              <a:spcAft>
                <a:spcPts val="600"/>
              </a:spcAft>
            </a:pPr>
            <a:r>
              <a:rPr sz="1400" b="0" i="0">
                <a:solidFill>
                  <a:srgbClr val="0A0E1A"/>
                </a:solidFill>
                <a:latin typeface="Calibri"/>
              </a:rPr>
              <a:t>Qué tan rápido bajan las notas. Más alto: más separadas y más fáciles de leer.</a:t>
            </a:r>
          </a:p>
          <a:p>
            <a:pPr algn="l">
              <a:spcAft>
                <a:spcPts val="600"/>
              </a:spcAft>
            </a:pPr>
            <a:r>
              <a:rPr sz="1400" b="1" i="0">
                <a:solidFill>
                  <a:srgbClr val="0A0E1A"/>
                </a:solidFill>
                <a:latin typeface="Consolas"/>
              </a:rPr>
              <a:t>Pulsos De Anticipacion</a:t>
            </a:r>
          </a:p>
          <a:p>
            <a:pPr algn="l">
              <a:spcAft>
                <a:spcPts val="600"/>
              </a:spcAft>
            </a:pPr>
            <a:r>
              <a:rPr sz="1400" b="0" i="0">
                <a:solidFill>
                  <a:srgbClr val="0A0E1A"/>
                </a:solidFill>
                <a:latin typeface="Calibri"/>
              </a:rPr>
              <a:t>Cuántos pulsos antes aparece una nota. Menos pulsos: menos tiempo para prepararse.</a:t>
            </a:r>
          </a:p>
          <a:p>
            <a:pPr algn="l">
              <a:spcAft>
                <a:spcPts val="600"/>
              </a:spcAft>
            </a:pPr>
            <a:r>
              <a:rPr sz="1400" b="1" i="0">
                <a:solidFill>
                  <a:srgbClr val="0A0E1A"/>
                </a:solidFill>
                <a:latin typeface="Consolas"/>
              </a:rPr>
              <a:t>Colores Por Carril</a:t>
            </a:r>
          </a:p>
          <a:p>
            <a:pPr algn="l">
              <a:spcAft>
                <a:spcPts val="600"/>
              </a:spcAft>
            </a:pPr>
            <a:r>
              <a:rPr sz="1400" b="0" i="0">
                <a:solidFill>
                  <a:srgbClr val="0A0E1A"/>
                </a:solidFill>
                <a:latin typeface="Calibri"/>
              </a:rPr>
              <a:t>Un color por tecla. Ayuda a leer la nota sin mirar la columna.</a:t>
            </a:r>
          </a:p>
        </p:txBody>
      </p:sp>
      <p:sp>
        <p:nvSpPr>
          <p:cNvPr id="18"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8 de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Escena 02_Ritmo (4 de 4): el juez y los textos</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Conductor: Add Component &gt; </a:t>
            </a:r>
            <a:r>
              <a:rPr sz="1500" b="1" i="0">
                <a:solidFill>
                  <a:srgbClr val="0A0E1A"/>
                </a:solidFill>
                <a:latin typeface="Calibri"/>
              </a:rPr>
              <a:t>Juez De Ritmo</a:t>
            </a:r>
            <a:r>
              <a:rPr sz="1500" b="0" i="0">
                <a:solidFill>
                  <a:srgbClr val="0A0E1A"/>
                </a:solidFill>
                <a:latin typeface="Calibri"/>
              </a:rPr>
              <a:t>.</a:t>
            </a:r>
          </a:p>
        </p:txBody>
      </p:sp>
      <p:sp>
        <p:nvSpPr>
          <p:cNvPr id="6" name="Oval 5"/>
          <p:cNvSpPr/>
          <p:nvPr/>
        </p:nvSpPr>
        <p:spPr>
          <a:xfrm>
            <a:off x="548640" y="23774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9572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Tres Text en el Canvas: Puntaje, Combo y Calificacion. Arrástralos a sus casillas.</a:t>
            </a:r>
          </a:p>
        </p:txBody>
      </p:sp>
      <p:sp>
        <p:nvSpPr>
          <p:cNvPr id="8" name="Oval 7"/>
          <p:cNvSpPr/>
          <p:nvPr/>
        </p:nvSpPr>
        <p:spPr>
          <a:xfrm>
            <a:off x="548640" y="310896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2724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a:t>
            </a:r>
            <a:r>
              <a:rPr sz="1500" b="1" i="0">
                <a:solidFill>
                  <a:srgbClr val="0A0E1A"/>
                </a:solidFill>
                <a:latin typeface="Calibri"/>
              </a:rPr>
              <a:t>Brillos</a:t>
            </a:r>
            <a:r>
              <a:rPr sz="1500" b="0" i="0">
                <a:solidFill>
                  <a:srgbClr val="0A0E1A"/>
                </a:solidFill>
                <a:latin typeface="Calibri"/>
              </a:rPr>
              <a:t>, Size 6, y arrastra los seis carriles: se iluminan al apretar.</a:t>
            </a:r>
          </a:p>
        </p:txBody>
      </p:sp>
      <p:sp>
        <p:nvSpPr>
          <p:cNvPr id="10" name="Oval 9"/>
          <p:cNvSpPr/>
          <p:nvPr/>
        </p:nvSpPr>
        <p:spPr>
          <a:xfrm>
            <a:off x="548640" y="38404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85876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el prefab </a:t>
            </a:r>
            <a:r>
              <a:rPr sz="1500" b="1" i="0">
                <a:solidFill>
                  <a:srgbClr val="0A0E1A"/>
                </a:solidFill>
                <a:latin typeface="Calibri"/>
              </a:rPr>
              <a:t>PantallaFinal</a:t>
            </a:r>
            <a:r>
              <a:rPr sz="1500" b="0" i="0">
                <a:solidFill>
                  <a:srgbClr val="0A0E1A"/>
                </a:solidFill>
                <a:latin typeface="Calibri"/>
              </a:rPr>
              <a:t> a la escena.</a:t>
            </a:r>
          </a:p>
        </p:txBody>
      </p:sp>
      <p:sp>
        <p:nvSpPr>
          <p:cNvPr id="12" name="Oval 11"/>
          <p:cNvSpPr/>
          <p:nvPr/>
        </p:nvSpPr>
        <p:spPr>
          <a:xfrm>
            <a:off x="548640" y="45720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59028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Build Settings: 01_Menu arriba, 02_Ritmo debajo.</a:t>
            </a:r>
          </a:p>
        </p:txBody>
      </p:sp>
      <p:sp>
        <p:nvSpPr>
          <p:cNvPr id="14" name="Rounded Rectangle 13"/>
          <p:cNvSpPr/>
          <p:nvPr/>
        </p:nvSpPr>
        <p:spPr>
          <a:xfrm>
            <a:off x="6766560" y="1645920"/>
            <a:ext cx="4892040" cy="27432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95160" y="1783080"/>
            <a:ext cx="4480560" cy="2560320"/>
          </a:xfrm>
          <a:prstGeom prst="rect">
            <a:avLst/>
          </a:prstGeom>
          <a:noFill/>
        </p:spPr>
        <p:txBody>
          <a:bodyPr wrap="square" lIns="0" rIns="0" tIns="0" bIns="0" anchor="t">
            <a:spAutoFit/>
          </a:bodyPr>
          <a:lstStyle/>
          <a:p>
            <a:pPr algn="l">
              <a:spcAft>
                <a:spcPts val="600"/>
              </a:spcAft>
            </a:pPr>
            <a:r>
              <a:rPr sz="1400" b="1" i="0">
                <a:solidFill>
                  <a:srgbClr val="0A0E1A"/>
                </a:solidFill>
                <a:latin typeface="Calibri"/>
              </a:rPr>
              <a:t>Cómo califica</a:t>
            </a:r>
          </a:p>
          <a:p>
            <a:pPr algn="l">
              <a:spcAft>
                <a:spcPts val="600"/>
              </a:spcAft>
            </a:pPr>
            <a:r>
              <a:rPr sz="1400" b="1" i="0">
                <a:solidFill>
                  <a:srgbClr val="0E7490"/>
                </a:solidFill>
                <a:latin typeface="Calibri"/>
              </a:rPr>
              <a:t>Perfecto</a:t>
            </a:r>
            <a:r>
              <a:rPr sz="1400" b="0" i="0">
                <a:solidFill>
                  <a:srgbClr val="0A0E1A"/>
                </a:solidFill>
                <a:latin typeface="Calibri"/>
              </a:rPr>
              <a:t>   hasta 50 ms del pulso   300 puntos</a:t>
            </a:r>
          </a:p>
          <a:p>
            <a:pPr algn="l">
              <a:spcAft>
                <a:spcPts val="600"/>
              </a:spcAft>
            </a:pPr>
            <a:r>
              <a:rPr sz="1400" b="1" i="0">
                <a:solidFill>
                  <a:srgbClr val="097A41"/>
                </a:solidFill>
                <a:latin typeface="Calibri"/>
              </a:rPr>
              <a:t>Bien</a:t>
            </a:r>
            <a:r>
              <a:rPr sz="1400" b="0" i="0">
                <a:solidFill>
                  <a:srgbClr val="0A0E1A"/>
                </a:solidFill>
                <a:latin typeface="Calibri"/>
              </a:rPr>
              <a:t>       hasta 110 ms          100 puntos</a:t>
            </a:r>
          </a:p>
          <a:p>
            <a:pPr algn="l">
              <a:spcAft>
                <a:spcPts val="600"/>
              </a:spcAft>
            </a:pPr>
            <a:r>
              <a:rPr sz="1400" b="1" i="0">
                <a:solidFill>
                  <a:srgbClr val="B3261E"/>
                </a:solidFill>
                <a:latin typeface="Calibri"/>
              </a:rPr>
              <a:t>Fallo</a:t>
            </a:r>
            <a:r>
              <a:rPr sz="1400" b="0" i="0">
                <a:solidFill>
                  <a:srgbClr val="0A0E1A"/>
                </a:solidFill>
                <a:latin typeface="Calibri"/>
              </a:rPr>
              <a:t>      la nota pasó sin golpe</a:t>
            </a:r>
          </a:p>
          <a:p>
            <a:pPr algn="l">
              <a:spcAft>
                <a:spcPts val="600"/>
              </a:spcAft>
            </a:pPr>
            <a:r>
              <a:rPr sz="1400" b="0" i="0">
                <a:solidFill>
                  <a:srgbClr val="0A0E1A"/>
                </a:solidFill>
                <a:latin typeface="Calibri"/>
              </a:rPr>
              <a:t>El combo multiplica: x2 desde 10 seguidas, hasta x4.</a:t>
            </a:r>
          </a:p>
        </p:txBody>
      </p:sp>
      <p:sp>
        <p:nvSpPr>
          <p:cNvPr id="16" name="Rounded Rectangle 15"/>
          <p:cNvSpPr/>
          <p:nvPr/>
        </p:nvSpPr>
        <p:spPr>
          <a:xfrm>
            <a:off x="6766560" y="4572000"/>
            <a:ext cx="4892040" cy="16459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95160" y="4736592"/>
            <a:ext cx="4434840" cy="13716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Desde el menú, cada nota que tocas a tiempo dice Perfecto o Bien.</a:t>
            </a:r>
          </a:p>
          <a:p>
            <a:pPr algn="l">
              <a:spcAft>
                <a:spcPts val="400"/>
              </a:spcAft>
            </a:pPr>
            <a:r>
              <a:rPr sz="1300" b="0" i="0">
                <a:solidFill>
                  <a:srgbClr val="0A0E1A"/>
                </a:solidFill>
                <a:latin typeface="Calibri"/>
              </a:rPr>
              <a:t>Al final de la canción sale la pantalla con precisión y error en ms.</a:t>
            </a:r>
          </a:p>
        </p:txBody>
      </p:sp>
      <p:sp>
        <p:nvSpPr>
          <p:cNvPr id="18"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9 de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 difícil: notas sostenidas y acordes</a:t>
            </a:r>
          </a:p>
        </p:txBody>
      </p:sp>
      <p:sp>
        <p:nvSpPr>
          <p:cNvPr id="4" name="Rounded Rectangle 3"/>
          <p:cNvSpPr/>
          <p:nvPr/>
        </p:nvSpPr>
        <p:spPr>
          <a:xfrm>
            <a:off x="512063" y="1609344"/>
            <a:ext cx="5559552" cy="315925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r02_sostenidas.png"/>
          <p:cNvPicPr>
            <a:picLocks noChangeAspect="1"/>
          </p:cNvPicPr>
          <p:nvPr/>
        </p:nvPicPr>
        <p:blipFill>
          <a:blip r:embed="rId2"/>
          <a:stretch>
            <a:fillRect/>
          </a:stretch>
        </p:blipFill>
        <p:spPr>
          <a:xfrm>
            <a:off x="548640" y="1645920"/>
            <a:ext cx="5486400" cy="3086100"/>
          </a:xfrm>
          <a:prstGeom prst="rect">
            <a:avLst/>
          </a:prstGeom>
        </p:spPr>
      </p:pic>
      <p:sp>
        <p:nvSpPr>
          <p:cNvPr id="6" name="TextBox 5"/>
          <p:cNvSpPr txBox="1"/>
          <p:nvPr/>
        </p:nvSpPr>
        <p:spPr>
          <a:xfrm>
            <a:off x="548640" y="4841748"/>
            <a:ext cx="548640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Sección 3: la cola es lo que hay que sostener.</a:t>
            </a:r>
          </a:p>
        </p:txBody>
      </p:sp>
      <p:sp>
        <p:nvSpPr>
          <p:cNvPr id="7" name="Rounded Rectangle 6"/>
          <p:cNvSpPr/>
          <p:nvPr/>
        </p:nvSpPr>
        <p:spPr>
          <a:xfrm>
            <a:off x="6135624" y="1609344"/>
            <a:ext cx="5559552" cy="315925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02_acordes.png"/>
          <p:cNvPicPr>
            <a:picLocks noChangeAspect="1"/>
          </p:cNvPicPr>
          <p:nvPr/>
        </p:nvPicPr>
        <p:blipFill>
          <a:blip r:embed="rId3"/>
          <a:stretch>
            <a:fillRect/>
          </a:stretch>
        </p:blipFill>
        <p:spPr>
          <a:xfrm>
            <a:off x="6172200" y="1645920"/>
            <a:ext cx="5486400" cy="3086100"/>
          </a:xfrm>
          <a:prstGeom prst="rect">
            <a:avLst/>
          </a:prstGeom>
        </p:spPr>
      </p:pic>
      <p:sp>
        <p:nvSpPr>
          <p:cNvPr id="9" name="TextBox 8"/>
          <p:cNvSpPr txBox="1"/>
          <p:nvPr/>
        </p:nvSpPr>
        <p:spPr>
          <a:xfrm>
            <a:off x="6172200" y="4841748"/>
            <a:ext cx="548640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Sección 4: tecla y clic en el mismo pulso.</a:t>
            </a:r>
          </a:p>
        </p:txBody>
      </p:sp>
      <p:sp>
        <p:nvSpPr>
          <p:cNvPr id="10" name="TextBox 9"/>
          <p:cNvSpPr txBox="1"/>
          <p:nvPr/>
        </p:nvSpPr>
        <p:spPr>
          <a:xfrm>
            <a:off x="548640" y="5280659"/>
            <a:ext cx="5486400" cy="1463040"/>
          </a:xfrm>
          <a:prstGeom prst="rect">
            <a:avLst/>
          </a:prstGeom>
          <a:noFill/>
        </p:spPr>
        <p:txBody>
          <a:bodyPr wrap="square" lIns="0" rIns="0" tIns="0" bIns="0" anchor="t">
            <a:spAutoFit/>
          </a:bodyPr>
          <a:lstStyle/>
          <a:p>
            <a:pPr algn="l">
              <a:spcAft>
                <a:spcPts val="600"/>
              </a:spcAft>
            </a:pPr>
            <a:r>
              <a:rPr sz="1400" b="1" i="0">
                <a:solidFill>
                  <a:srgbClr val="0A0E1A"/>
                </a:solidFill>
                <a:latin typeface="Calibri"/>
              </a:rPr>
              <a:t>Sostenida: </a:t>
            </a:r>
            <a:r>
              <a:rPr sz="1400" b="0" i="0">
                <a:solidFill>
                  <a:srgbClr val="0A0E1A"/>
                </a:solidFill>
                <a:latin typeface="Calibri"/>
              </a:rPr>
              <a:t>se aprieta a tiempo y se suelta al final de la cola. Si sueltas antes, dice Soltaste y se pierde el combo.</a:t>
            </a:r>
          </a:p>
        </p:txBody>
      </p:sp>
      <p:sp>
        <p:nvSpPr>
          <p:cNvPr id="11" name="TextBox 10"/>
          <p:cNvSpPr txBox="1"/>
          <p:nvPr/>
        </p:nvSpPr>
        <p:spPr>
          <a:xfrm>
            <a:off x="6172200" y="5280659"/>
            <a:ext cx="5486400" cy="1463040"/>
          </a:xfrm>
          <a:prstGeom prst="rect">
            <a:avLst/>
          </a:prstGeom>
          <a:noFill/>
        </p:spPr>
        <p:txBody>
          <a:bodyPr wrap="square" lIns="0" rIns="0" tIns="0" bIns="0" anchor="t">
            <a:spAutoFit/>
          </a:bodyPr>
          <a:lstStyle/>
          <a:p>
            <a:pPr algn="l">
              <a:spcAft>
                <a:spcPts val="600"/>
              </a:spcAft>
            </a:pPr>
            <a:r>
              <a:rPr sz="1400" b="1" i="0">
                <a:solidFill>
                  <a:srgbClr val="0A0E1A"/>
                </a:solidFill>
                <a:latin typeface="Calibri"/>
              </a:rPr>
              <a:t>Acorde: </a:t>
            </a:r>
            <a:r>
              <a:rPr sz="1400" b="0" i="0">
                <a:solidFill>
                  <a:srgbClr val="0A0E1A"/>
                </a:solidFill>
                <a:latin typeface="Calibri"/>
              </a:rPr>
              <a:t>dos notas en el mismo pulso. Cada una se califica por separado, así que las dos manos tienen que llegar juntas.</a:t>
            </a:r>
          </a:p>
        </p:txBody>
      </p:sp>
      <p:sp>
        <p:nvSpPr>
          <p:cNvPr id="12"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10 de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Reto: escribe tu propia partitura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Project, clic derecho en Ritmo/Partituras &gt; </a:t>
            </a:r>
            <a:r>
              <a:rPr sz="1500" b="1" i="0">
                <a:solidFill>
                  <a:srgbClr val="0A0E1A"/>
                </a:solidFill>
                <a:latin typeface="Calibri"/>
              </a:rPr>
              <a:t>Show in Explorer</a:t>
            </a:r>
            <a:r>
              <a:rPr sz="1500" b="0" i="0">
                <a:solidFill>
                  <a:srgbClr val="0A0E1A"/>
                </a:solidFill>
                <a:latin typeface="Calibri"/>
              </a:rPr>
              <a:t>.</a:t>
            </a:r>
          </a:p>
        </p:txBody>
      </p:sp>
      <p:sp>
        <p:nvSpPr>
          <p:cNvPr id="6" name="Oval 5"/>
          <p:cNvSpPr/>
          <p:nvPr/>
        </p:nvSpPr>
        <p:spPr>
          <a:xfrm>
            <a:off x="548640" y="242316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4144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Copia Rock.txt y llámala MiRock.txt. Ábrela con el Bloc de notas.</a:t>
            </a:r>
          </a:p>
        </p:txBody>
      </p:sp>
      <p:sp>
        <p:nvSpPr>
          <p:cNvPr id="8" name="Oval 7"/>
          <p:cNvSpPr/>
          <p:nvPr/>
        </p:nvSpPr>
        <p:spPr>
          <a:xfrm>
            <a:off x="548640" y="32004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21868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Cambia notas, guarda, y vuelve a Unity: se actualiza sola.</a:t>
            </a:r>
          </a:p>
        </p:txBody>
      </p:sp>
      <p:sp>
        <p:nvSpPr>
          <p:cNvPr id="10" name="Oval 9"/>
          <p:cNvSpPr/>
          <p:nvPr/>
        </p:nvSpPr>
        <p:spPr>
          <a:xfrm>
            <a:off x="548640" y="397763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95927"/>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Musica Por Genero, cambia la </a:t>
            </a:r>
            <a:r>
              <a:rPr sz="1500" b="1" i="0">
                <a:solidFill>
                  <a:srgbClr val="0A0E1A"/>
                </a:solidFill>
                <a:latin typeface="Calibri"/>
              </a:rPr>
              <a:t>Partitura</a:t>
            </a:r>
            <a:r>
              <a:rPr sz="1500" b="0" i="0">
                <a:solidFill>
                  <a:srgbClr val="0A0E1A"/>
                </a:solidFill>
                <a:latin typeface="Calibri"/>
              </a:rPr>
              <a:t> de Rock por MiRock.</a:t>
            </a:r>
          </a:p>
        </p:txBody>
      </p:sp>
      <p:sp>
        <p:nvSpPr>
          <p:cNvPr id="12" name="Rounded Rectangle 11"/>
          <p:cNvSpPr/>
          <p:nvPr/>
        </p:nvSpPr>
        <p:spPr>
          <a:xfrm>
            <a:off x="6766560" y="1645920"/>
            <a:ext cx="4892040" cy="29718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95160" y="1783080"/>
            <a:ext cx="4480560" cy="2743200"/>
          </a:xfrm>
          <a:prstGeom prst="rect">
            <a:avLst/>
          </a:prstGeom>
          <a:noFill/>
        </p:spPr>
        <p:txBody>
          <a:bodyPr wrap="square" lIns="0" rIns="0" tIns="0" bIns="0" anchor="t">
            <a:spAutoFit/>
          </a:bodyPr>
          <a:lstStyle/>
          <a:p>
            <a:pPr algn="l">
              <a:spcAft>
                <a:spcPts val="800"/>
              </a:spcAft>
            </a:pPr>
            <a:r>
              <a:rPr sz="1400" b="1" i="0">
                <a:solidFill>
                  <a:srgbClr val="0A0E1A"/>
                </a:solidFill>
                <a:latin typeface="Calibri"/>
              </a:rPr>
              <a:t>Cuentas que sirven</a:t>
            </a:r>
          </a:p>
          <a:p>
            <a:pPr algn="l">
              <a:spcAft>
                <a:spcPts val="800"/>
              </a:spcAft>
            </a:pPr>
            <a:r>
              <a:rPr sz="1400" b="0" i="0">
                <a:solidFill>
                  <a:srgbClr val="0A0E1A"/>
                </a:solidFill>
                <a:latin typeface="Calibri"/>
              </a:rPr>
              <a:t>A 120 BPM, un pulso dura medio segundo. Un compás son 4 pulsos.</a:t>
            </a:r>
          </a:p>
          <a:p>
            <a:pPr algn="l">
              <a:spcAft>
                <a:spcPts val="800"/>
              </a:spcAft>
            </a:pPr>
            <a:r>
              <a:rPr sz="1400" b="0" i="0">
                <a:solidFill>
                  <a:srgbClr val="0A0E1A"/>
                </a:solidFill>
                <a:latin typeface="Calibri"/>
              </a:rPr>
              <a:t>Rock tiene 128 pulsos; deja vacíos los últimos 8.</a:t>
            </a:r>
          </a:p>
          <a:p>
            <a:pPr algn="l">
              <a:spcAft>
                <a:spcPts val="800"/>
              </a:spcAft>
            </a:pPr>
            <a:r>
              <a:rPr sz="1400" b="0" i="0">
                <a:solidFill>
                  <a:srgbClr val="0A0E1A"/>
                </a:solidFill>
                <a:latin typeface="Calibri"/>
              </a:rPr>
              <a:t>Se pueden usar medios pulsos: 9.5 es una corchea.</a:t>
            </a:r>
          </a:p>
        </p:txBody>
      </p:sp>
      <p:sp>
        <p:nvSpPr>
          <p:cNvPr id="14" name="Rounded Rectangle 13"/>
          <p:cNvSpPr/>
          <p:nvPr/>
        </p:nvSpPr>
        <p:spPr>
          <a:xfrm>
            <a:off x="6766560" y="4800600"/>
            <a:ext cx="4892040" cy="141732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95160" y="4965192"/>
            <a:ext cx="4434840" cy="114300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El decimal es punto</a:t>
            </a:r>
          </a:p>
          <a:p>
            <a:pPr algn="l">
              <a:spcAft>
                <a:spcPts val="400"/>
              </a:spcAft>
            </a:pPr>
            <a:r>
              <a:rPr sz="1300" b="0" i="0">
                <a:solidFill>
                  <a:srgbClr val="0A0E1A"/>
                </a:solidFill>
                <a:latin typeface="Calibri"/>
              </a:rPr>
              <a:t>En la partitura se escribe 9.5 y no 9,5, aunque Windows esté en español.</a:t>
            </a:r>
          </a:p>
        </p:txBody>
      </p:sp>
      <p:sp>
        <p:nvSpPr>
          <p:cNvPr id="16"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11 de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Los datos y los errores más comunes</a:t>
            </a:r>
          </a:p>
        </p:txBody>
      </p:sp>
      <p:sp>
        <p:nvSpPr>
          <p:cNvPr id="4" name="Rounded Rectangle 3"/>
          <p:cNvSpPr/>
          <p:nvPr/>
        </p:nvSpPr>
        <p:spPr>
          <a:xfrm>
            <a:off x="548640" y="1645920"/>
            <a:ext cx="11109960" cy="109728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28800"/>
            <a:ext cx="10652760" cy="822959"/>
          </a:xfrm>
          <a:prstGeom prst="rect">
            <a:avLst/>
          </a:prstGeom>
          <a:noFill/>
        </p:spPr>
        <p:txBody>
          <a:bodyPr wrap="square" lIns="0" rIns="0" tIns="0" bIns="0" anchor="t">
            <a:spAutoFit/>
          </a:bodyPr>
          <a:lstStyle/>
          <a:p>
            <a:pPr algn="l">
              <a:spcAft>
                <a:spcPts val="200"/>
              </a:spcAft>
            </a:pPr>
            <a:r>
              <a:rPr sz="1200" b="0" i="0">
                <a:solidFill>
                  <a:srgbClr val="E9EEFB"/>
                </a:solidFill>
                <a:latin typeface="Consolas"/>
              </a:rPr>
              <a:t>fecha;mano;sensibilidad;genero;puntaje;precisionPct;errorPromedioMs;perfectos;buenos;fallos;sostenidasCompletas</a:t>
            </a:r>
          </a:p>
          <a:p>
            <a:pPr algn="l">
              <a:spcAft>
                <a:spcPts val="200"/>
              </a:spcAft>
            </a:pPr>
            <a:r>
              <a:rPr sz="1200" b="0" i="0">
                <a:solidFill>
                  <a:srgbClr val="E9EEFB"/>
                </a:solidFill>
                <a:latin typeface="Consolas"/>
              </a:rPr>
              <a:t>2026-10-21 08:29:54;Derecha;1,00;Electronica;122900;100,0;6;112;0;0;7</a:t>
            </a:r>
          </a:p>
        </p:txBody>
      </p:sp>
      <p:sp>
        <p:nvSpPr>
          <p:cNvPr id="6" name="TextBox 5"/>
          <p:cNvSpPr txBox="1"/>
          <p:nvPr/>
        </p:nvSpPr>
        <p:spPr>
          <a:xfrm>
            <a:off x="548640" y="2834640"/>
            <a:ext cx="11064240" cy="365760"/>
          </a:xfrm>
          <a:prstGeom prst="rect">
            <a:avLst/>
          </a:prstGeom>
          <a:noFill/>
        </p:spPr>
        <p:txBody>
          <a:bodyPr wrap="square" lIns="0" rIns="0" tIns="0" bIns="0" anchor="t">
            <a:spAutoFit/>
          </a:bodyPr>
          <a:lstStyle/>
          <a:p>
            <a:pPr algn="l">
              <a:spcAft>
                <a:spcPts val="600"/>
              </a:spcAft>
            </a:pPr>
            <a:r>
              <a:rPr sz="1300" b="0" i="0">
                <a:solidFill>
                  <a:srgbClr val="4F5C75"/>
                </a:solidFill>
                <a:latin typeface="Consolas"/>
              </a:rPr>
              <a:t>resultados_Ritmo.csv</a:t>
            </a:r>
            <a:r>
              <a:rPr sz="1300" b="0" i="0">
                <a:solidFill>
                  <a:srgbClr val="4F5C75"/>
                </a:solidFill>
                <a:latin typeface="Calibri"/>
              </a:rPr>
              <a:t>, en AppData\LocalLow\&lt;empresa&gt;\&lt;proyecto&gt;. Se abre con doble clic en Excel. Esta fila es real.</a:t>
            </a:r>
          </a:p>
        </p:txBody>
      </p:sp>
      <p:sp>
        <p:nvSpPr>
          <p:cNvPr id="7" name="Rounded Rectangle 6"/>
          <p:cNvSpPr/>
          <p:nvPr/>
        </p:nvSpPr>
        <p:spPr>
          <a:xfrm>
            <a:off x="548640" y="3383280"/>
            <a:ext cx="5440680" cy="1298448"/>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3538728"/>
            <a:ext cx="5029200" cy="109728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Las notas no salen</a:t>
            </a:r>
          </a:p>
          <a:p>
            <a:pPr algn="l">
              <a:spcAft>
                <a:spcPts val="400"/>
              </a:spcAft>
            </a:pPr>
            <a:r>
              <a:rPr sz="1400" b="0" i="0">
                <a:solidFill>
                  <a:srgbClr val="0A0E1A"/>
                </a:solidFill>
                <a:latin typeface="Calibri"/>
              </a:rPr>
              <a:t>Falta el prefab en Prefab Nota, o la partitura está vacía.</a:t>
            </a:r>
          </a:p>
        </p:txBody>
      </p:sp>
      <p:sp>
        <p:nvSpPr>
          <p:cNvPr id="9" name="Rounded Rectangle 8"/>
          <p:cNvSpPr/>
          <p:nvPr/>
        </p:nvSpPr>
        <p:spPr>
          <a:xfrm>
            <a:off x="6172200" y="3383280"/>
            <a:ext cx="5440680" cy="1298448"/>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0" y="3538728"/>
            <a:ext cx="5029200" cy="109728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IndexOutOfRangeException</a:t>
            </a:r>
          </a:p>
          <a:p>
            <a:pPr algn="l">
              <a:spcAft>
                <a:spcPts val="400"/>
              </a:spcAft>
            </a:pPr>
            <a:r>
              <a:rPr sz="1400" b="0" i="0">
                <a:solidFill>
                  <a:srgbClr val="0A0E1A"/>
                </a:solidFill>
                <a:latin typeface="Calibri"/>
              </a:rPr>
              <a:t>Carriles tiene menos de 6 elementos.</a:t>
            </a:r>
          </a:p>
        </p:txBody>
      </p:sp>
      <p:sp>
        <p:nvSpPr>
          <p:cNvPr id="11" name="Rounded Rectangle 10"/>
          <p:cNvSpPr/>
          <p:nvPr/>
        </p:nvSpPr>
        <p:spPr>
          <a:xfrm>
            <a:off x="548640" y="4846320"/>
            <a:ext cx="5440680" cy="1298448"/>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5001768"/>
            <a:ext cx="5029200" cy="109728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Las notas van corridas</a:t>
            </a:r>
          </a:p>
          <a:p>
            <a:pPr algn="l">
              <a:spcAft>
                <a:spcPts val="400"/>
              </a:spcAft>
            </a:pPr>
            <a:r>
              <a:rPr sz="1400" b="0" i="0">
                <a:solidFill>
                  <a:srgbClr val="0A0E1A"/>
                </a:solidFill>
                <a:latin typeface="Calibri"/>
              </a:rPr>
              <a:t>Play On Awake quedó marcado en el Audio Source.</a:t>
            </a:r>
          </a:p>
        </p:txBody>
      </p:sp>
      <p:sp>
        <p:nvSpPr>
          <p:cNvPr id="13" name="Rounded Rectangle 12"/>
          <p:cNvSpPr/>
          <p:nvPr/>
        </p:nvSpPr>
        <p:spPr>
          <a:xfrm>
            <a:off x="6172200" y="4846320"/>
            <a:ext cx="5440680" cy="1298448"/>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0" y="5001768"/>
            <a:ext cx="5029200" cy="1097280"/>
          </a:xfrm>
          <a:prstGeom prst="rect">
            <a:avLst/>
          </a:prstGeom>
          <a:noFill/>
        </p:spPr>
        <p:txBody>
          <a:bodyPr wrap="square" lIns="0" rIns="0" tIns="0" bIns="0" anchor="t">
            <a:spAutoFit/>
          </a:bodyPr>
          <a:lstStyle/>
          <a:p>
            <a:pPr algn="l">
              <a:spcAft>
                <a:spcPts val="400"/>
              </a:spcAft>
            </a:pPr>
            <a:r>
              <a:rPr sz="1300" b="1" i="0">
                <a:solidFill>
                  <a:srgbClr val="B3261E"/>
                </a:solidFill>
                <a:latin typeface="Consolas"/>
              </a:rPr>
              <a:t>Suena otra canción</a:t>
            </a:r>
          </a:p>
          <a:p>
            <a:pPr algn="l">
              <a:spcAft>
                <a:spcPts val="400"/>
              </a:spcAft>
            </a:pPr>
            <a:r>
              <a:rPr sz="1400" b="0" i="0">
                <a:solidFill>
                  <a:srgbClr val="0A0E1A"/>
                </a:solidFill>
                <a:latin typeface="Calibri"/>
              </a:rPr>
              <a:t>El género del botón no se escribe igual que en la opción.</a:t>
            </a:r>
          </a:p>
        </p:txBody>
      </p:sp>
      <p:sp>
        <p:nvSpPr>
          <p:cNvPr id="15"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1 · Ritmo  ·  12 de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E9EEFB"/>
                </a:solidFill>
                <a:latin typeface="Cambria"/>
              </a:rPr>
              <a:t>Antes de salir, y lo que sigue</a:t>
            </a:r>
          </a:p>
        </p:txBody>
      </p:sp>
      <p:sp>
        <p:nvSpPr>
          <p:cNvPr id="4" name="TextBox 3"/>
          <p:cNvSpPr txBox="1"/>
          <p:nvPr/>
        </p:nvSpPr>
        <p:spPr>
          <a:xfrm>
            <a:off x="548640" y="17373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01_Menu y 02_Ritmo guardadas y en Build Settings.</a:t>
            </a:r>
          </a:p>
        </p:txBody>
      </p:sp>
      <p:sp>
        <p:nvSpPr>
          <p:cNvPr id="5" name="TextBox 4"/>
          <p:cNvSpPr txBox="1"/>
          <p:nvPr/>
        </p:nvSpPr>
        <p:spPr>
          <a:xfrm>
            <a:off x="548640" y="24231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Las tres canciones jugadas desde el menú.</a:t>
            </a:r>
          </a:p>
        </p:txBody>
      </p:sp>
      <p:sp>
        <p:nvSpPr>
          <p:cNvPr id="6" name="TextBox 5"/>
          <p:cNvSpPr txBox="1"/>
          <p:nvPr/>
        </p:nvSpPr>
        <p:spPr>
          <a:xfrm>
            <a:off x="548640" y="31089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Un video de un minuto jugando, con Windows + Alt + R.</a:t>
            </a:r>
          </a:p>
        </p:txBody>
      </p:sp>
      <p:sp>
        <p:nvSpPr>
          <p:cNvPr id="7" name="TextBox 6"/>
          <p:cNvSpPr txBox="1"/>
          <p:nvPr/>
        </p:nvSpPr>
        <p:spPr>
          <a:xfrm>
            <a:off x="548640" y="37947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resultados_Ritmo.csv copiado a tu carpeta de Drive.</a:t>
            </a:r>
          </a:p>
        </p:txBody>
      </p:sp>
      <p:sp>
        <p:nvSpPr>
          <p:cNvPr id="8" name="TextBox 7"/>
          <p:cNvSpPr txBox="1"/>
          <p:nvPr/>
        </p:nvSpPr>
        <p:spPr>
          <a:xfrm>
            <a:off x="548640" y="4480560"/>
            <a:ext cx="694944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En Barreras.docx, lo que no salió, con el número de diapositiva.</a:t>
            </a:r>
          </a:p>
        </p:txBody>
      </p:sp>
      <p:sp>
        <p:nvSpPr>
          <p:cNvPr id="9" name="Rounded Rectangle 8"/>
          <p:cNvSpPr/>
          <p:nvPr/>
        </p:nvSpPr>
        <p:spPr>
          <a:xfrm>
            <a:off x="7909560" y="1737360"/>
            <a:ext cx="3749039" cy="2514600"/>
          </a:xfrm>
          <a:prstGeom prst="roundRect">
            <a:avLst>
              <a:gd name="adj" fmla="val 5000"/>
            </a:avLst>
          </a:prstGeom>
          <a:solidFill>
            <a:srgbClr val="141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79" y="1965960"/>
            <a:ext cx="3246120" cy="2926080"/>
          </a:xfrm>
          <a:prstGeom prst="rect">
            <a:avLst/>
          </a:prstGeom>
          <a:noFill/>
        </p:spPr>
        <p:txBody>
          <a:bodyPr wrap="square" lIns="0" rIns="0" tIns="0" bIns="0" anchor="t">
            <a:spAutoFit/>
          </a:bodyPr>
          <a:lstStyle/>
          <a:p>
            <a:pPr algn="l">
              <a:spcAft>
                <a:spcPts val="800"/>
              </a:spcAft>
            </a:pPr>
            <a:r>
              <a:rPr sz="1300" b="1" i="0">
                <a:solidFill>
                  <a:srgbClr val="C59BFF"/>
                </a:solidFill>
                <a:latin typeface="Calibri"/>
              </a:rPr>
              <a:t>LO QUE SIGUE</a:t>
            </a:r>
          </a:p>
          <a:p>
            <a:pPr algn="l">
              <a:spcAft>
                <a:spcPts val="800"/>
              </a:spcAft>
            </a:pPr>
            <a:r>
              <a:rPr sz="2400" b="1" i="0">
                <a:solidFill>
                  <a:srgbClr val="E9EEFB"/>
                </a:solidFill>
                <a:latin typeface="Cambria"/>
              </a:rPr>
              <a:t>31 oct al 13 nov</a:t>
            </a:r>
          </a:p>
          <a:p>
            <a:pPr algn="l">
              <a:spcAft>
                <a:spcPts val="800"/>
              </a:spcAft>
            </a:pPr>
            <a:r>
              <a:rPr sz="1400" b="0" i="0">
                <a:solidFill>
                  <a:srgbClr val="94A4C6"/>
                </a:solidFill>
                <a:latin typeface="Calibri"/>
              </a:rPr>
              <a:t>Tu partitura propia, que lo pruebe alguien de fuera, y exportar el juego para la página web.</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1 · Ritmo  ·  13 de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