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Esta guía es la del rompecabezas. Les entrego las piezas probadas: los scripts, los dibujos, la música y los prefabs. Ustedes arman las escenas y conectan las piezas. Lo que ven a la derecha no es un dibujo de cómo quedaría: es el juego armado con estas mismas piezas, corriendo en la misma versión de Unity que ustedes tienen. Si algo no les funciona, no es que la pieza esté mala: casi siempre es una casilla del Inspector que quedó vacía.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Este es el mapa. Todo empieza en el menú. De ahí salen tres caminos: el juego fino de colorear, que al terminar pasa al runner con el personaje que pintaron; el camino; y el juego grueso. Los nombres de las escenas tienen número a propósito: así quedan en orden en la carpeta y en la lista de Build Settings. Escríbanlos exactamente así, porque los botones buscan la escena por su nombre.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Para que no se pierdan: a la izquierda lo que ya está hecho y probado, a la derecha lo que les toca. Fíjense que lo que les toca no es programar desde cero sino ensamblar. Eso también es desarrollo de videojuegos: en un estudio, una persona hace los scripts y otra arma las escenas.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Esta es la idea más importante de la guía. El DPI no se puede cambiar desde el juego, entonces hacemos un cursor propio. En fino lo multiplicamos por tres: un movimiento de milímetros cruza la pantalla, y eso obliga a la precisión de los dedos. En grueso lo multiplicamos por un cuarto: hay que mover el brazo. Ojo con la consecuencia: dentro del juego los botones normales no responden, por eso les di el BotonVirtual.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menú es la única escena con botones normales. Un consejo de tiempo: hagan un botón, déjenlo bonito y luego dupliquen con Control D. El objeto Navegacion es un objeto vacío que solo guarda dos scripts: CambiarEscena, que lleva de una escena a otra, y MenuDeOpciones, que guarda lo que eligió el jugador.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Aquí está el truco del menú. Un botón puede tener varias acciones en su On Click, y se ejecutan en orden. El botón de Runner Metal hace tres: pone la sensibilidad fina, guarda el género Metal y abre el runner. Si ponen IrA de primero, cambia de escena y las otras dos nunca corren. Ojo con Electronica: va sin tilde, porque así se llama la opción de la música.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Colorear tiene dos partes. Primero el personaje y el pincel. El Pincel copia la imagen al arrancar y pinta sobre la copia, así el dibujo original no se daña. Pinta solo lo blanco: la línea negra y el fondo transparente no se pintan nunca. Y mide dos cosas: cuánto del personaje pintaron y cuánto tiempo el pincel estuvo por fuera. Ese segundo dato es la precisión de la motricidad fina.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La segunda parte conecta todo con BotonVirtual. Las miniaturas llaman a CambiarDibujo con su imagen, y así se elige personaje sin otra escena. El botón Listo llama a Terminar, que guarda el personaje coloreado y abre el runner. Ese personaje pintado es el que va a correr en el nivel siguiente: es la conexión que ustedes pidieron entre los dos niveles.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camino lo inventa el script con dos ondas, a partir de un número que se llama semilla. Mismo número, mismo camino, y eso importa: si cada persona juega un camino distinto, los tiempos no se pueden comparar. Pueden hacer el camino más angosto con la casilla Ancho. Y no se puede hacer trampa cortando una curva: el avance solo cuenta si se hace por dentro.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runner tiene una regla: la música manda. El Conductor es el reloj, y todo se mueve según él. Musica Por Genero pone la canción, el BPM y el fondo del género que eligieron en el menú. Así hay una sola escena para los tres niveles, y no tres escenas casi iguales. Si cambian algo, lo cambian una vez.</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Y la otra mitad: el personaje sube y baja siguiendo al cursor, con la sensibilidad fina. Los obstáculos no se mueven un poquito cada cuadro: en cada cuadro se calcula dónde deben estar según cuántos pulsos faltan para que lleguen. Por eso llegan justo en el golpe de la música aunque el computador se ponga lento. La dificultad sube sola: en la segunda mitad llega uno por pulso, y metal va más rápido que rock.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juego grueso usa la sensibilidad de un cuarto, así que para cruzar la pantalla hay que mover el brazo. La zona salta lejos en cada escalón y se achica. El viaje hasta la zona nueva no se castiga: se mide aparte como tiempo de llegada, que es un dato muy bueno para su artículo. Lo que sí castiga es salirse después de haber entrado.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Este paso se repite en cada escena de juego y es corto. El prefab Pausa trae el botón de la esquina, el menú, la cuenta atrás y los ajustes. Lo único que escriben ustedes es el nombre del juego y la categoría, que decide el color. Esc pausa y continúa. El botón de pausa no es un botón normal sino un sprite, porque con el mouse capturado los botones del Canvas no responden.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Este es el error más común al final: el botón no lleva a ninguna parte y la consola dice que la escena no está en Build Settings. Unity solo puede abrir las escenas que estén en esa lista. Arrástrenlas, dejen el menú de primero, y hagan la prueba completa de la derecha, con las dos manos.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Esto es lo que convierte el juego en investigación. Cada partida queda como una fila, con la fecha, la mano y la sensibilidad. Su pregunta habla de tiempo de reacción y precisión: aquí están. Abran el archivo en Excel y van a ver las columnas listas para graficar. Esta fila es real: la dejó el juego armado con las piezas que tienen ustedes.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Seis errores que les van a salir, con su arreglo. El primero es el más común de todos: UnassignedReferenceException quiere decir que una casilla del Inspector está vacía, y el mensaje dice cuál. No es que el script esté malo: le falta que le digan con qué objeto trabajar.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Cierre. Lo mínimo para el 30 es que las cinco escenas existan y se puedan jugar de punta a punta. El video de un minuto y los CSV son la evidencia. Del 31 al 13 de noviembre viene iterar: que lo juegue alguien que no sea del equipo, anotar qué no entendió, ajustar; y al final exportarlo para la página del semillero.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B18"/>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C59BFF"/>
                </a:solidFill>
                <a:latin typeface="Calibri"/>
              </a:rPr>
              <a:t>Unity</a:t>
            </a:r>
          </a:p>
        </p:txBody>
      </p:sp>
      <p:sp>
        <p:nvSpPr>
          <p:cNvPr id="3" name="TextBox 2"/>
          <p:cNvSpPr txBox="1"/>
          <p:nvPr/>
        </p:nvSpPr>
        <p:spPr>
          <a:xfrm>
            <a:off x="548640" y="1371600"/>
            <a:ext cx="5669280" cy="365760"/>
          </a:xfrm>
          <a:prstGeom prst="rect">
            <a:avLst/>
          </a:prstGeom>
          <a:noFill/>
        </p:spPr>
        <p:txBody>
          <a:bodyPr wrap="square" lIns="0" rIns="0" tIns="0" bIns="0" anchor="t">
            <a:spAutoFit/>
          </a:bodyPr>
          <a:lstStyle/>
          <a:p>
            <a:pPr algn="l">
              <a:spcAft>
                <a:spcPts val="600"/>
              </a:spcAft>
            </a:pPr>
            <a:r>
              <a:rPr sz="1400" b="1" i="0">
                <a:solidFill>
                  <a:srgbClr val="C59BFF"/>
                </a:solidFill>
                <a:latin typeface="Calibri"/>
              </a:rPr>
              <a:t>GUÍA 1  ·  UNIR LAS PIEZAS</a:t>
            </a:r>
          </a:p>
        </p:txBody>
      </p:sp>
      <p:sp>
        <p:nvSpPr>
          <p:cNvPr id="4" name="Título"/>
          <p:cNvSpPr txBox="1"/>
          <p:nvPr/>
        </p:nvSpPr>
        <p:spPr>
          <a:xfrm>
            <a:off x="548640" y="1828800"/>
            <a:ext cx="5669280" cy="2194560"/>
          </a:xfrm>
          <a:prstGeom prst="rect">
            <a:avLst/>
          </a:prstGeom>
          <a:noFill/>
        </p:spPr>
        <p:txBody>
          <a:bodyPr wrap="square" lIns="0" rIns="0" tIns="0" bIns="0" anchor="t">
            <a:spAutoFit/>
          </a:bodyPr>
          <a:lstStyle/>
          <a:p>
            <a:pPr algn="l">
              <a:spcAft>
                <a:spcPts val="600"/>
              </a:spcAft>
            </a:pPr>
            <a:r>
              <a:rPr sz="4000" b="1" i="0">
                <a:solidFill>
                  <a:srgbClr val="E9EEFB"/>
                </a:solidFill>
                <a:latin typeface="Cambria"/>
              </a:rPr>
              <a:t>Cuatro minijuegos de motricidad, armados en Unity</a:t>
            </a:r>
          </a:p>
        </p:txBody>
      </p:sp>
      <p:sp>
        <p:nvSpPr>
          <p:cNvPr id="5" name="TextBox 4"/>
          <p:cNvSpPr txBox="1"/>
          <p:nvPr/>
        </p:nvSpPr>
        <p:spPr>
          <a:xfrm>
            <a:off x="548640" y="4206240"/>
            <a:ext cx="5486400" cy="1280160"/>
          </a:xfrm>
          <a:prstGeom prst="rect">
            <a:avLst/>
          </a:prstGeom>
          <a:noFill/>
        </p:spPr>
        <p:txBody>
          <a:bodyPr wrap="square" lIns="0" rIns="0" tIns="0" bIns="0" anchor="t">
            <a:spAutoFit/>
          </a:bodyPr>
          <a:lstStyle/>
          <a:p>
            <a:pPr algn="l">
              <a:spcAft>
                <a:spcPts val="600"/>
              </a:spcAft>
            </a:pPr>
            <a:r>
              <a:rPr sz="1500" b="0" i="0">
                <a:solidFill>
                  <a:srgbClr val="94A4C6"/>
                </a:solidFill>
                <a:latin typeface="Calibri"/>
              </a:rPr>
              <a:t>Equipo 10.1  ·  Unity 2019.4.38f1</a:t>
            </a:r>
          </a:p>
          <a:p>
            <a:pPr algn="l">
              <a:spcAft>
                <a:spcPts val="600"/>
              </a:spcAft>
            </a:pPr>
            <a:r>
              <a:rPr sz="1500" b="0" i="0">
                <a:solidFill>
                  <a:srgbClr val="94A4C6"/>
                </a:solidFill>
                <a:latin typeface="Calibri"/>
              </a:rPr>
              <a:t>Del 28 al 30 de octubre, y en clase hasta el 13 de noviembre.</a:t>
            </a:r>
          </a:p>
          <a:p>
            <a:pPr algn="l">
              <a:spcAft>
                <a:spcPts val="600"/>
              </a:spcAft>
            </a:pPr>
            <a:r>
              <a:rPr sz="1500" b="0" i="0">
                <a:solidFill>
                  <a:srgbClr val="94A4C6"/>
                </a:solidFill>
                <a:latin typeface="Calibri"/>
              </a:rPr>
              <a:t>Requisito: el kit importado (Guía 0, diapositivas 7 a 9) y el letrero Kit listo en verde.</a:t>
            </a:r>
          </a:p>
        </p:txBody>
      </p:sp>
      <p:sp>
        <p:nvSpPr>
          <p:cNvPr id="6" name="Rounded Rectangle 5"/>
          <p:cNvSpPr/>
          <p:nvPr/>
        </p:nvSpPr>
        <p:spPr>
          <a:xfrm>
            <a:off x="6501384" y="1380744"/>
            <a:ext cx="2542032" cy="1461897"/>
          </a:xfrm>
          <a:prstGeom prst="roundRect">
            <a:avLst>
              <a:gd name="adj" fmla="val 3000"/>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m10_colorear.png"/>
          <p:cNvPicPr>
            <a:picLocks noChangeAspect="1"/>
          </p:cNvPicPr>
          <p:nvPr/>
        </p:nvPicPr>
        <p:blipFill>
          <a:blip r:embed="rId2"/>
          <a:stretch>
            <a:fillRect/>
          </a:stretch>
        </p:blipFill>
        <p:spPr>
          <a:xfrm>
            <a:off x="6537960" y="1417320"/>
            <a:ext cx="2468880" cy="1388745"/>
          </a:xfrm>
          <a:prstGeom prst="rect">
            <a:avLst/>
          </a:prstGeom>
        </p:spPr>
      </p:pic>
      <p:sp>
        <p:nvSpPr>
          <p:cNvPr id="8" name="Rounded Rectangle 7"/>
          <p:cNvSpPr/>
          <p:nvPr/>
        </p:nvSpPr>
        <p:spPr>
          <a:xfrm>
            <a:off x="9107424" y="1380744"/>
            <a:ext cx="2542032" cy="1461897"/>
          </a:xfrm>
          <a:prstGeom prst="roundRect">
            <a:avLst>
              <a:gd name="adj" fmla="val 3000"/>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m12_runner.png"/>
          <p:cNvPicPr>
            <a:picLocks noChangeAspect="1"/>
          </p:cNvPicPr>
          <p:nvPr/>
        </p:nvPicPr>
        <p:blipFill>
          <a:blip r:embed="rId3"/>
          <a:stretch>
            <a:fillRect/>
          </a:stretch>
        </p:blipFill>
        <p:spPr>
          <a:xfrm>
            <a:off x="9144000" y="1417320"/>
            <a:ext cx="2468880" cy="1388745"/>
          </a:xfrm>
          <a:prstGeom prst="rect">
            <a:avLst/>
          </a:prstGeom>
        </p:spPr>
      </p:pic>
      <p:sp>
        <p:nvSpPr>
          <p:cNvPr id="10" name="Rounded Rectangle 9"/>
          <p:cNvSpPr/>
          <p:nvPr/>
        </p:nvSpPr>
        <p:spPr>
          <a:xfrm>
            <a:off x="6501384" y="3346704"/>
            <a:ext cx="2542032" cy="1461897"/>
          </a:xfrm>
          <a:prstGeom prst="roundRect">
            <a:avLst>
              <a:gd name="adj" fmla="val 3000"/>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m11_camino.png"/>
          <p:cNvPicPr>
            <a:picLocks noChangeAspect="1"/>
          </p:cNvPicPr>
          <p:nvPr/>
        </p:nvPicPr>
        <p:blipFill>
          <a:blip r:embed="rId4"/>
          <a:stretch>
            <a:fillRect/>
          </a:stretch>
        </p:blipFill>
        <p:spPr>
          <a:xfrm>
            <a:off x="6537960" y="3383280"/>
            <a:ext cx="2468880" cy="1388745"/>
          </a:xfrm>
          <a:prstGeom prst="rect">
            <a:avLst/>
          </a:prstGeom>
        </p:spPr>
      </p:pic>
      <p:sp>
        <p:nvSpPr>
          <p:cNvPr id="12" name="Rounded Rectangle 11"/>
          <p:cNvSpPr/>
          <p:nvPr/>
        </p:nvSpPr>
        <p:spPr>
          <a:xfrm>
            <a:off x="9107424" y="3346704"/>
            <a:ext cx="2542032" cy="1461897"/>
          </a:xfrm>
          <a:prstGeom prst="roundRect">
            <a:avLst>
              <a:gd name="adj" fmla="val 3000"/>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m20_grueso.png"/>
          <p:cNvPicPr>
            <a:picLocks noChangeAspect="1"/>
          </p:cNvPicPr>
          <p:nvPr/>
        </p:nvPicPr>
        <p:blipFill>
          <a:blip r:embed="rId5"/>
          <a:stretch>
            <a:fillRect/>
          </a:stretch>
        </p:blipFill>
        <p:spPr>
          <a:xfrm>
            <a:off x="9144000" y="3383280"/>
            <a:ext cx="2468880" cy="1388745"/>
          </a:xfrm>
          <a:prstGeom prst="rect">
            <a:avLst/>
          </a:prstGeom>
        </p:spPr>
      </p:pic>
      <p:sp>
        <p:nvSpPr>
          <p:cNvPr id="14" name="TextBox 13"/>
          <p:cNvSpPr txBox="1"/>
          <p:nvPr/>
        </p:nvSpPr>
        <p:spPr>
          <a:xfrm>
            <a:off x="6537960" y="5440680"/>
            <a:ext cx="5120640" cy="548640"/>
          </a:xfrm>
          <a:prstGeom prst="rect">
            <a:avLst/>
          </a:prstGeom>
          <a:noFill/>
        </p:spPr>
        <p:txBody>
          <a:bodyPr wrap="square" lIns="0" rIns="0" tIns="0" bIns="0" anchor="t">
            <a:spAutoFit/>
          </a:bodyPr>
          <a:lstStyle/>
          <a:p>
            <a:pPr algn="l">
              <a:spcAft>
                <a:spcPts val="600"/>
              </a:spcAft>
            </a:pPr>
            <a:r>
              <a:rPr sz="1200" b="0" i="0">
                <a:solidFill>
                  <a:srgbClr val="94A4C6"/>
                </a:solidFill>
                <a:latin typeface="Calibri"/>
              </a:rPr>
              <a:t>Capturas del juego armado con las mismas piezas del kit, en Unity 2019.4.38f1.</a:t>
            </a:r>
          </a:p>
        </p:txBody>
      </p:sp>
      <p:sp>
        <p:nvSpPr>
          <p:cNvPr id="15"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94A4C6"/>
                </a:solidFill>
                <a:latin typeface="Calibri"/>
              </a:rPr>
              <a:t>Guía 1 · Motricidad  ·  1 de 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El mapa del juego: cinco escenas y un menú</a:t>
            </a:r>
          </a:p>
        </p:txBody>
      </p:sp>
      <p:sp>
        <p:nvSpPr>
          <p:cNvPr id="4" name="Rounded Rectangle 3"/>
          <p:cNvSpPr/>
          <p:nvPr/>
        </p:nvSpPr>
        <p:spPr>
          <a:xfrm>
            <a:off x="548640" y="1554480"/>
            <a:ext cx="2286000" cy="3703320"/>
          </a:xfrm>
          <a:prstGeom prst="roundRect">
            <a:avLst>
              <a:gd name="adj" fmla="val 8000"/>
            </a:avLst>
          </a:prstGeom>
          <a:solidFill>
            <a:srgbClr val="FFFFFF"/>
          </a:solidFill>
          <a:ln w="12700">
            <a:solidFill>
              <a:srgbClr val="0A0E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13232" y="1664207"/>
            <a:ext cx="2011680" cy="3520439"/>
          </a:xfrm>
          <a:prstGeom prst="rect">
            <a:avLst/>
          </a:prstGeom>
          <a:noFill/>
        </p:spPr>
        <p:txBody>
          <a:bodyPr wrap="square" lIns="0" rIns="0" tIns="0" bIns="0" anchor="t">
            <a:spAutoFit/>
          </a:bodyPr>
          <a:lstStyle/>
          <a:p>
            <a:pPr algn="l">
              <a:spcAft>
                <a:spcPts val="300"/>
              </a:spcAft>
            </a:pPr>
            <a:r>
              <a:rPr sz="1500" b="1" i="0">
                <a:solidFill>
                  <a:srgbClr val="0A0E1A"/>
                </a:solidFill>
                <a:latin typeface="Consolas"/>
              </a:rPr>
              <a:t>01_Menu</a:t>
            </a:r>
          </a:p>
          <a:p>
            <a:pPr algn="l">
              <a:spcAft>
                <a:spcPts val="300"/>
              </a:spcAft>
            </a:pPr>
            <a:r>
              <a:rPr sz="1300" b="0" i="0">
                <a:solidFill>
                  <a:srgbClr val="0A0E1A"/>
                </a:solidFill>
                <a:latin typeface="Calibri"/>
              </a:rPr>
              <a:t>Elige mano, juego, género o mundo</a:t>
            </a:r>
          </a:p>
        </p:txBody>
      </p:sp>
      <p:sp>
        <p:nvSpPr>
          <p:cNvPr id="6" name="Right Arrow 5"/>
          <p:cNvSpPr/>
          <p:nvPr/>
        </p:nvSpPr>
        <p:spPr>
          <a:xfrm>
            <a:off x="2926080" y="1874519"/>
            <a:ext cx="640080" cy="292608"/>
          </a:xfrm>
          <a:prstGeom prst="rightArrow">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ight Arrow 6"/>
          <p:cNvSpPr/>
          <p:nvPr/>
        </p:nvSpPr>
        <p:spPr>
          <a:xfrm>
            <a:off x="2926080" y="3246120"/>
            <a:ext cx="640080" cy="292608"/>
          </a:xfrm>
          <a:prstGeom prst="rightArrow">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ight Arrow 7"/>
          <p:cNvSpPr/>
          <p:nvPr/>
        </p:nvSpPr>
        <p:spPr>
          <a:xfrm>
            <a:off x="2926080" y="4617720"/>
            <a:ext cx="640080" cy="292608"/>
          </a:xfrm>
          <a:prstGeom prst="rightArrow">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3657600" y="1554480"/>
            <a:ext cx="2377440" cy="960120"/>
          </a:xfrm>
          <a:prstGeom prst="roundRect">
            <a:avLst>
              <a:gd name="adj" fmla="val 8000"/>
            </a:avLst>
          </a:prstGeom>
          <a:solidFill>
            <a:srgbClr val="FFFFFF"/>
          </a:solidFill>
          <a:ln w="12700">
            <a:solidFill>
              <a:srgbClr val="7317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22191" y="1664207"/>
            <a:ext cx="2103120" cy="777240"/>
          </a:xfrm>
          <a:prstGeom prst="rect">
            <a:avLst/>
          </a:prstGeom>
          <a:noFill/>
        </p:spPr>
        <p:txBody>
          <a:bodyPr wrap="square" lIns="0" rIns="0" tIns="0" bIns="0" anchor="t">
            <a:spAutoFit/>
          </a:bodyPr>
          <a:lstStyle/>
          <a:p>
            <a:pPr algn="l">
              <a:spcAft>
                <a:spcPts val="300"/>
              </a:spcAft>
            </a:pPr>
            <a:r>
              <a:rPr sz="1500" b="1" i="0">
                <a:solidFill>
                  <a:srgbClr val="7317C9"/>
                </a:solidFill>
                <a:latin typeface="Consolas"/>
              </a:rPr>
              <a:t>10_Colorear</a:t>
            </a:r>
          </a:p>
          <a:p>
            <a:pPr algn="l">
              <a:spcAft>
                <a:spcPts val="300"/>
              </a:spcAft>
            </a:pPr>
            <a:r>
              <a:rPr sz="1300" b="0" i="0">
                <a:solidFill>
                  <a:srgbClr val="0A0E1A"/>
                </a:solidFill>
                <a:latin typeface="Calibri"/>
              </a:rPr>
              <a:t>Pincel y paleta</a:t>
            </a:r>
          </a:p>
        </p:txBody>
      </p:sp>
      <p:sp>
        <p:nvSpPr>
          <p:cNvPr id="11" name="Right Arrow 10"/>
          <p:cNvSpPr/>
          <p:nvPr/>
        </p:nvSpPr>
        <p:spPr>
          <a:xfrm>
            <a:off x="6126480" y="1874519"/>
            <a:ext cx="548640" cy="292608"/>
          </a:xfrm>
          <a:prstGeom prst="rightArrow">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6766560" y="1554480"/>
            <a:ext cx="2377440" cy="960120"/>
          </a:xfrm>
          <a:prstGeom prst="roundRect">
            <a:avLst>
              <a:gd name="adj" fmla="val 8000"/>
            </a:avLst>
          </a:prstGeom>
          <a:solidFill>
            <a:srgbClr val="FFFFFF"/>
          </a:solidFill>
          <a:ln w="12700">
            <a:solidFill>
              <a:srgbClr val="7317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931152" y="1664207"/>
            <a:ext cx="2103120" cy="777240"/>
          </a:xfrm>
          <a:prstGeom prst="rect">
            <a:avLst/>
          </a:prstGeom>
          <a:noFill/>
        </p:spPr>
        <p:txBody>
          <a:bodyPr wrap="square" lIns="0" rIns="0" tIns="0" bIns="0" anchor="t">
            <a:spAutoFit/>
          </a:bodyPr>
          <a:lstStyle/>
          <a:p>
            <a:pPr algn="l">
              <a:spcAft>
                <a:spcPts val="300"/>
              </a:spcAft>
            </a:pPr>
            <a:r>
              <a:rPr sz="1500" b="1" i="0">
                <a:solidFill>
                  <a:srgbClr val="7317C9"/>
                </a:solidFill>
                <a:latin typeface="Consolas"/>
              </a:rPr>
              <a:t>12_Runner</a:t>
            </a:r>
          </a:p>
          <a:p>
            <a:pPr algn="l">
              <a:spcAft>
                <a:spcPts val="300"/>
              </a:spcAft>
            </a:pPr>
            <a:r>
              <a:rPr sz="1300" b="0" i="0">
                <a:solidFill>
                  <a:srgbClr val="0A0E1A"/>
                </a:solidFill>
                <a:latin typeface="Calibri"/>
              </a:rPr>
              <a:t>Esquivar al ritmo</a:t>
            </a:r>
          </a:p>
        </p:txBody>
      </p:sp>
      <p:sp>
        <p:nvSpPr>
          <p:cNvPr id="14" name="Rounded Rectangle 13"/>
          <p:cNvSpPr/>
          <p:nvPr/>
        </p:nvSpPr>
        <p:spPr>
          <a:xfrm>
            <a:off x="3657600" y="2926080"/>
            <a:ext cx="2377440" cy="960120"/>
          </a:xfrm>
          <a:prstGeom prst="roundRect">
            <a:avLst>
              <a:gd name="adj" fmla="val 8000"/>
            </a:avLst>
          </a:prstGeom>
          <a:solidFill>
            <a:srgbClr val="FFFFFF"/>
          </a:solidFill>
          <a:ln w="12700">
            <a:solidFill>
              <a:srgbClr val="7317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822191" y="3035808"/>
            <a:ext cx="2103120" cy="777240"/>
          </a:xfrm>
          <a:prstGeom prst="rect">
            <a:avLst/>
          </a:prstGeom>
          <a:noFill/>
        </p:spPr>
        <p:txBody>
          <a:bodyPr wrap="square" lIns="0" rIns="0" tIns="0" bIns="0" anchor="t">
            <a:spAutoFit/>
          </a:bodyPr>
          <a:lstStyle/>
          <a:p>
            <a:pPr algn="l">
              <a:spcAft>
                <a:spcPts val="300"/>
              </a:spcAft>
            </a:pPr>
            <a:r>
              <a:rPr sz="1500" b="1" i="0">
                <a:solidFill>
                  <a:srgbClr val="7317C9"/>
                </a:solidFill>
                <a:latin typeface="Consolas"/>
              </a:rPr>
              <a:t>11_Camino</a:t>
            </a:r>
          </a:p>
          <a:p>
            <a:pPr algn="l">
              <a:spcAft>
                <a:spcPts val="300"/>
              </a:spcAft>
            </a:pPr>
            <a:r>
              <a:rPr sz="1300" b="0" i="0">
                <a:solidFill>
                  <a:srgbClr val="0A0E1A"/>
                </a:solidFill>
                <a:latin typeface="Calibri"/>
              </a:rPr>
              <a:t>Recorrer sin salirse</a:t>
            </a:r>
          </a:p>
        </p:txBody>
      </p:sp>
      <p:sp>
        <p:nvSpPr>
          <p:cNvPr id="16" name="Rounded Rectangle 15"/>
          <p:cNvSpPr/>
          <p:nvPr/>
        </p:nvSpPr>
        <p:spPr>
          <a:xfrm>
            <a:off x="3657600" y="4297680"/>
            <a:ext cx="2377440" cy="960120"/>
          </a:xfrm>
          <a:prstGeom prst="roundRect">
            <a:avLst>
              <a:gd name="adj" fmla="val 8000"/>
            </a:avLst>
          </a:prstGeom>
          <a:solidFill>
            <a:srgbClr val="FFFFFF"/>
          </a:solidFill>
          <a:ln w="12700">
            <a:solidFill>
              <a:srgbClr val="097A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822191" y="4407408"/>
            <a:ext cx="2103120" cy="777240"/>
          </a:xfrm>
          <a:prstGeom prst="rect">
            <a:avLst/>
          </a:prstGeom>
          <a:noFill/>
        </p:spPr>
        <p:txBody>
          <a:bodyPr wrap="square" lIns="0" rIns="0" tIns="0" bIns="0" anchor="t">
            <a:spAutoFit/>
          </a:bodyPr>
          <a:lstStyle/>
          <a:p>
            <a:pPr algn="l">
              <a:spcAft>
                <a:spcPts val="300"/>
              </a:spcAft>
            </a:pPr>
            <a:r>
              <a:rPr sz="1500" b="1" i="0">
                <a:solidFill>
                  <a:srgbClr val="097A41"/>
                </a:solidFill>
                <a:latin typeface="Consolas"/>
              </a:rPr>
              <a:t>20_Grueso</a:t>
            </a:r>
          </a:p>
          <a:p>
            <a:pPr algn="l">
              <a:spcAft>
                <a:spcPts val="300"/>
              </a:spcAft>
            </a:pPr>
            <a:r>
              <a:rPr sz="1300" b="0" i="0">
                <a:solidFill>
                  <a:srgbClr val="0A0E1A"/>
                </a:solidFill>
                <a:latin typeface="Calibri"/>
              </a:rPr>
              <a:t>Zona que se achica</a:t>
            </a:r>
          </a:p>
        </p:txBody>
      </p:sp>
      <p:sp>
        <p:nvSpPr>
          <p:cNvPr id="18" name="Rounded Rectangle 17"/>
          <p:cNvSpPr/>
          <p:nvPr/>
        </p:nvSpPr>
        <p:spPr>
          <a:xfrm>
            <a:off x="9418320" y="1554480"/>
            <a:ext cx="2240280" cy="2331720"/>
          </a:xfrm>
          <a:prstGeom prst="roundRect">
            <a:avLst>
              <a:gd name="adj" fmla="val 6000"/>
            </a:avLst>
          </a:prstGeom>
          <a:solidFill>
            <a:srgbClr val="F1E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01200" y="1691640"/>
            <a:ext cx="1920240" cy="2103120"/>
          </a:xfrm>
          <a:prstGeom prst="rect">
            <a:avLst/>
          </a:prstGeom>
          <a:noFill/>
        </p:spPr>
        <p:txBody>
          <a:bodyPr wrap="square" lIns="0" rIns="0" tIns="0" bIns="0" anchor="t">
            <a:spAutoFit/>
          </a:bodyPr>
          <a:lstStyle/>
          <a:p>
            <a:pPr algn="l">
              <a:spcAft>
                <a:spcPts val="400"/>
              </a:spcAft>
            </a:pPr>
            <a:r>
              <a:rPr sz="1300" b="1" i="0">
                <a:solidFill>
                  <a:srgbClr val="7317C9"/>
                </a:solidFill>
                <a:latin typeface="Calibri"/>
              </a:rPr>
              <a:t>FINO</a:t>
            </a:r>
          </a:p>
          <a:p>
            <a:pPr algn="l">
              <a:spcAft>
                <a:spcPts val="400"/>
              </a:spcAft>
            </a:pPr>
            <a:r>
              <a:rPr sz="1300" b="1" i="0">
                <a:solidFill>
                  <a:srgbClr val="0A0E1A"/>
                </a:solidFill>
                <a:latin typeface="Calibri"/>
              </a:rPr>
              <a:t>Sensibilidad x3</a:t>
            </a:r>
          </a:p>
          <a:p>
            <a:pPr algn="l">
              <a:spcAft>
                <a:spcPts val="400"/>
              </a:spcAft>
            </a:pPr>
            <a:r>
              <a:rPr sz="1300" b="0" i="0">
                <a:solidFill>
                  <a:srgbClr val="0A0E1A"/>
                </a:solidFill>
                <a:latin typeface="Calibri"/>
              </a:rPr>
              <a:t>Un movimiento de milímetros cruza la pantalla: trabajan los dedos y la muñeca.</a:t>
            </a:r>
          </a:p>
        </p:txBody>
      </p:sp>
      <p:sp>
        <p:nvSpPr>
          <p:cNvPr id="20" name="Rounded Rectangle 19"/>
          <p:cNvSpPr/>
          <p:nvPr/>
        </p:nvSpPr>
        <p:spPr>
          <a:xfrm>
            <a:off x="6766560" y="4069080"/>
            <a:ext cx="4892040" cy="1463040"/>
          </a:xfrm>
          <a:prstGeom prst="roundRect">
            <a:avLst>
              <a:gd name="adj" fmla="val 6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949440" y="4206240"/>
            <a:ext cx="4572000" cy="1280160"/>
          </a:xfrm>
          <a:prstGeom prst="rect">
            <a:avLst/>
          </a:prstGeom>
          <a:noFill/>
        </p:spPr>
        <p:txBody>
          <a:bodyPr wrap="square" lIns="0" rIns="0" tIns="0" bIns="0" anchor="t">
            <a:spAutoFit/>
          </a:bodyPr>
          <a:lstStyle/>
          <a:p>
            <a:pPr algn="l">
              <a:spcAft>
                <a:spcPts val="400"/>
              </a:spcAft>
            </a:pPr>
            <a:r>
              <a:rPr sz="1300" b="1" i="0">
                <a:solidFill>
                  <a:srgbClr val="097A41"/>
                </a:solidFill>
                <a:latin typeface="Calibri"/>
              </a:rPr>
              <a:t>GRUESO</a:t>
            </a:r>
          </a:p>
          <a:p>
            <a:pPr algn="l">
              <a:spcAft>
                <a:spcPts val="400"/>
              </a:spcAft>
            </a:pPr>
            <a:r>
              <a:rPr sz="1300" b="1" i="0">
                <a:solidFill>
                  <a:srgbClr val="0A0E1A"/>
                </a:solidFill>
                <a:latin typeface="Calibri"/>
              </a:rPr>
              <a:t>Sensibilidad x0,25</a:t>
            </a:r>
          </a:p>
          <a:p>
            <a:pPr algn="l">
              <a:spcAft>
                <a:spcPts val="400"/>
              </a:spcAft>
            </a:pPr>
            <a:r>
              <a:rPr sz="1300" b="0" i="0">
                <a:solidFill>
                  <a:srgbClr val="0A0E1A"/>
                </a:solidFill>
                <a:latin typeface="Calibri"/>
              </a:rPr>
              <a:t>Hay que mover el mouse cuatro veces más: trabajan el codo y el hombro.</a:t>
            </a:r>
          </a:p>
        </p:txBody>
      </p:sp>
      <p:sp>
        <p:nvSpPr>
          <p:cNvPr id="22" name="TextBox 21"/>
          <p:cNvSpPr txBox="1"/>
          <p:nvPr/>
        </p:nvSpPr>
        <p:spPr>
          <a:xfrm>
            <a:off x="548640" y="5806440"/>
            <a:ext cx="11064240" cy="457200"/>
          </a:xfrm>
          <a:prstGeom prst="rect">
            <a:avLst/>
          </a:prstGeom>
          <a:noFill/>
        </p:spPr>
        <p:txBody>
          <a:bodyPr wrap="square" lIns="0" rIns="0" tIns="0" bIns="0" anchor="t">
            <a:spAutoFit/>
          </a:bodyPr>
          <a:lstStyle/>
          <a:p>
            <a:pPr algn="l">
              <a:spcAft>
                <a:spcPts val="600"/>
              </a:spcAft>
            </a:pPr>
            <a:r>
              <a:rPr sz="1400" b="0" i="0">
                <a:solidFill>
                  <a:srgbClr val="4F5C75"/>
                </a:solidFill>
                <a:latin typeface="Calibri"/>
              </a:rPr>
              <a:t>Cada caja es una escena. Cada flecha es un botón que llama CambiarEscena.IrA con el nombre de la escena.</a:t>
            </a:r>
          </a:p>
        </p:txBody>
      </p:sp>
      <p:sp>
        <p:nvSpPr>
          <p:cNvPr id="23"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1 · Motricidad  ·  2 de 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Lo que viene hecho y lo que armas tú</a:t>
            </a:r>
          </a:p>
        </p:txBody>
      </p:sp>
      <p:sp>
        <p:nvSpPr>
          <p:cNvPr id="4" name="Rounded Rectangle 3"/>
          <p:cNvSpPr/>
          <p:nvPr/>
        </p:nvSpPr>
        <p:spPr>
          <a:xfrm>
            <a:off x="548640" y="1600200"/>
            <a:ext cx="5486400" cy="4206240"/>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783080"/>
            <a:ext cx="5029200" cy="365760"/>
          </a:xfrm>
          <a:prstGeom prst="rect">
            <a:avLst/>
          </a:prstGeom>
          <a:noFill/>
        </p:spPr>
        <p:txBody>
          <a:bodyPr wrap="square" lIns="0" rIns="0" tIns="0" bIns="0" anchor="t">
            <a:spAutoFit/>
          </a:bodyPr>
          <a:lstStyle/>
          <a:p>
            <a:pPr algn="l">
              <a:spcAft>
                <a:spcPts val="600"/>
              </a:spcAft>
            </a:pPr>
            <a:r>
              <a:rPr sz="1800" b="1" i="0">
                <a:solidFill>
                  <a:srgbClr val="0A0E1A"/>
                </a:solidFill>
                <a:latin typeface="Calibri"/>
              </a:rPr>
              <a:t>Viene hecho en el kit</a:t>
            </a:r>
          </a:p>
        </p:txBody>
      </p:sp>
      <p:sp>
        <p:nvSpPr>
          <p:cNvPr id="6" name="TextBox 5"/>
          <p:cNvSpPr txBox="1"/>
          <p:nvPr/>
        </p:nvSpPr>
        <p:spPr>
          <a:xfrm>
            <a:off x="822960" y="2286000"/>
            <a:ext cx="5029200" cy="3474720"/>
          </a:xfrm>
          <a:prstGeom prst="rect">
            <a:avLst/>
          </a:prstGeom>
          <a:noFill/>
        </p:spPr>
        <p:txBody>
          <a:bodyPr wrap="square" lIns="0" rIns="0" tIns="0" bIns="0" anchor="t">
            <a:spAutoFit/>
          </a:bodyPr>
          <a:lstStyle/>
          <a:p>
            <a:pPr algn="l">
              <a:spcAft>
                <a:spcPts val="1000"/>
              </a:spcAft>
            </a:pPr>
            <a:r>
              <a:rPr sz="1500" b="1" i="0">
                <a:solidFill>
                  <a:srgbClr val="7317C9"/>
                </a:solidFill>
                <a:latin typeface="Calibri"/>
              </a:rPr>
              <a:t>Prefabs  </a:t>
            </a:r>
            <a:r>
              <a:rPr sz="1500" b="0" i="0">
                <a:solidFill>
                  <a:srgbClr val="0A0E1A"/>
                </a:solidFill>
                <a:latin typeface="Calibri"/>
              </a:rPr>
              <a:t>Cursor, Pausa, PantallaFinal, BotonListo, ColorDePaleta, Pua, Sierra</a:t>
            </a:r>
          </a:p>
          <a:p>
            <a:pPr algn="l">
              <a:spcAft>
                <a:spcPts val="1000"/>
              </a:spcAft>
            </a:pPr>
            <a:r>
              <a:rPr sz="1500" b="1" i="0">
                <a:solidFill>
                  <a:srgbClr val="7317C9"/>
                </a:solidFill>
                <a:latin typeface="Calibri"/>
              </a:rPr>
              <a:t>Scripts  </a:t>
            </a:r>
            <a:r>
              <a:rPr sz="1500" b="0" i="0">
                <a:solidFill>
                  <a:srgbClr val="0A0E1A"/>
                </a:solidFill>
                <a:latin typeface="Calibri"/>
              </a:rPr>
              <a:t>Pincel, CaminoPreciso, PersonajeCorredor, GeneradorDeObstaculos, ZonaQueSeAchica y los comunes</a:t>
            </a:r>
          </a:p>
          <a:p>
            <a:pPr algn="l">
              <a:spcAft>
                <a:spcPts val="1000"/>
              </a:spcAft>
            </a:pPr>
            <a:r>
              <a:rPr sz="1500" b="1" i="0">
                <a:solidFill>
                  <a:srgbClr val="7317C9"/>
                </a:solidFill>
                <a:latin typeface="Calibri"/>
              </a:rPr>
              <a:t>Dibujos  </a:t>
            </a:r>
            <a:r>
              <a:rPr sz="1500" b="0" i="0">
                <a:solidFill>
                  <a:srgbClr val="0A0E1A"/>
                </a:solidFill>
                <a:latin typeface="Calibri"/>
              </a:rPr>
              <a:t>tres personajes para colorear, seis fondos, obstáculos y la mira</a:t>
            </a:r>
          </a:p>
          <a:p>
            <a:pPr algn="l">
              <a:spcAft>
                <a:spcPts val="1000"/>
              </a:spcAft>
            </a:pPr>
            <a:r>
              <a:rPr sz="1500" b="1" i="0">
                <a:solidFill>
                  <a:srgbClr val="7317C9"/>
                </a:solidFill>
                <a:latin typeface="Calibri"/>
              </a:rPr>
              <a:t>Música  </a:t>
            </a:r>
            <a:r>
              <a:rPr sz="1500" b="0" i="0">
                <a:solidFill>
                  <a:srgbClr val="0A0E1A"/>
                </a:solidFill>
                <a:latin typeface="Calibri"/>
              </a:rPr>
              <a:t>rock a 120, electrónica a 128 y metal a 160 BPM, original y libre de derechos</a:t>
            </a:r>
          </a:p>
        </p:txBody>
      </p:sp>
      <p:sp>
        <p:nvSpPr>
          <p:cNvPr id="7" name="Rounded Rectangle 6"/>
          <p:cNvSpPr/>
          <p:nvPr/>
        </p:nvSpPr>
        <p:spPr>
          <a:xfrm>
            <a:off x="6355080" y="1600200"/>
            <a:ext cx="5303520" cy="4206240"/>
          </a:xfrm>
          <a:prstGeom prst="roundRect">
            <a:avLst>
              <a:gd name="adj" fmla="val 6000"/>
            </a:avLst>
          </a:prstGeom>
          <a:solidFill>
            <a:srgbClr val="F1E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629400" y="1783080"/>
            <a:ext cx="4846320" cy="365760"/>
          </a:xfrm>
          <a:prstGeom prst="rect">
            <a:avLst/>
          </a:prstGeom>
          <a:noFill/>
        </p:spPr>
        <p:txBody>
          <a:bodyPr wrap="square" lIns="0" rIns="0" tIns="0" bIns="0" anchor="t">
            <a:spAutoFit/>
          </a:bodyPr>
          <a:lstStyle/>
          <a:p>
            <a:pPr algn="l">
              <a:spcAft>
                <a:spcPts val="600"/>
              </a:spcAft>
            </a:pPr>
            <a:r>
              <a:rPr sz="1800" b="1" i="0">
                <a:solidFill>
                  <a:srgbClr val="0A0E1A"/>
                </a:solidFill>
                <a:latin typeface="Calibri"/>
              </a:rPr>
              <a:t>Lo armas tú</a:t>
            </a:r>
          </a:p>
        </p:txBody>
      </p:sp>
      <p:sp>
        <p:nvSpPr>
          <p:cNvPr id="9" name="Oval 8"/>
          <p:cNvSpPr/>
          <p:nvPr/>
        </p:nvSpPr>
        <p:spPr>
          <a:xfrm>
            <a:off x="6629400" y="233172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7132320" y="2350008"/>
            <a:ext cx="434340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Las cinco escenas, con sus objetos.</a:t>
            </a:r>
          </a:p>
        </p:txBody>
      </p:sp>
      <p:sp>
        <p:nvSpPr>
          <p:cNvPr id="11" name="Oval 10"/>
          <p:cNvSpPr/>
          <p:nvPr/>
        </p:nvSpPr>
        <p:spPr>
          <a:xfrm>
            <a:off x="6629400" y="2935224"/>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7132320" y="2953512"/>
            <a:ext cx="434340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Arrastrar cada pieza a su objeto.</a:t>
            </a:r>
          </a:p>
        </p:txBody>
      </p:sp>
      <p:sp>
        <p:nvSpPr>
          <p:cNvPr id="13" name="Oval 12"/>
          <p:cNvSpPr/>
          <p:nvPr/>
        </p:nvSpPr>
        <p:spPr>
          <a:xfrm>
            <a:off x="6629400" y="3538728"/>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7132320" y="3557016"/>
            <a:ext cx="434340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Llenar las casillas del Inspector.</a:t>
            </a:r>
          </a:p>
        </p:txBody>
      </p:sp>
      <p:sp>
        <p:nvSpPr>
          <p:cNvPr id="15" name="Oval 14"/>
          <p:cNvSpPr/>
          <p:nvPr/>
        </p:nvSpPr>
        <p:spPr>
          <a:xfrm>
            <a:off x="6629400" y="4142231"/>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7132320" y="4160519"/>
            <a:ext cx="434340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Conectar los botones del menú.</a:t>
            </a:r>
          </a:p>
        </p:txBody>
      </p:sp>
      <p:sp>
        <p:nvSpPr>
          <p:cNvPr id="17" name="Oval 16"/>
          <p:cNvSpPr/>
          <p:nvPr/>
        </p:nvSpPr>
        <p:spPr>
          <a:xfrm>
            <a:off x="6629400" y="4745736"/>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18" name="TextBox 17"/>
          <p:cNvSpPr txBox="1"/>
          <p:nvPr/>
        </p:nvSpPr>
        <p:spPr>
          <a:xfrm>
            <a:off x="7132320" y="4764023"/>
            <a:ext cx="434340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La lista de escenas en Build Settings.</a:t>
            </a:r>
          </a:p>
        </p:txBody>
      </p:sp>
      <p:sp>
        <p:nvSpPr>
          <p:cNvPr id="19" name="Rounded Rectangle 18"/>
          <p:cNvSpPr/>
          <p:nvPr/>
        </p:nvSpPr>
        <p:spPr>
          <a:xfrm>
            <a:off x="548640" y="5943600"/>
            <a:ext cx="11109960" cy="411480"/>
          </a:xfrm>
          <a:prstGeom prst="roundRect">
            <a:avLst>
              <a:gd name="adj" fmla="val 8000"/>
            </a:avLst>
          </a:prstGeom>
          <a:solidFill>
            <a:srgbClr val="FC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77240" y="6108192"/>
            <a:ext cx="10652760" cy="137160"/>
          </a:xfrm>
          <a:prstGeom prst="rect">
            <a:avLst/>
          </a:prstGeom>
          <a:noFill/>
        </p:spPr>
        <p:txBody>
          <a:bodyPr wrap="square" lIns="0" rIns="0" tIns="0" bIns="0" anchor="t">
            <a:spAutoFit/>
          </a:bodyPr>
          <a:lstStyle/>
          <a:p>
            <a:pPr algn="l">
              <a:spcAft>
                <a:spcPts val="400"/>
              </a:spcAft>
            </a:pPr>
            <a:r>
              <a:rPr sz="1300" b="1" i="0">
                <a:solidFill>
                  <a:srgbClr val="875A00"/>
                </a:solidFill>
                <a:latin typeface="Calibri"/>
              </a:rPr>
              <a:t>!  Si algo no funciona, revisa primero las casillas vacías del Inspector: es la causa de casi todo.</a:t>
            </a:r>
          </a:p>
        </p:txBody>
      </p:sp>
      <p:sp>
        <p:nvSpPr>
          <p:cNvPr id="21"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1 · Motricidad  ·  3 de 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La idea que sostiene los dos juegos: el cursor virtual</a:t>
            </a:r>
          </a:p>
        </p:txBody>
      </p:sp>
      <p:sp>
        <p:nvSpPr>
          <p:cNvPr id="4" name="Rounded Rectangle 3"/>
          <p:cNvSpPr/>
          <p:nvPr/>
        </p:nvSpPr>
        <p:spPr>
          <a:xfrm>
            <a:off x="548640" y="1600200"/>
            <a:ext cx="3566160" cy="2240280"/>
          </a:xfrm>
          <a:prstGeom prst="roundRect">
            <a:avLst>
              <a:gd name="adj" fmla="val 6000"/>
            </a:avLst>
          </a:prstGeom>
          <a:solidFill>
            <a:srgbClr val="F1E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737360"/>
            <a:ext cx="3108960" cy="2011680"/>
          </a:xfrm>
          <a:prstGeom prst="rect">
            <a:avLst/>
          </a:prstGeom>
          <a:noFill/>
        </p:spPr>
        <p:txBody>
          <a:bodyPr wrap="square" lIns="0" rIns="0" tIns="0" bIns="0" anchor="t">
            <a:spAutoFit/>
          </a:bodyPr>
          <a:lstStyle/>
          <a:p>
            <a:pPr algn="l">
              <a:spcAft>
                <a:spcPts val="200"/>
              </a:spcAft>
            </a:pPr>
            <a:r>
              <a:rPr sz="6000" b="1" i="0">
                <a:solidFill>
                  <a:srgbClr val="7317C9"/>
                </a:solidFill>
                <a:latin typeface="Cambria"/>
              </a:rPr>
              <a:t>x3</a:t>
            </a:r>
          </a:p>
          <a:p>
            <a:pPr algn="l">
              <a:spcAft>
                <a:spcPts val="200"/>
              </a:spcAft>
            </a:pPr>
            <a:r>
              <a:rPr sz="1500" b="1" i="0">
                <a:solidFill>
                  <a:srgbClr val="0A0E1A"/>
                </a:solidFill>
                <a:latin typeface="Calibri"/>
              </a:rPr>
              <a:t>Fino: poca mano, mucha pantalla</a:t>
            </a:r>
          </a:p>
        </p:txBody>
      </p:sp>
      <p:sp>
        <p:nvSpPr>
          <p:cNvPr id="6" name="Rounded Rectangle 5"/>
          <p:cNvSpPr/>
          <p:nvPr/>
        </p:nvSpPr>
        <p:spPr>
          <a:xfrm>
            <a:off x="548640" y="4023360"/>
            <a:ext cx="3566160" cy="2240280"/>
          </a:xfrm>
          <a:prstGeom prst="roundRect">
            <a:avLst>
              <a:gd name="adj" fmla="val 6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160520"/>
            <a:ext cx="3108960" cy="2011680"/>
          </a:xfrm>
          <a:prstGeom prst="rect">
            <a:avLst/>
          </a:prstGeom>
          <a:noFill/>
        </p:spPr>
        <p:txBody>
          <a:bodyPr wrap="square" lIns="0" rIns="0" tIns="0" bIns="0" anchor="t">
            <a:spAutoFit/>
          </a:bodyPr>
          <a:lstStyle/>
          <a:p>
            <a:pPr algn="l">
              <a:spcAft>
                <a:spcPts val="200"/>
              </a:spcAft>
            </a:pPr>
            <a:r>
              <a:rPr sz="6000" b="1" i="0">
                <a:solidFill>
                  <a:srgbClr val="097A41"/>
                </a:solidFill>
                <a:latin typeface="Cambria"/>
              </a:rPr>
              <a:t>x0,25</a:t>
            </a:r>
          </a:p>
          <a:p>
            <a:pPr algn="l">
              <a:spcAft>
                <a:spcPts val="200"/>
              </a:spcAft>
            </a:pPr>
            <a:r>
              <a:rPr sz="1500" b="1" i="0">
                <a:solidFill>
                  <a:srgbClr val="0A0E1A"/>
                </a:solidFill>
                <a:latin typeface="Calibri"/>
              </a:rPr>
              <a:t>Grueso: mucho brazo, poca pantalla</a:t>
            </a:r>
          </a:p>
        </p:txBody>
      </p:sp>
      <p:sp>
        <p:nvSpPr>
          <p:cNvPr id="8" name="TextBox 7"/>
          <p:cNvSpPr txBox="1"/>
          <p:nvPr/>
        </p:nvSpPr>
        <p:spPr>
          <a:xfrm>
            <a:off x="4480560" y="1645920"/>
            <a:ext cx="7178040" cy="2377440"/>
          </a:xfrm>
          <a:prstGeom prst="rect">
            <a:avLst/>
          </a:prstGeom>
          <a:noFill/>
        </p:spPr>
        <p:txBody>
          <a:bodyPr wrap="square" lIns="0" rIns="0" tIns="0" bIns="0" anchor="t">
            <a:spAutoFit/>
          </a:bodyPr>
          <a:lstStyle/>
          <a:p>
            <a:pPr algn="l">
              <a:spcAft>
                <a:spcPts val="1200"/>
              </a:spcAft>
            </a:pPr>
            <a:r>
              <a:rPr sz="1600" b="0" i="0">
                <a:solidFill>
                  <a:srgbClr val="0A0E1A"/>
                </a:solidFill>
                <a:latin typeface="Calibri"/>
              </a:rPr>
              <a:t>Un juego no puede cambiar el DPI del mouse: es del aparato. Tampoco conviene cambiar la velocidad del puntero en Windows, porque queda cambiada para el siguiente que use el computador.</a:t>
            </a:r>
          </a:p>
          <a:p>
            <a:pPr algn="l">
              <a:spcAft>
                <a:spcPts val="1200"/>
              </a:spcAft>
            </a:pPr>
            <a:r>
              <a:rPr sz="1600" b="0" i="0">
                <a:solidFill>
                  <a:srgbClr val="0A0E1A"/>
                </a:solidFill>
                <a:latin typeface="Calibri"/>
              </a:rPr>
              <a:t>Por eso el prefab </a:t>
            </a:r>
            <a:r>
              <a:rPr sz="1600" b="1" i="0">
                <a:solidFill>
                  <a:srgbClr val="0A0E1A"/>
                </a:solidFill>
                <a:latin typeface="Calibri"/>
              </a:rPr>
              <a:t>Cursor</a:t>
            </a:r>
            <a:r>
              <a:rPr sz="1600" b="0" i="0">
                <a:solidFill>
                  <a:srgbClr val="0A0E1A"/>
                </a:solidFill>
                <a:latin typeface="Calibri"/>
              </a:rPr>
              <a:t> esconde el puntero real, lee cuánto se movió el mouse y lo multiplica por la sensibilidad que se eligió en el menú.</a:t>
            </a:r>
          </a:p>
        </p:txBody>
      </p:sp>
      <p:sp>
        <p:nvSpPr>
          <p:cNvPr id="9" name="Rounded Rectangle 8"/>
          <p:cNvSpPr/>
          <p:nvPr/>
        </p:nvSpPr>
        <p:spPr>
          <a:xfrm>
            <a:off x="4480560" y="4023360"/>
            <a:ext cx="7178040" cy="2240280"/>
          </a:xfrm>
          <a:prstGeom prst="roundRect">
            <a:avLst>
              <a:gd name="adj" fmla="val 8000"/>
            </a:avLst>
          </a:prstGeom>
          <a:solidFill>
            <a:srgbClr val="FC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709160" y="4187952"/>
            <a:ext cx="6720840" cy="1965960"/>
          </a:xfrm>
          <a:prstGeom prst="rect">
            <a:avLst/>
          </a:prstGeom>
          <a:noFill/>
        </p:spPr>
        <p:txBody>
          <a:bodyPr wrap="square" lIns="0" rIns="0" tIns="0" bIns="0" anchor="t">
            <a:spAutoFit/>
          </a:bodyPr>
          <a:lstStyle/>
          <a:p>
            <a:pPr algn="l">
              <a:spcAft>
                <a:spcPts val="400"/>
              </a:spcAft>
            </a:pPr>
            <a:r>
              <a:rPr sz="1400" b="1" i="0">
                <a:solidFill>
                  <a:srgbClr val="875A00"/>
                </a:solidFill>
                <a:latin typeface="Calibri"/>
              </a:rPr>
              <a:t>!  Consecuencia: en las escenas de juego no sirven los Button del Canvas</a:t>
            </a:r>
          </a:p>
          <a:p>
            <a:pPr algn="l">
              <a:spcAft>
                <a:spcPts val="400"/>
              </a:spcAft>
            </a:pPr>
            <a:r>
              <a:rPr sz="1400" b="0" i="0">
                <a:solidFill>
                  <a:srgbClr val="0A0E1A"/>
                </a:solidFill>
                <a:latin typeface="Calibri"/>
              </a:rPr>
              <a:t>Mientras el cursor virtual está activo, el puntero real queda quieto en el centro, y los Button solo escuchan al puntero real.</a:t>
            </a:r>
          </a:p>
          <a:p>
            <a:pPr algn="l">
              <a:spcAft>
                <a:spcPts val="400"/>
              </a:spcAft>
            </a:pPr>
            <a:r>
              <a:rPr sz="1400" b="0" i="0">
                <a:solidFill>
                  <a:srgbClr val="0A0E1A"/>
                </a:solidFill>
                <a:latin typeface="Calibri"/>
              </a:rPr>
              <a:t>Por eso los botones dentro del juego son </a:t>
            </a:r>
            <a:r>
              <a:rPr sz="1400" b="1" i="0">
                <a:solidFill>
                  <a:srgbClr val="0A0E1A"/>
                </a:solidFill>
                <a:latin typeface="Calibri"/>
              </a:rPr>
              <a:t>BotonVirtual</a:t>
            </a:r>
            <a:r>
              <a:rPr sz="1400" b="0" i="0">
                <a:solidFill>
                  <a:srgbClr val="0A0E1A"/>
                </a:solidFill>
                <a:latin typeface="Calibri"/>
              </a:rPr>
              <a:t>: un sprite con Collider 2D. Los menús sí usan Button normales.</a:t>
            </a:r>
          </a:p>
        </p:txBody>
      </p:sp>
      <p:sp>
        <p:nvSpPr>
          <p:cNvPr id="11"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1 · Motricidad  ·  4 de 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Escena 01_Menu: mano, juego, género y mundo</a:t>
            </a:r>
          </a:p>
        </p:txBody>
      </p:sp>
      <p:sp>
        <p:nvSpPr>
          <p:cNvPr id="4" name="Oval 3"/>
          <p:cNvSpPr/>
          <p:nvPr/>
        </p:nvSpPr>
        <p:spPr>
          <a:xfrm>
            <a:off x="548640" y="164592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5" name="TextBox 4"/>
          <p:cNvSpPr txBox="1"/>
          <p:nvPr/>
        </p:nvSpPr>
        <p:spPr>
          <a:xfrm>
            <a:off x="1051560" y="1664208"/>
            <a:ext cx="5074920" cy="502920"/>
          </a:xfrm>
          <a:prstGeom prst="rect">
            <a:avLst/>
          </a:prstGeom>
          <a:noFill/>
        </p:spPr>
        <p:txBody>
          <a:bodyPr wrap="square" lIns="0" rIns="0" tIns="0" bIns="0" anchor="t">
            <a:spAutoFit/>
          </a:bodyPr>
          <a:lstStyle/>
          <a:p>
            <a:pPr algn="l">
              <a:spcAft>
                <a:spcPts val="600"/>
              </a:spcAft>
            </a:pPr>
            <a:r>
              <a:rPr sz="1500" b="1" i="0">
                <a:solidFill>
                  <a:srgbClr val="0A0E1A"/>
                </a:solidFill>
                <a:latin typeface="Calibri"/>
              </a:rPr>
              <a:t>File &gt; New Scene</a:t>
            </a:r>
            <a:r>
              <a:rPr sz="1500" b="0" i="0">
                <a:solidFill>
                  <a:srgbClr val="0A0E1A"/>
                </a:solidFill>
                <a:latin typeface="Calibri"/>
              </a:rPr>
              <a:t>, y guárdala como 01_Menu en Assets/Escenas.</a:t>
            </a:r>
          </a:p>
        </p:txBody>
      </p:sp>
      <p:sp>
        <p:nvSpPr>
          <p:cNvPr id="6" name="Oval 5"/>
          <p:cNvSpPr/>
          <p:nvPr/>
        </p:nvSpPr>
        <p:spPr>
          <a:xfrm>
            <a:off x="548640" y="2304288"/>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7" name="TextBox 6"/>
          <p:cNvSpPr txBox="1"/>
          <p:nvPr/>
        </p:nvSpPr>
        <p:spPr>
          <a:xfrm>
            <a:off x="1051560" y="2322576"/>
            <a:ext cx="5074920" cy="502920"/>
          </a:xfrm>
          <a:prstGeom prst="rect">
            <a:avLst/>
          </a:prstGeom>
          <a:noFill/>
        </p:spPr>
        <p:txBody>
          <a:bodyPr wrap="square" lIns="0" rIns="0" tIns="0" bIns="0" anchor="t">
            <a:spAutoFit/>
          </a:bodyPr>
          <a:lstStyle/>
          <a:p>
            <a:pPr algn="l">
              <a:spcAft>
                <a:spcPts val="600"/>
              </a:spcAft>
            </a:pPr>
            <a:r>
              <a:rPr sz="1500" b="1" i="0">
                <a:solidFill>
                  <a:srgbClr val="0A0E1A"/>
                </a:solidFill>
                <a:latin typeface="Calibri"/>
              </a:rPr>
              <a:t>GameObject &gt; UI &gt; Button</a:t>
            </a:r>
            <a:r>
              <a:rPr sz="1500" b="0" i="0">
                <a:solidFill>
                  <a:srgbClr val="0A0E1A"/>
                </a:solidFill>
                <a:latin typeface="Calibri"/>
              </a:rPr>
              <a:t> crea el Canvas, el EventSystem y el primer botón.</a:t>
            </a:r>
          </a:p>
        </p:txBody>
      </p:sp>
      <p:sp>
        <p:nvSpPr>
          <p:cNvPr id="8" name="Oval 7"/>
          <p:cNvSpPr/>
          <p:nvPr/>
        </p:nvSpPr>
        <p:spPr>
          <a:xfrm>
            <a:off x="548640" y="2962656"/>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9" name="TextBox 8"/>
          <p:cNvSpPr txBox="1"/>
          <p:nvPr/>
        </p:nvSpPr>
        <p:spPr>
          <a:xfrm>
            <a:off x="1051560" y="2980944"/>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Clic derecho en Canvas &gt; Create Empty: llámalo </a:t>
            </a:r>
            <a:r>
              <a:rPr sz="1500" b="1" i="0">
                <a:solidFill>
                  <a:srgbClr val="0A0E1A"/>
                </a:solidFill>
                <a:latin typeface="Calibri"/>
              </a:rPr>
              <a:t>Navegacion</a:t>
            </a:r>
            <a:r>
              <a:rPr sz="1500" b="0" i="0">
                <a:solidFill>
                  <a:srgbClr val="0A0E1A"/>
                </a:solidFill>
                <a:latin typeface="Calibri"/>
              </a:rPr>
              <a:t>.</a:t>
            </a:r>
          </a:p>
        </p:txBody>
      </p:sp>
      <p:sp>
        <p:nvSpPr>
          <p:cNvPr id="10" name="Oval 9"/>
          <p:cNvSpPr/>
          <p:nvPr/>
        </p:nvSpPr>
        <p:spPr>
          <a:xfrm>
            <a:off x="548640" y="3621024"/>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1" name="TextBox 10"/>
          <p:cNvSpPr txBox="1"/>
          <p:nvPr/>
        </p:nvSpPr>
        <p:spPr>
          <a:xfrm>
            <a:off x="1051560" y="3639312"/>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A Navegacion: Add Component </a:t>
            </a:r>
            <a:r>
              <a:rPr sz="1500" b="1" i="0">
                <a:solidFill>
                  <a:srgbClr val="0A0E1A"/>
                </a:solidFill>
                <a:latin typeface="Calibri"/>
              </a:rPr>
              <a:t>Cambiar Escena</a:t>
            </a:r>
            <a:r>
              <a:rPr sz="1500" b="0" i="0">
                <a:solidFill>
                  <a:srgbClr val="0A0E1A"/>
                </a:solidFill>
                <a:latin typeface="Calibri"/>
              </a:rPr>
              <a:t> y </a:t>
            </a:r>
            <a:r>
              <a:rPr sz="1500" b="1" i="0">
                <a:solidFill>
                  <a:srgbClr val="0A0E1A"/>
                </a:solidFill>
                <a:latin typeface="Calibri"/>
              </a:rPr>
              <a:t>Menu De Opciones</a:t>
            </a:r>
            <a:r>
              <a:rPr sz="1500" b="0" i="0">
                <a:solidFill>
                  <a:srgbClr val="0A0E1A"/>
                </a:solidFill>
                <a:latin typeface="Calibri"/>
              </a:rPr>
              <a:t>.</a:t>
            </a:r>
          </a:p>
        </p:txBody>
      </p:sp>
      <p:sp>
        <p:nvSpPr>
          <p:cNvPr id="12" name="Oval 11"/>
          <p:cNvSpPr/>
          <p:nvPr/>
        </p:nvSpPr>
        <p:spPr>
          <a:xfrm>
            <a:off x="548640" y="4279392"/>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13" name="TextBox 12"/>
          <p:cNvSpPr txBox="1"/>
          <p:nvPr/>
        </p:nvSpPr>
        <p:spPr>
          <a:xfrm>
            <a:off x="1051560" y="4297679"/>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Duplica el botón (Ctrl+D) hasta tener diez: dos de mano, cinco de fino, tres de grueso.</a:t>
            </a:r>
          </a:p>
        </p:txBody>
      </p:sp>
      <p:sp>
        <p:nvSpPr>
          <p:cNvPr id="14" name="Oval 13"/>
          <p:cNvSpPr/>
          <p:nvPr/>
        </p:nvSpPr>
        <p:spPr>
          <a:xfrm>
            <a:off x="548640" y="4937759"/>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6</a:t>
            </a:r>
          </a:p>
        </p:txBody>
      </p:sp>
      <p:sp>
        <p:nvSpPr>
          <p:cNvPr id="15" name="TextBox 14"/>
          <p:cNvSpPr txBox="1"/>
          <p:nvPr/>
        </p:nvSpPr>
        <p:spPr>
          <a:xfrm>
            <a:off x="1051560" y="4956047"/>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Cambia el texto de cada uno en su hijo Text.</a:t>
            </a:r>
          </a:p>
        </p:txBody>
      </p:sp>
      <p:sp>
        <p:nvSpPr>
          <p:cNvPr id="16" name="Rounded Rectangle 15"/>
          <p:cNvSpPr/>
          <p:nvPr/>
        </p:nvSpPr>
        <p:spPr>
          <a:xfrm>
            <a:off x="6409944" y="1609344"/>
            <a:ext cx="5285232" cy="3004947"/>
          </a:xfrm>
          <a:prstGeom prst="roundRect">
            <a:avLst>
              <a:gd name="adj" fmla="val 3000"/>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m01_menu.png"/>
          <p:cNvPicPr>
            <a:picLocks noChangeAspect="1"/>
          </p:cNvPicPr>
          <p:nvPr/>
        </p:nvPicPr>
        <p:blipFill>
          <a:blip r:embed="rId2"/>
          <a:stretch>
            <a:fillRect/>
          </a:stretch>
        </p:blipFill>
        <p:spPr>
          <a:xfrm>
            <a:off x="6446520" y="1645920"/>
            <a:ext cx="5212080" cy="2931795"/>
          </a:xfrm>
          <a:prstGeom prst="rect">
            <a:avLst/>
          </a:prstGeom>
        </p:spPr>
      </p:pic>
      <p:sp>
        <p:nvSpPr>
          <p:cNvPr id="18" name="TextBox 17"/>
          <p:cNvSpPr txBox="1"/>
          <p:nvPr/>
        </p:nvSpPr>
        <p:spPr>
          <a:xfrm>
            <a:off x="6446520" y="4687443"/>
            <a:ext cx="5212080" cy="320040"/>
          </a:xfrm>
          <a:prstGeom prst="rect">
            <a:avLst/>
          </a:prstGeom>
          <a:noFill/>
        </p:spPr>
        <p:txBody>
          <a:bodyPr wrap="square" lIns="0" rIns="0" tIns="0" bIns="0" anchor="t">
            <a:spAutoFit/>
          </a:bodyPr>
          <a:lstStyle/>
          <a:p>
            <a:pPr algn="l">
              <a:spcAft>
                <a:spcPts val="600"/>
              </a:spcAft>
            </a:pPr>
            <a:r>
              <a:rPr sz="1200" b="0" i="0">
                <a:solidFill>
                  <a:srgbClr val="4F5C75"/>
                </a:solidFill>
                <a:latin typeface="Calibri"/>
              </a:rPr>
              <a:t>Así queda el menú de referencia. Los colores separan fino de grueso.</a:t>
            </a:r>
          </a:p>
        </p:txBody>
      </p:sp>
      <p:sp>
        <p:nvSpPr>
          <p:cNvPr id="19" name="Rounded Rectangle 18"/>
          <p:cNvSpPr/>
          <p:nvPr/>
        </p:nvSpPr>
        <p:spPr>
          <a:xfrm>
            <a:off x="6446520" y="5126355"/>
            <a:ext cx="5212080" cy="960120"/>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675120" y="5290947"/>
            <a:ext cx="4754880" cy="685800"/>
          </a:xfrm>
          <a:prstGeom prst="rect">
            <a:avLst/>
          </a:prstGeom>
          <a:noFill/>
        </p:spPr>
        <p:txBody>
          <a:bodyPr wrap="square" lIns="0" rIns="0" tIns="0" bIns="0" anchor="t">
            <a:spAutoFit/>
          </a:bodyPr>
          <a:lstStyle/>
          <a:p>
            <a:pPr algn="l">
              <a:spcAft>
                <a:spcPts val="400"/>
              </a:spcAft>
            </a:pPr>
            <a:r>
              <a:rPr sz="1300" b="1" i="0">
                <a:solidFill>
                  <a:srgbClr val="097A41"/>
                </a:solidFill>
                <a:latin typeface="Calibri"/>
              </a:rPr>
              <a:t>✓  Cómo sabes que quedó</a:t>
            </a:r>
          </a:p>
          <a:p>
            <a:pPr algn="l">
              <a:spcAft>
                <a:spcPts val="400"/>
              </a:spcAft>
            </a:pPr>
            <a:r>
              <a:rPr sz="1300" b="0" i="0">
                <a:solidFill>
                  <a:srgbClr val="0A0E1A"/>
                </a:solidFill>
                <a:latin typeface="Calibri"/>
              </a:rPr>
              <a:t>Al darle Play se ven los diez botones y el texto de mano y sensibilidad.</a:t>
            </a:r>
          </a:p>
        </p:txBody>
      </p:sp>
      <p:sp>
        <p:nvSpPr>
          <p:cNvPr id="21"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1 · Motricidad  ·  5 de 17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Un botón puede hacer tres cosas, en orden</a:t>
            </a:r>
          </a:p>
        </p:txBody>
      </p:sp>
      <p:sp>
        <p:nvSpPr>
          <p:cNvPr id="4" name="TextBox 3"/>
          <p:cNvSpPr txBox="1"/>
          <p:nvPr/>
        </p:nvSpPr>
        <p:spPr>
          <a:xfrm>
            <a:off x="548640" y="1645920"/>
            <a:ext cx="5394960" cy="91440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En el botón "Runner Metal", recuadro </a:t>
            </a:r>
            <a:r>
              <a:rPr sz="1500" b="1" i="0">
                <a:solidFill>
                  <a:srgbClr val="0A0E1A"/>
                </a:solidFill>
                <a:latin typeface="Calibri"/>
              </a:rPr>
              <a:t>On Click ()</a:t>
            </a:r>
            <a:r>
              <a:rPr sz="1500" b="0" i="0">
                <a:solidFill>
                  <a:srgbClr val="0A0E1A"/>
                </a:solidFill>
                <a:latin typeface="Calibri"/>
              </a:rPr>
              <a:t>: pulsa el + tres veces y arrastra Navegacion a cada casilla.</a:t>
            </a:r>
          </a:p>
        </p:txBody>
      </p:sp>
      <p:sp>
        <p:nvSpPr>
          <p:cNvPr id="5" name="Rounded Rectangle 4"/>
          <p:cNvSpPr/>
          <p:nvPr/>
        </p:nvSpPr>
        <p:spPr>
          <a:xfrm>
            <a:off x="548640" y="2606040"/>
            <a:ext cx="5394960" cy="1600200"/>
          </a:xfrm>
          <a:prstGeom prst="roundRect">
            <a:avLst>
              <a:gd name="adj" fmla="val 5000"/>
            </a:avLst>
          </a:prstGeom>
          <a:solidFill>
            <a:srgbClr val="0F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2788920"/>
            <a:ext cx="4937760" cy="1325880"/>
          </a:xfrm>
          <a:prstGeom prst="rect">
            <a:avLst/>
          </a:prstGeom>
          <a:noFill/>
        </p:spPr>
        <p:txBody>
          <a:bodyPr wrap="square" lIns="0" rIns="0" tIns="0" bIns="0" anchor="t">
            <a:spAutoFit/>
          </a:bodyPr>
          <a:lstStyle/>
          <a:p>
            <a:pPr algn="l">
              <a:spcAft>
                <a:spcPts val="200"/>
              </a:spcAft>
            </a:pPr>
            <a:r>
              <a:rPr sz="1500" b="0" i="0">
                <a:solidFill>
                  <a:srgbClr val="E9EEFB"/>
                </a:solidFill>
                <a:latin typeface="Consolas"/>
              </a:rPr>
              <a:t>MenuDeOpciones.UsarSensibilidadFina</a:t>
            </a:r>
          </a:p>
          <a:p>
            <a:pPr algn="l">
              <a:spcAft>
                <a:spcPts val="200"/>
              </a:spcAft>
            </a:pPr>
            <a:r>
              <a:rPr sz="1500" b="0" i="0">
                <a:solidFill>
                  <a:srgbClr val="E9EEFB"/>
                </a:solidFill>
                <a:latin typeface="Consolas"/>
              </a:rPr>
              <a:t>MenuDeOpciones.ElegirGenero      "Metal"</a:t>
            </a:r>
          </a:p>
          <a:p>
            <a:pPr algn="l">
              <a:spcAft>
                <a:spcPts val="200"/>
              </a:spcAft>
            </a:pPr>
            <a:r>
              <a:rPr sz="1500" b="0" i="0">
                <a:solidFill>
                  <a:srgbClr val="E9EEFB"/>
                </a:solidFill>
                <a:latin typeface="Consolas"/>
              </a:rPr>
              <a:t>CambiarEscena.IrA                "12_Runner"</a:t>
            </a:r>
          </a:p>
        </p:txBody>
      </p:sp>
      <p:sp>
        <p:nvSpPr>
          <p:cNvPr id="7" name="TextBox 6"/>
          <p:cNvSpPr txBox="1"/>
          <p:nvPr/>
        </p:nvSpPr>
        <p:spPr>
          <a:xfrm>
            <a:off x="548640" y="4389120"/>
            <a:ext cx="5394960" cy="1828800"/>
          </a:xfrm>
          <a:prstGeom prst="rect">
            <a:avLst/>
          </a:prstGeom>
          <a:noFill/>
        </p:spPr>
        <p:txBody>
          <a:bodyPr wrap="square" lIns="0" rIns="0" tIns="0" bIns="0" anchor="t">
            <a:spAutoFit/>
          </a:bodyPr>
          <a:lstStyle/>
          <a:p>
            <a:pPr algn="l">
              <a:spcAft>
                <a:spcPts val="800"/>
              </a:spcAft>
            </a:pPr>
            <a:r>
              <a:rPr sz="1400" b="0" i="0">
                <a:solidFill>
                  <a:srgbClr val="0A0E1A"/>
                </a:solidFill>
                <a:latin typeface="Calibri"/>
              </a:rPr>
              <a:t>Se ejecutan de arriba abajo. IrA va siempre de último: si cambias de escena primero, las otras dos ya no corren.</a:t>
            </a:r>
          </a:p>
          <a:p>
            <a:pPr algn="l">
              <a:spcAft>
                <a:spcPts val="800"/>
              </a:spcAft>
            </a:pPr>
            <a:r>
              <a:rPr sz="1400" b="0" i="0">
                <a:solidFill>
                  <a:srgbClr val="0A0E1A"/>
                </a:solidFill>
                <a:latin typeface="Calibri"/>
              </a:rPr>
              <a:t>Los textos entre comillas se escriben en la casilla que aparece al elegir la función, </a:t>
            </a:r>
            <a:r>
              <a:rPr sz="1400" b="1" i="0">
                <a:solidFill>
                  <a:srgbClr val="0A0E1A"/>
                </a:solidFill>
                <a:latin typeface="Calibri"/>
              </a:rPr>
              <a:t>exactamente igual</a:t>
            </a:r>
            <a:r>
              <a:rPr sz="1400" b="0" i="0">
                <a:solidFill>
                  <a:srgbClr val="0A0E1A"/>
                </a:solidFill>
                <a:latin typeface="Calibri"/>
              </a:rPr>
              <a:t>.</a:t>
            </a:r>
          </a:p>
        </p:txBody>
      </p:sp>
      <p:sp>
        <p:nvSpPr>
          <p:cNvPr id="8" name="Rounded Rectangle 7"/>
          <p:cNvSpPr/>
          <p:nvPr/>
        </p:nvSpPr>
        <p:spPr>
          <a:xfrm>
            <a:off x="6309360" y="1645920"/>
            <a:ext cx="5349240" cy="4572000"/>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37960" y="1783080"/>
            <a:ext cx="4937760" cy="365760"/>
          </a:xfrm>
          <a:prstGeom prst="rect">
            <a:avLst/>
          </a:prstGeom>
          <a:noFill/>
        </p:spPr>
        <p:txBody>
          <a:bodyPr wrap="square" lIns="0" rIns="0" tIns="0" bIns="0" anchor="t">
            <a:spAutoFit/>
          </a:bodyPr>
          <a:lstStyle/>
          <a:p>
            <a:pPr algn="l">
              <a:spcAft>
                <a:spcPts val="600"/>
              </a:spcAft>
            </a:pPr>
            <a:r>
              <a:rPr sz="1700" b="1" i="0">
                <a:solidFill>
                  <a:srgbClr val="0A0E1A"/>
                </a:solidFill>
                <a:latin typeface="Calibri"/>
              </a:rPr>
              <a:t>Los diez botones</a:t>
            </a:r>
          </a:p>
        </p:txBody>
      </p:sp>
      <p:sp>
        <p:nvSpPr>
          <p:cNvPr id="10" name="TextBox 9"/>
          <p:cNvSpPr txBox="1"/>
          <p:nvPr/>
        </p:nvSpPr>
        <p:spPr>
          <a:xfrm>
            <a:off x="6537960" y="2286000"/>
            <a:ext cx="4937760" cy="530352"/>
          </a:xfrm>
          <a:prstGeom prst="rect">
            <a:avLst/>
          </a:prstGeom>
          <a:noFill/>
        </p:spPr>
        <p:txBody>
          <a:bodyPr wrap="square" lIns="0" rIns="0" tIns="0" bIns="0" anchor="t">
            <a:spAutoFit/>
          </a:bodyPr>
          <a:lstStyle/>
          <a:p>
            <a:pPr algn="l">
              <a:spcAft>
                <a:spcPts val="0"/>
              </a:spcAft>
            </a:pPr>
            <a:r>
              <a:rPr sz="1300" b="1" i="0">
                <a:solidFill>
                  <a:srgbClr val="0A0E1A"/>
                </a:solidFill>
                <a:latin typeface="Calibri"/>
              </a:rPr>
              <a:t>Mano derecha / izquierda</a:t>
            </a:r>
          </a:p>
          <a:p>
            <a:pPr algn="l">
              <a:spcAft>
                <a:spcPts val="0"/>
              </a:spcAft>
            </a:pPr>
            <a:r>
              <a:rPr sz="1200" b="0" i="0">
                <a:solidFill>
                  <a:srgbClr val="4F5C75"/>
                </a:solidFill>
                <a:latin typeface="Consolas"/>
              </a:rPr>
              <a:t>ElegirManoDerecha / Izquierda</a:t>
            </a:r>
          </a:p>
        </p:txBody>
      </p:sp>
      <p:sp>
        <p:nvSpPr>
          <p:cNvPr id="11" name="TextBox 10"/>
          <p:cNvSpPr txBox="1"/>
          <p:nvPr/>
        </p:nvSpPr>
        <p:spPr>
          <a:xfrm>
            <a:off x="6537960" y="2834640"/>
            <a:ext cx="4937760" cy="530352"/>
          </a:xfrm>
          <a:prstGeom prst="rect">
            <a:avLst/>
          </a:prstGeom>
          <a:noFill/>
        </p:spPr>
        <p:txBody>
          <a:bodyPr wrap="square" lIns="0" rIns="0" tIns="0" bIns="0" anchor="t">
            <a:spAutoFit/>
          </a:bodyPr>
          <a:lstStyle/>
          <a:p>
            <a:pPr algn="l">
              <a:spcAft>
                <a:spcPts val="0"/>
              </a:spcAft>
            </a:pPr>
            <a:r>
              <a:rPr sz="1300" b="1" i="0">
                <a:solidFill>
                  <a:srgbClr val="0A0E1A"/>
                </a:solidFill>
                <a:latin typeface="Calibri"/>
              </a:rPr>
              <a:t>Colorear</a:t>
            </a:r>
          </a:p>
          <a:p>
            <a:pPr algn="l">
              <a:spcAft>
                <a:spcPts val="0"/>
              </a:spcAft>
            </a:pPr>
            <a:r>
              <a:rPr sz="1200" b="0" i="0">
                <a:solidFill>
                  <a:srgbClr val="4F5C75"/>
                </a:solidFill>
                <a:latin typeface="Consolas"/>
              </a:rPr>
              <a:t>Fina · IrA 10_Colorear</a:t>
            </a:r>
          </a:p>
        </p:txBody>
      </p:sp>
      <p:sp>
        <p:nvSpPr>
          <p:cNvPr id="12" name="TextBox 11"/>
          <p:cNvSpPr txBox="1"/>
          <p:nvPr/>
        </p:nvSpPr>
        <p:spPr>
          <a:xfrm>
            <a:off x="6537960" y="3383280"/>
            <a:ext cx="4937760" cy="530352"/>
          </a:xfrm>
          <a:prstGeom prst="rect">
            <a:avLst/>
          </a:prstGeom>
          <a:noFill/>
        </p:spPr>
        <p:txBody>
          <a:bodyPr wrap="square" lIns="0" rIns="0" tIns="0" bIns="0" anchor="t">
            <a:spAutoFit/>
          </a:bodyPr>
          <a:lstStyle/>
          <a:p>
            <a:pPr algn="l">
              <a:spcAft>
                <a:spcPts val="0"/>
              </a:spcAft>
            </a:pPr>
            <a:r>
              <a:rPr sz="1300" b="1" i="0">
                <a:solidFill>
                  <a:srgbClr val="0A0E1A"/>
                </a:solidFill>
                <a:latin typeface="Calibri"/>
              </a:rPr>
              <a:t>Camino</a:t>
            </a:r>
          </a:p>
          <a:p>
            <a:pPr algn="l">
              <a:spcAft>
                <a:spcPts val="0"/>
              </a:spcAft>
            </a:pPr>
            <a:r>
              <a:rPr sz="1200" b="0" i="0">
                <a:solidFill>
                  <a:srgbClr val="4F5C75"/>
                </a:solidFill>
                <a:latin typeface="Consolas"/>
              </a:rPr>
              <a:t>Fina · IrA 11_Camino</a:t>
            </a:r>
          </a:p>
        </p:txBody>
      </p:sp>
      <p:sp>
        <p:nvSpPr>
          <p:cNvPr id="13" name="TextBox 12"/>
          <p:cNvSpPr txBox="1"/>
          <p:nvPr/>
        </p:nvSpPr>
        <p:spPr>
          <a:xfrm>
            <a:off x="6537960" y="3931920"/>
            <a:ext cx="4937760" cy="530352"/>
          </a:xfrm>
          <a:prstGeom prst="rect">
            <a:avLst/>
          </a:prstGeom>
          <a:noFill/>
        </p:spPr>
        <p:txBody>
          <a:bodyPr wrap="square" lIns="0" rIns="0" tIns="0" bIns="0" anchor="t">
            <a:spAutoFit/>
          </a:bodyPr>
          <a:lstStyle/>
          <a:p>
            <a:pPr algn="l">
              <a:spcAft>
                <a:spcPts val="0"/>
              </a:spcAft>
            </a:pPr>
            <a:r>
              <a:rPr sz="1300" b="1" i="0">
                <a:solidFill>
                  <a:srgbClr val="0A0E1A"/>
                </a:solidFill>
                <a:latin typeface="Calibri"/>
              </a:rPr>
              <a:t>Runner Rock</a:t>
            </a:r>
          </a:p>
          <a:p>
            <a:pPr algn="l">
              <a:spcAft>
                <a:spcPts val="0"/>
              </a:spcAft>
            </a:pPr>
            <a:r>
              <a:rPr sz="1200" b="0" i="0">
                <a:solidFill>
                  <a:srgbClr val="4F5C75"/>
                </a:solidFill>
                <a:latin typeface="Consolas"/>
              </a:rPr>
              <a:t>Fina · Genero Rock · IrA 12_Runner</a:t>
            </a:r>
          </a:p>
        </p:txBody>
      </p:sp>
      <p:sp>
        <p:nvSpPr>
          <p:cNvPr id="14" name="TextBox 13"/>
          <p:cNvSpPr txBox="1"/>
          <p:nvPr/>
        </p:nvSpPr>
        <p:spPr>
          <a:xfrm>
            <a:off x="6537960" y="4480560"/>
            <a:ext cx="4937760" cy="530352"/>
          </a:xfrm>
          <a:prstGeom prst="rect">
            <a:avLst/>
          </a:prstGeom>
          <a:noFill/>
        </p:spPr>
        <p:txBody>
          <a:bodyPr wrap="square" lIns="0" rIns="0" tIns="0" bIns="0" anchor="t">
            <a:spAutoFit/>
          </a:bodyPr>
          <a:lstStyle/>
          <a:p>
            <a:pPr algn="l">
              <a:spcAft>
                <a:spcPts val="0"/>
              </a:spcAft>
            </a:pPr>
            <a:r>
              <a:rPr sz="1300" b="1" i="0">
                <a:solidFill>
                  <a:srgbClr val="0A0E1A"/>
                </a:solidFill>
                <a:latin typeface="Calibri"/>
              </a:rPr>
              <a:t>Runner Electrónica</a:t>
            </a:r>
          </a:p>
          <a:p>
            <a:pPr algn="l">
              <a:spcAft>
                <a:spcPts val="0"/>
              </a:spcAft>
            </a:pPr>
            <a:r>
              <a:rPr sz="1200" b="0" i="0">
                <a:solidFill>
                  <a:srgbClr val="4F5C75"/>
                </a:solidFill>
                <a:latin typeface="Consolas"/>
              </a:rPr>
              <a:t>Fina · Genero Electronica · IrA 12_Runner</a:t>
            </a:r>
          </a:p>
        </p:txBody>
      </p:sp>
      <p:sp>
        <p:nvSpPr>
          <p:cNvPr id="15" name="TextBox 14"/>
          <p:cNvSpPr txBox="1"/>
          <p:nvPr/>
        </p:nvSpPr>
        <p:spPr>
          <a:xfrm>
            <a:off x="6537960" y="5029200"/>
            <a:ext cx="4937760" cy="530352"/>
          </a:xfrm>
          <a:prstGeom prst="rect">
            <a:avLst/>
          </a:prstGeom>
          <a:noFill/>
        </p:spPr>
        <p:txBody>
          <a:bodyPr wrap="square" lIns="0" rIns="0" tIns="0" bIns="0" anchor="t">
            <a:spAutoFit/>
          </a:bodyPr>
          <a:lstStyle/>
          <a:p>
            <a:pPr algn="l">
              <a:spcAft>
                <a:spcPts val="0"/>
              </a:spcAft>
            </a:pPr>
            <a:r>
              <a:rPr sz="1300" b="1" i="0">
                <a:solidFill>
                  <a:srgbClr val="0A0E1A"/>
                </a:solidFill>
                <a:latin typeface="Calibri"/>
              </a:rPr>
              <a:t>Runner Metal</a:t>
            </a:r>
          </a:p>
          <a:p>
            <a:pPr algn="l">
              <a:spcAft>
                <a:spcPts val="0"/>
              </a:spcAft>
            </a:pPr>
            <a:r>
              <a:rPr sz="1200" b="0" i="0">
                <a:solidFill>
                  <a:srgbClr val="4F5C75"/>
                </a:solidFill>
                <a:latin typeface="Consolas"/>
              </a:rPr>
              <a:t>Fina · Genero Metal · IrA 12_Runner</a:t>
            </a:r>
          </a:p>
        </p:txBody>
      </p:sp>
      <p:sp>
        <p:nvSpPr>
          <p:cNvPr id="16" name="TextBox 15"/>
          <p:cNvSpPr txBox="1"/>
          <p:nvPr/>
        </p:nvSpPr>
        <p:spPr>
          <a:xfrm>
            <a:off x="6537960" y="5577840"/>
            <a:ext cx="4937760" cy="530352"/>
          </a:xfrm>
          <a:prstGeom prst="rect">
            <a:avLst/>
          </a:prstGeom>
          <a:noFill/>
        </p:spPr>
        <p:txBody>
          <a:bodyPr wrap="square" lIns="0" rIns="0" tIns="0" bIns="0" anchor="t">
            <a:spAutoFit/>
          </a:bodyPr>
          <a:lstStyle/>
          <a:p>
            <a:pPr algn="l">
              <a:spcAft>
                <a:spcPts val="0"/>
              </a:spcAft>
            </a:pPr>
            <a:r>
              <a:rPr sz="1300" b="1" i="0">
                <a:solidFill>
                  <a:srgbClr val="0A0E1A"/>
                </a:solidFill>
                <a:latin typeface="Calibri"/>
              </a:rPr>
              <a:t>Espacio, Bosque, Ciudad neón</a:t>
            </a:r>
          </a:p>
          <a:p>
            <a:pPr algn="l">
              <a:spcAft>
                <a:spcPts val="0"/>
              </a:spcAft>
            </a:pPr>
            <a:r>
              <a:rPr sz="1200" b="0" i="0">
                <a:solidFill>
                  <a:srgbClr val="4F5C75"/>
                </a:solidFill>
                <a:latin typeface="Consolas"/>
              </a:rPr>
              <a:t>Gruesa · ElegirMundo · IrA 20_Grueso</a:t>
            </a:r>
          </a:p>
        </p:txBody>
      </p:sp>
      <p:sp>
        <p:nvSpPr>
          <p:cNvPr id="17"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1 · Motricidad  ·  6 de 17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Escena 10_Colorear (1 de 2): el personaje y el pincel</a:t>
            </a:r>
          </a:p>
        </p:txBody>
      </p:sp>
      <p:sp>
        <p:nvSpPr>
          <p:cNvPr id="4" name="Oval 3"/>
          <p:cNvSpPr/>
          <p:nvPr/>
        </p:nvSpPr>
        <p:spPr>
          <a:xfrm>
            <a:off x="548640" y="164592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5" name="TextBox 4"/>
          <p:cNvSpPr txBox="1"/>
          <p:nvPr/>
        </p:nvSpPr>
        <p:spPr>
          <a:xfrm>
            <a:off x="1051560" y="1664208"/>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Arrastra el prefab </a:t>
            </a:r>
            <a:r>
              <a:rPr sz="1500" b="1" i="0">
                <a:solidFill>
                  <a:srgbClr val="0A0E1A"/>
                </a:solidFill>
                <a:latin typeface="Calibri"/>
              </a:rPr>
              <a:t>Cursor</a:t>
            </a:r>
            <a:r>
              <a:rPr sz="1500" b="0" i="0">
                <a:solidFill>
                  <a:srgbClr val="0A0E1A"/>
                </a:solidFill>
                <a:latin typeface="Calibri"/>
              </a:rPr>
              <a:t> desde KitEquipo10/Comun/Prefabs a la escena.</a:t>
            </a:r>
          </a:p>
        </p:txBody>
      </p:sp>
      <p:sp>
        <p:nvSpPr>
          <p:cNvPr id="6" name="Oval 5"/>
          <p:cNvSpPr/>
          <p:nvPr/>
        </p:nvSpPr>
        <p:spPr>
          <a:xfrm>
            <a:off x="548640" y="2304288"/>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7" name="TextBox 6"/>
          <p:cNvSpPr txBox="1"/>
          <p:nvPr/>
        </p:nvSpPr>
        <p:spPr>
          <a:xfrm>
            <a:off x="1051560" y="2322576"/>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Arrastra </a:t>
            </a:r>
            <a:r>
              <a:rPr sz="1500" b="1" i="0">
                <a:solidFill>
                  <a:srgbClr val="0A0E1A"/>
                </a:solidFill>
                <a:latin typeface="Calibri"/>
              </a:rPr>
              <a:t>MichiFantasma</a:t>
            </a:r>
            <a:r>
              <a:rPr sz="1500" b="0" i="0">
                <a:solidFill>
                  <a:srgbClr val="0A0E1A"/>
                </a:solidFill>
                <a:latin typeface="Calibri"/>
              </a:rPr>
              <a:t> desde Fino/Arte/Personajes. Llámalo Personaje.</a:t>
            </a:r>
          </a:p>
        </p:txBody>
      </p:sp>
      <p:sp>
        <p:nvSpPr>
          <p:cNvPr id="8" name="Oval 7"/>
          <p:cNvSpPr/>
          <p:nvPr/>
        </p:nvSpPr>
        <p:spPr>
          <a:xfrm>
            <a:off x="548640" y="2962656"/>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9" name="TextBox 8"/>
          <p:cNvSpPr txBox="1"/>
          <p:nvPr/>
        </p:nvSpPr>
        <p:spPr>
          <a:xfrm>
            <a:off x="1051560" y="2980944"/>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En su Transform pon Scale en 1,85 y Position en -0,6 · 0,1.</a:t>
            </a:r>
          </a:p>
        </p:txBody>
      </p:sp>
      <p:sp>
        <p:nvSpPr>
          <p:cNvPr id="10" name="Oval 9"/>
          <p:cNvSpPr/>
          <p:nvPr/>
        </p:nvSpPr>
        <p:spPr>
          <a:xfrm>
            <a:off x="548640" y="3621024"/>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1" name="TextBox 10"/>
          <p:cNvSpPr txBox="1"/>
          <p:nvPr/>
        </p:nvSpPr>
        <p:spPr>
          <a:xfrm>
            <a:off x="1051560" y="3639312"/>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Add Component &gt; </a:t>
            </a:r>
            <a:r>
              <a:rPr sz="1500" b="1" i="0">
                <a:solidFill>
                  <a:srgbClr val="0A0E1A"/>
                </a:solidFill>
                <a:latin typeface="Calibri"/>
              </a:rPr>
              <a:t>Pincel</a:t>
            </a:r>
            <a:r>
              <a:rPr sz="1500" b="0" i="0">
                <a:solidFill>
                  <a:srgbClr val="0A0E1A"/>
                </a:solidFill>
                <a:latin typeface="Calibri"/>
              </a:rPr>
              <a:t>.</a:t>
            </a:r>
          </a:p>
        </p:txBody>
      </p:sp>
      <p:sp>
        <p:nvSpPr>
          <p:cNvPr id="12" name="Oval 11"/>
          <p:cNvSpPr/>
          <p:nvPr/>
        </p:nvSpPr>
        <p:spPr>
          <a:xfrm>
            <a:off x="548640" y="4279392"/>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13" name="TextBox 12"/>
          <p:cNvSpPr txBox="1"/>
          <p:nvPr/>
        </p:nvSpPr>
        <p:spPr>
          <a:xfrm>
            <a:off x="1051560" y="4297679"/>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Crea un Text (UI &gt; Text) arriba a la izquierda y arrástralo a </a:t>
            </a:r>
            <a:r>
              <a:rPr sz="1500" b="1" i="0">
                <a:solidFill>
                  <a:srgbClr val="0A0E1A"/>
                </a:solidFill>
                <a:latin typeface="Calibri"/>
              </a:rPr>
              <a:t>Texto Avance</a:t>
            </a:r>
            <a:r>
              <a:rPr sz="1500" b="0" i="0">
                <a:solidFill>
                  <a:srgbClr val="0A0E1A"/>
                </a:solidFill>
                <a:latin typeface="Calibri"/>
              </a:rPr>
              <a:t>.</a:t>
            </a:r>
          </a:p>
        </p:txBody>
      </p:sp>
      <p:sp>
        <p:nvSpPr>
          <p:cNvPr id="14" name="Oval 13"/>
          <p:cNvSpPr/>
          <p:nvPr/>
        </p:nvSpPr>
        <p:spPr>
          <a:xfrm>
            <a:off x="548640" y="4937759"/>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6</a:t>
            </a:r>
          </a:p>
        </p:txBody>
      </p:sp>
      <p:sp>
        <p:nvSpPr>
          <p:cNvPr id="15" name="TextBox 14"/>
          <p:cNvSpPr txBox="1"/>
          <p:nvPr/>
        </p:nvSpPr>
        <p:spPr>
          <a:xfrm>
            <a:off x="1051560" y="4956047"/>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En la Main Camera: Background claro y Size en 5,4.</a:t>
            </a:r>
          </a:p>
        </p:txBody>
      </p:sp>
      <p:sp>
        <p:nvSpPr>
          <p:cNvPr id="16" name="Rounded Rectangle 15"/>
          <p:cNvSpPr/>
          <p:nvPr/>
        </p:nvSpPr>
        <p:spPr>
          <a:xfrm>
            <a:off x="6409944" y="1609344"/>
            <a:ext cx="5285232" cy="3004947"/>
          </a:xfrm>
          <a:prstGeom prst="roundRect">
            <a:avLst>
              <a:gd name="adj" fmla="val 3000"/>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m10_colorear.png"/>
          <p:cNvPicPr>
            <a:picLocks noChangeAspect="1"/>
          </p:cNvPicPr>
          <p:nvPr/>
        </p:nvPicPr>
        <p:blipFill>
          <a:blip r:embed="rId2"/>
          <a:stretch>
            <a:fillRect/>
          </a:stretch>
        </p:blipFill>
        <p:spPr>
          <a:xfrm>
            <a:off x="6446520" y="1645920"/>
            <a:ext cx="5212080" cy="2931795"/>
          </a:xfrm>
          <a:prstGeom prst="rect">
            <a:avLst/>
          </a:prstGeom>
        </p:spPr>
      </p:pic>
      <p:sp>
        <p:nvSpPr>
          <p:cNvPr id="18" name="TextBox 17"/>
          <p:cNvSpPr txBox="1"/>
          <p:nvPr/>
        </p:nvSpPr>
        <p:spPr>
          <a:xfrm>
            <a:off x="6446520" y="4687443"/>
            <a:ext cx="5212080" cy="320040"/>
          </a:xfrm>
          <a:prstGeom prst="rect">
            <a:avLst/>
          </a:prstGeom>
          <a:noFill/>
        </p:spPr>
        <p:txBody>
          <a:bodyPr wrap="square" lIns="0" rIns="0" tIns="0" bIns="0" anchor="t">
            <a:spAutoFit/>
          </a:bodyPr>
          <a:lstStyle/>
          <a:p>
            <a:pPr algn="l">
              <a:spcAft>
                <a:spcPts val="600"/>
              </a:spcAft>
            </a:pPr>
            <a:r>
              <a:rPr sz="1200" b="0" i="0">
                <a:solidFill>
                  <a:srgbClr val="4F5C75"/>
                </a:solidFill>
                <a:latin typeface="Calibri"/>
              </a:rPr>
              <a:t>Colorear con la paleta: arriba, el porcentaje pintado y el tiempo fuera de la línea.</a:t>
            </a:r>
          </a:p>
        </p:txBody>
      </p:sp>
      <p:sp>
        <p:nvSpPr>
          <p:cNvPr id="19" name="Rounded Rectangle 18"/>
          <p:cNvSpPr/>
          <p:nvPr/>
        </p:nvSpPr>
        <p:spPr>
          <a:xfrm>
            <a:off x="6446520" y="5126355"/>
            <a:ext cx="5212080" cy="960120"/>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675120" y="5290947"/>
            <a:ext cx="4754880" cy="685800"/>
          </a:xfrm>
          <a:prstGeom prst="rect">
            <a:avLst/>
          </a:prstGeom>
          <a:noFill/>
        </p:spPr>
        <p:txBody>
          <a:bodyPr wrap="square" lIns="0" rIns="0" tIns="0" bIns="0" anchor="t">
            <a:spAutoFit/>
          </a:bodyPr>
          <a:lstStyle/>
          <a:p>
            <a:pPr algn="l">
              <a:spcAft>
                <a:spcPts val="400"/>
              </a:spcAft>
            </a:pPr>
            <a:r>
              <a:rPr sz="1300" b="1" i="0">
                <a:solidFill>
                  <a:srgbClr val="097A41"/>
                </a:solidFill>
                <a:latin typeface="Calibri"/>
              </a:rPr>
              <a:t>✓  Cómo sabes que quedó</a:t>
            </a:r>
          </a:p>
          <a:p>
            <a:pPr algn="l">
              <a:spcAft>
                <a:spcPts val="400"/>
              </a:spcAft>
            </a:pPr>
            <a:r>
              <a:rPr sz="1300" b="0" i="0">
                <a:solidFill>
                  <a:srgbClr val="0A0E1A"/>
                </a:solidFill>
                <a:latin typeface="Calibri"/>
              </a:rPr>
              <a:t>Con Play, el clic sostenido pinta el interior y nunca la línea negra.</a:t>
            </a:r>
          </a:p>
        </p:txBody>
      </p:sp>
      <p:sp>
        <p:nvSpPr>
          <p:cNvPr id="21"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1 · Motricidad  ·  7 de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Escena 10_Colorear (2 de 2): paleta, personajes y Listo</a:t>
            </a:r>
          </a:p>
        </p:txBody>
      </p:sp>
      <p:sp>
        <p:nvSpPr>
          <p:cNvPr id="4" name="Oval 3"/>
          <p:cNvSpPr/>
          <p:nvPr/>
        </p:nvSpPr>
        <p:spPr>
          <a:xfrm>
            <a:off x="548640" y="164592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5" name="TextBox 4"/>
          <p:cNvSpPr txBox="1"/>
          <p:nvPr/>
        </p:nvSpPr>
        <p:spPr>
          <a:xfrm>
            <a:off x="1051560" y="1664208"/>
            <a:ext cx="589788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Arrastra ocho veces el prefab </a:t>
            </a:r>
            <a:r>
              <a:rPr sz="1500" b="1" i="0">
                <a:solidFill>
                  <a:srgbClr val="0A0E1A"/>
                </a:solidFill>
                <a:latin typeface="Calibri"/>
              </a:rPr>
              <a:t>ColorDePaleta</a:t>
            </a:r>
            <a:r>
              <a:rPr sz="1500" b="0" i="0">
                <a:solidFill>
                  <a:srgbClr val="0A0E1A"/>
                </a:solidFill>
                <a:latin typeface="Calibri"/>
              </a:rPr>
              <a:t> y ponlos en dos columnas a la derecha.</a:t>
            </a:r>
          </a:p>
        </p:txBody>
      </p:sp>
      <p:sp>
        <p:nvSpPr>
          <p:cNvPr id="6" name="Oval 5"/>
          <p:cNvSpPr/>
          <p:nvPr/>
        </p:nvSpPr>
        <p:spPr>
          <a:xfrm>
            <a:off x="548640" y="2359152"/>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7" name="TextBox 6"/>
          <p:cNvSpPr txBox="1"/>
          <p:nvPr/>
        </p:nvSpPr>
        <p:spPr>
          <a:xfrm>
            <a:off x="1051560" y="2377440"/>
            <a:ext cx="589788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En cada uno, en el componente Color De Paleta, elige su </a:t>
            </a:r>
            <a:r>
              <a:rPr sz="1500" b="1" i="0">
                <a:solidFill>
                  <a:srgbClr val="0A0E1A"/>
                </a:solidFill>
                <a:latin typeface="Calibri"/>
              </a:rPr>
              <a:t>Color</a:t>
            </a:r>
            <a:r>
              <a:rPr sz="1500" b="0" i="0">
                <a:solidFill>
                  <a:srgbClr val="0A0E1A"/>
                </a:solidFill>
                <a:latin typeface="Calibri"/>
              </a:rPr>
              <a:t>.</a:t>
            </a:r>
          </a:p>
        </p:txBody>
      </p:sp>
      <p:sp>
        <p:nvSpPr>
          <p:cNvPr id="8" name="Oval 7"/>
          <p:cNvSpPr/>
          <p:nvPr/>
        </p:nvSpPr>
        <p:spPr>
          <a:xfrm>
            <a:off x="548640" y="3072384"/>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9" name="TextBox 8"/>
          <p:cNvSpPr txBox="1"/>
          <p:nvPr/>
        </p:nvSpPr>
        <p:spPr>
          <a:xfrm>
            <a:off x="1051560" y="3090672"/>
            <a:ext cx="589788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Arrastra los tres personajes a la izquierda, pequeños (Scale 0,42). A cada uno: </a:t>
            </a:r>
            <a:r>
              <a:rPr sz="1500" b="1" i="0">
                <a:solidFill>
                  <a:srgbClr val="0A0E1A"/>
                </a:solidFill>
                <a:latin typeface="Calibri"/>
              </a:rPr>
              <a:t>Box Collider 2D</a:t>
            </a:r>
            <a:r>
              <a:rPr sz="1500" b="0" i="0">
                <a:solidFill>
                  <a:srgbClr val="0A0E1A"/>
                </a:solidFill>
                <a:latin typeface="Calibri"/>
              </a:rPr>
              <a:t> y </a:t>
            </a:r>
            <a:r>
              <a:rPr sz="1500" b="1" i="0">
                <a:solidFill>
                  <a:srgbClr val="0A0E1A"/>
                </a:solidFill>
                <a:latin typeface="Calibri"/>
              </a:rPr>
              <a:t>Boton Virtual</a:t>
            </a:r>
            <a:r>
              <a:rPr sz="1500" b="0" i="0">
                <a:solidFill>
                  <a:srgbClr val="0A0E1A"/>
                </a:solidFill>
                <a:latin typeface="Calibri"/>
              </a:rPr>
              <a:t>.</a:t>
            </a:r>
          </a:p>
        </p:txBody>
      </p:sp>
      <p:sp>
        <p:nvSpPr>
          <p:cNvPr id="10" name="Oval 9"/>
          <p:cNvSpPr/>
          <p:nvPr/>
        </p:nvSpPr>
        <p:spPr>
          <a:xfrm>
            <a:off x="548640" y="3785615"/>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1" name="TextBox 10"/>
          <p:cNvSpPr txBox="1"/>
          <p:nvPr/>
        </p:nvSpPr>
        <p:spPr>
          <a:xfrm>
            <a:off x="1051560" y="3803903"/>
            <a:ext cx="589788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En </a:t>
            </a:r>
            <a:r>
              <a:rPr sz="1500" b="1" i="0">
                <a:solidFill>
                  <a:srgbClr val="0A0E1A"/>
                </a:solidFill>
                <a:latin typeface="Calibri"/>
              </a:rPr>
              <a:t>Al Pulsar ()</a:t>
            </a:r>
            <a:r>
              <a:rPr sz="1500" b="0" i="0">
                <a:solidFill>
                  <a:srgbClr val="0A0E1A"/>
                </a:solidFill>
                <a:latin typeface="Calibri"/>
              </a:rPr>
              <a:t> de cada miniatura: + , arrastra Personaje, elige Pincel &gt; CambiarDibujo y su dibujo.</a:t>
            </a:r>
          </a:p>
        </p:txBody>
      </p:sp>
      <p:sp>
        <p:nvSpPr>
          <p:cNvPr id="12" name="Oval 11"/>
          <p:cNvSpPr/>
          <p:nvPr/>
        </p:nvSpPr>
        <p:spPr>
          <a:xfrm>
            <a:off x="548640" y="4498848"/>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13" name="TextBox 12"/>
          <p:cNvSpPr txBox="1"/>
          <p:nvPr/>
        </p:nvSpPr>
        <p:spPr>
          <a:xfrm>
            <a:off x="1051560" y="4517136"/>
            <a:ext cx="589788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Arrastra el prefab </a:t>
            </a:r>
            <a:r>
              <a:rPr sz="1500" b="1" i="0">
                <a:solidFill>
                  <a:srgbClr val="0A0E1A"/>
                </a:solidFill>
                <a:latin typeface="Calibri"/>
              </a:rPr>
              <a:t>BotonListo</a:t>
            </a:r>
            <a:r>
              <a:rPr sz="1500" b="0" i="0">
                <a:solidFill>
                  <a:srgbClr val="0A0E1A"/>
                </a:solidFill>
                <a:latin typeface="Calibri"/>
              </a:rPr>
              <a:t>. En Al Pulsar (): Personaje &gt; Pincel &gt; Terminar.</a:t>
            </a:r>
          </a:p>
        </p:txBody>
      </p:sp>
      <p:sp>
        <p:nvSpPr>
          <p:cNvPr id="14" name="Oval 13"/>
          <p:cNvSpPr/>
          <p:nvPr/>
        </p:nvSpPr>
        <p:spPr>
          <a:xfrm>
            <a:off x="548640" y="521208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6</a:t>
            </a:r>
          </a:p>
        </p:txBody>
      </p:sp>
      <p:sp>
        <p:nvSpPr>
          <p:cNvPr id="15" name="TextBox 14"/>
          <p:cNvSpPr txBox="1"/>
          <p:nvPr/>
        </p:nvSpPr>
        <p:spPr>
          <a:xfrm>
            <a:off x="1051560" y="5230368"/>
            <a:ext cx="589788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En el Pincel, </a:t>
            </a:r>
            <a:r>
              <a:rPr sz="1500" b="1" i="0">
                <a:solidFill>
                  <a:srgbClr val="0A0E1A"/>
                </a:solidFill>
                <a:latin typeface="Calibri"/>
              </a:rPr>
              <a:t>Escena Siguiente</a:t>
            </a:r>
            <a:r>
              <a:rPr sz="1500" b="0" i="0">
                <a:solidFill>
                  <a:srgbClr val="0A0E1A"/>
                </a:solidFill>
                <a:latin typeface="Calibri"/>
              </a:rPr>
              <a:t>: escribe 12_Runner.</a:t>
            </a:r>
          </a:p>
        </p:txBody>
      </p:sp>
      <p:sp>
        <p:nvSpPr>
          <p:cNvPr id="16" name="Rounded Rectangle 15"/>
          <p:cNvSpPr/>
          <p:nvPr/>
        </p:nvSpPr>
        <p:spPr>
          <a:xfrm>
            <a:off x="7269480" y="1645920"/>
            <a:ext cx="4389120" cy="2194560"/>
          </a:xfrm>
          <a:prstGeom prst="roundRect">
            <a:avLst>
              <a:gd name="adj" fmla="val 8000"/>
            </a:avLst>
          </a:prstGeom>
          <a:solidFill>
            <a:srgbClr val="FC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498079" y="1810512"/>
            <a:ext cx="3931920" cy="1920240"/>
          </a:xfrm>
          <a:prstGeom prst="rect">
            <a:avLst/>
          </a:prstGeom>
          <a:noFill/>
        </p:spPr>
        <p:txBody>
          <a:bodyPr wrap="square" lIns="0" rIns="0" tIns="0" bIns="0" anchor="t">
            <a:spAutoFit/>
          </a:bodyPr>
          <a:lstStyle/>
          <a:p>
            <a:pPr algn="l">
              <a:spcAft>
                <a:spcPts val="400"/>
              </a:spcAft>
            </a:pPr>
            <a:r>
              <a:rPr sz="1300" b="1" i="0">
                <a:solidFill>
                  <a:srgbClr val="875A00"/>
                </a:solidFill>
                <a:latin typeface="Calibri"/>
              </a:rPr>
              <a:t>!  Por qué Boton Virtual y no Button</a:t>
            </a:r>
          </a:p>
          <a:p>
            <a:pPr algn="l">
              <a:spcAft>
                <a:spcPts val="400"/>
              </a:spcAft>
            </a:pPr>
            <a:r>
              <a:rPr sz="1300" b="0" i="0">
                <a:solidFill>
                  <a:srgbClr val="0A0E1A"/>
                </a:solidFill>
                <a:latin typeface="Calibri"/>
              </a:rPr>
              <a:t>En esta escena el mouse está capturado por el cursor virtual. Un Button del Canvas no se enteraría del clic. Boton Virtual revisa el clic del cursor virtual sobre su Collider 2D.</a:t>
            </a:r>
          </a:p>
        </p:txBody>
      </p:sp>
      <p:sp>
        <p:nvSpPr>
          <p:cNvPr id="18" name="Rounded Rectangle 17"/>
          <p:cNvSpPr/>
          <p:nvPr/>
        </p:nvSpPr>
        <p:spPr>
          <a:xfrm>
            <a:off x="7269480" y="4023360"/>
            <a:ext cx="4389120" cy="2194560"/>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498079" y="4187952"/>
            <a:ext cx="3931920" cy="1920240"/>
          </a:xfrm>
          <a:prstGeom prst="rect">
            <a:avLst/>
          </a:prstGeom>
          <a:noFill/>
        </p:spPr>
        <p:txBody>
          <a:bodyPr wrap="square" lIns="0" rIns="0" tIns="0" bIns="0" anchor="t">
            <a:spAutoFit/>
          </a:bodyPr>
          <a:lstStyle/>
          <a:p>
            <a:pPr algn="l">
              <a:spcAft>
                <a:spcPts val="400"/>
              </a:spcAft>
            </a:pPr>
            <a:r>
              <a:rPr sz="1300" b="1" i="0">
                <a:solidFill>
                  <a:srgbClr val="097A41"/>
                </a:solidFill>
                <a:latin typeface="Calibri"/>
              </a:rPr>
              <a:t>✓  Cómo sabes que quedó</a:t>
            </a:r>
          </a:p>
          <a:p>
            <a:pPr algn="l">
              <a:spcAft>
                <a:spcPts val="400"/>
              </a:spcAft>
            </a:pPr>
            <a:r>
              <a:rPr sz="1300" b="0" i="0">
                <a:solidFill>
                  <a:srgbClr val="0A0E1A"/>
                </a:solidFill>
                <a:latin typeface="Calibri"/>
              </a:rPr>
              <a:t>Un clic en un color lo agranda: es el color activo.</a:t>
            </a:r>
          </a:p>
          <a:p>
            <a:pPr algn="l">
              <a:spcAft>
                <a:spcPts val="400"/>
              </a:spcAft>
            </a:pPr>
            <a:r>
              <a:rPr sz="1300" b="0" i="0">
                <a:solidFill>
                  <a:srgbClr val="0A0E1A"/>
                </a:solidFill>
                <a:latin typeface="Calibri"/>
              </a:rPr>
              <a:t>Un clic en una miniatura cambia el dibujo y empieza de cero.</a:t>
            </a:r>
          </a:p>
          <a:p>
            <a:pPr algn="l">
              <a:spcAft>
                <a:spcPts val="400"/>
              </a:spcAft>
            </a:pPr>
            <a:r>
              <a:rPr sz="1300" b="0" i="0">
                <a:solidFill>
                  <a:srgbClr val="0A0E1A"/>
                </a:solidFill>
                <a:latin typeface="Calibri"/>
              </a:rPr>
              <a:t>Listo abre el runner con tu personaje pintado.</a:t>
            </a:r>
          </a:p>
        </p:txBody>
      </p:sp>
      <p:sp>
        <p:nvSpPr>
          <p:cNvPr id="20"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1 · Motricidad  ·  8 de 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Escena 11_Camino: recorrer sin salirse</a:t>
            </a:r>
          </a:p>
        </p:txBody>
      </p:sp>
      <p:sp>
        <p:nvSpPr>
          <p:cNvPr id="4" name="Oval 3"/>
          <p:cNvSpPr/>
          <p:nvPr/>
        </p:nvSpPr>
        <p:spPr>
          <a:xfrm>
            <a:off x="548640" y="164592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5" name="TextBox 4"/>
          <p:cNvSpPr txBox="1"/>
          <p:nvPr/>
        </p:nvSpPr>
        <p:spPr>
          <a:xfrm>
            <a:off x="1051560" y="1664208"/>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Prefab </a:t>
            </a:r>
            <a:r>
              <a:rPr sz="1500" b="1" i="0">
                <a:solidFill>
                  <a:srgbClr val="0A0E1A"/>
                </a:solidFill>
                <a:latin typeface="Calibri"/>
              </a:rPr>
              <a:t>Cursor</a:t>
            </a:r>
            <a:r>
              <a:rPr sz="1500" b="0" i="0">
                <a:solidFill>
                  <a:srgbClr val="0A0E1A"/>
                </a:solidFill>
                <a:latin typeface="Calibri"/>
              </a:rPr>
              <a:t> y prefab </a:t>
            </a:r>
            <a:r>
              <a:rPr sz="1500" b="1" i="0">
                <a:solidFill>
                  <a:srgbClr val="0A0E1A"/>
                </a:solidFill>
                <a:latin typeface="Calibri"/>
              </a:rPr>
              <a:t>PantallaFinal</a:t>
            </a:r>
            <a:r>
              <a:rPr sz="1500" b="0" i="0">
                <a:solidFill>
                  <a:srgbClr val="0A0E1A"/>
                </a:solidFill>
                <a:latin typeface="Calibri"/>
              </a:rPr>
              <a:t> a la escena.</a:t>
            </a:r>
          </a:p>
        </p:txBody>
      </p:sp>
      <p:sp>
        <p:nvSpPr>
          <p:cNvPr id="6" name="Oval 5"/>
          <p:cNvSpPr/>
          <p:nvPr/>
        </p:nvSpPr>
        <p:spPr>
          <a:xfrm>
            <a:off x="548640" y="2304288"/>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7" name="TextBox 6"/>
          <p:cNvSpPr txBox="1"/>
          <p:nvPr/>
        </p:nvSpPr>
        <p:spPr>
          <a:xfrm>
            <a:off x="1051560" y="2322576"/>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Create Empty: </a:t>
            </a:r>
            <a:r>
              <a:rPr sz="1500" b="1" i="0">
                <a:solidFill>
                  <a:srgbClr val="0A0E1A"/>
                </a:solidFill>
                <a:latin typeface="Calibri"/>
              </a:rPr>
              <a:t>Camino</a:t>
            </a:r>
            <a:r>
              <a:rPr sz="1500" b="0" i="0">
                <a:solidFill>
                  <a:srgbClr val="0A0E1A"/>
                </a:solidFill>
                <a:latin typeface="Calibri"/>
              </a:rPr>
              <a:t>. Add Component &gt; </a:t>
            </a:r>
            <a:r>
              <a:rPr sz="1500" b="1" i="0">
                <a:solidFill>
                  <a:srgbClr val="0A0E1A"/>
                </a:solidFill>
                <a:latin typeface="Calibri"/>
              </a:rPr>
              <a:t>Line Renderer</a:t>
            </a:r>
            <a:r>
              <a:rPr sz="1500" b="0" i="0">
                <a:solidFill>
                  <a:srgbClr val="0A0E1A"/>
                </a:solidFill>
                <a:latin typeface="Calibri"/>
              </a:rPr>
              <a:t>.</a:t>
            </a:r>
          </a:p>
        </p:txBody>
      </p:sp>
      <p:sp>
        <p:nvSpPr>
          <p:cNvPr id="8" name="Oval 7"/>
          <p:cNvSpPr/>
          <p:nvPr/>
        </p:nvSpPr>
        <p:spPr>
          <a:xfrm>
            <a:off x="548640" y="2962656"/>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9" name="TextBox 8"/>
          <p:cNvSpPr txBox="1"/>
          <p:nvPr/>
        </p:nvSpPr>
        <p:spPr>
          <a:xfrm>
            <a:off x="1051560" y="2980944"/>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En el Line Renderer, Materials &gt; Element 0: </a:t>
            </a:r>
            <a:r>
              <a:rPr sz="1500" b="1" i="0">
                <a:solidFill>
                  <a:srgbClr val="0A0E1A"/>
                </a:solidFill>
                <a:latin typeface="Calibri"/>
              </a:rPr>
              <a:t>Sprites-Default</a:t>
            </a:r>
            <a:r>
              <a:rPr sz="1500" b="0" i="0">
                <a:solidFill>
                  <a:srgbClr val="0A0E1A"/>
                </a:solidFill>
                <a:latin typeface="Calibri"/>
              </a:rPr>
              <a:t>.</a:t>
            </a:r>
          </a:p>
        </p:txBody>
      </p:sp>
      <p:sp>
        <p:nvSpPr>
          <p:cNvPr id="10" name="Oval 9"/>
          <p:cNvSpPr/>
          <p:nvPr/>
        </p:nvSpPr>
        <p:spPr>
          <a:xfrm>
            <a:off x="548640" y="3621024"/>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1" name="TextBox 10"/>
          <p:cNvSpPr txBox="1"/>
          <p:nvPr/>
        </p:nvSpPr>
        <p:spPr>
          <a:xfrm>
            <a:off x="1051560" y="3639312"/>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Add Component &gt; </a:t>
            </a:r>
            <a:r>
              <a:rPr sz="1500" b="1" i="0">
                <a:solidFill>
                  <a:srgbClr val="0A0E1A"/>
                </a:solidFill>
                <a:latin typeface="Calibri"/>
              </a:rPr>
              <a:t>Camino Preciso</a:t>
            </a:r>
            <a:r>
              <a:rPr sz="1500" b="0" i="0">
                <a:solidFill>
                  <a:srgbClr val="0A0E1A"/>
                </a:solidFill>
                <a:latin typeface="Calibri"/>
              </a:rPr>
              <a:t>.</a:t>
            </a:r>
          </a:p>
        </p:txBody>
      </p:sp>
      <p:sp>
        <p:nvSpPr>
          <p:cNvPr id="12" name="Oval 11"/>
          <p:cNvSpPr/>
          <p:nvPr/>
        </p:nvSpPr>
        <p:spPr>
          <a:xfrm>
            <a:off x="548640" y="4279392"/>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13" name="TextBox 12"/>
          <p:cNvSpPr txBox="1"/>
          <p:nvPr/>
        </p:nvSpPr>
        <p:spPr>
          <a:xfrm>
            <a:off x="1051560" y="4297679"/>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Dos sprites Circulo: Inicio (verde) y Meta (amarilla). Arrástralos a sus casillas.</a:t>
            </a:r>
          </a:p>
        </p:txBody>
      </p:sp>
      <p:sp>
        <p:nvSpPr>
          <p:cNvPr id="14" name="Oval 13"/>
          <p:cNvSpPr/>
          <p:nvPr/>
        </p:nvSpPr>
        <p:spPr>
          <a:xfrm>
            <a:off x="548640" y="4937759"/>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6</a:t>
            </a:r>
          </a:p>
        </p:txBody>
      </p:sp>
      <p:sp>
        <p:nvSpPr>
          <p:cNvPr id="15" name="TextBox 14"/>
          <p:cNvSpPr txBox="1"/>
          <p:nvPr/>
        </p:nvSpPr>
        <p:spPr>
          <a:xfrm>
            <a:off x="1051560" y="4956047"/>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Un Text arriba, a </a:t>
            </a:r>
            <a:r>
              <a:rPr sz="1500" b="1" i="0">
                <a:solidFill>
                  <a:srgbClr val="0A0E1A"/>
                </a:solidFill>
                <a:latin typeface="Calibri"/>
              </a:rPr>
              <a:t>Texto Avance</a:t>
            </a:r>
            <a:r>
              <a:rPr sz="1500" b="0" i="0">
                <a:solidFill>
                  <a:srgbClr val="0A0E1A"/>
                </a:solidFill>
                <a:latin typeface="Calibri"/>
              </a:rPr>
              <a:t>.</a:t>
            </a:r>
          </a:p>
        </p:txBody>
      </p:sp>
      <p:sp>
        <p:nvSpPr>
          <p:cNvPr id="16" name="Rounded Rectangle 15"/>
          <p:cNvSpPr/>
          <p:nvPr/>
        </p:nvSpPr>
        <p:spPr>
          <a:xfrm>
            <a:off x="6409944" y="1609344"/>
            <a:ext cx="5285232" cy="3004947"/>
          </a:xfrm>
          <a:prstGeom prst="roundRect">
            <a:avLst>
              <a:gd name="adj" fmla="val 3000"/>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m11_camino.png"/>
          <p:cNvPicPr>
            <a:picLocks noChangeAspect="1"/>
          </p:cNvPicPr>
          <p:nvPr/>
        </p:nvPicPr>
        <p:blipFill>
          <a:blip r:embed="rId2"/>
          <a:stretch>
            <a:fillRect/>
          </a:stretch>
        </p:blipFill>
        <p:spPr>
          <a:xfrm>
            <a:off x="6446520" y="1645920"/>
            <a:ext cx="5212080" cy="2931795"/>
          </a:xfrm>
          <a:prstGeom prst="rect">
            <a:avLst/>
          </a:prstGeom>
        </p:spPr>
      </p:pic>
      <p:sp>
        <p:nvSpPr>
          <p:cNvPr id="18" name="TextBox 17"/>
          <p:cNvSpPr txBox="1"/>
          <p:nvPr/>
        </p:nvSpPr>
        <p:spPr>
          <a:xfrm>
            <a:off x="6446520" y="4687443"/>
            <a:ext cx="5212080" cy="320040"/>
          </a:xfrm>
          <a:prstGeom prst="rect">
            <a:avLst/>
          </a:prstGeom>
          <a:noFill/>
        </p:spPr>
        <p:txBody>
          <a:bodyPr wrap="square" lIns="0" rIns="0" tIns="0" bIns="0" anchor="t">
            <a:spAutoFit/>
          </a:bodyPr>
          <a:lstStyle/>
          <a:p>
            <a:pPr algn="l">
              <a:spcAft>
                <a:spcPts val="600"/>
              </a:spcAft>
            </a:pPr>
            <a:r>
              <a:rPr sz="1200" b="0" i="0">
                <a:solidFill>
                  <a:srgbClr val="4F5C75"/>
                </a:solidFill>
                <a:latin typeface="Calibri"/>
              </a:rPr>
              <a:t>El camino se pone rojo cuando el cursor se sale.</a:t>
            </a:r>
          </a:p>
        </p:txBody>
      </p:sp>
      <p:sp>
        <p:nvSpPr>
          <p:cNvPr id="19" name="Rounded Rectangle 18"/>
          <p:cNvSpPr/>
          <p:nvPr/>
        </p:nvSpPr>
        <p:spPr>
          <a:xfrm>
            <a:off x="6446520" y="5126355"/>
            <a:ext cx="5212080" cy="960120"/>
          </a:xfrm>
          <a:prstGeom prst="roundRect">
            <a:avLst>
              <a:gd name="adj" fmla="val 8000"/>
            </a:avLst>
          </a:prstGeom>
          <a:solidFill>
            <a:srgbClr val="FC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675120" y="5290947"/>
            <a:ext cx="4754880" cy="685800"/>
          </a:xfrm>
          <a:prstGeom prst="rect">
            <a:avLst/>
          </a:prstGeom>
          <a:noFill/>
        </p:spPr>
        <p:txBody>
          <a:bodyPr wrap="square" lIns="0" rIns="0" tIns="0" bIns="0" anchor="t">
            <a:spAutoFit/>
          </a:bodyPr>
          <a:lstStyle/>
          <a:p>
            <a:pPr algn="l">
              <a:spcAft>
                <a:spcPts val="400"/>
              </a:spcAft>
            </a:pPr>
            <a:r>
              <a:rPr sz="1300" b="1" i="0">
                <a:solidFill>
                  <a:srgbClr val="875A00"/>
                </a:solidFill>
                <a:latin typeface="Calibri"/>
              </a:rPr>
              <a:t>!  Si el camino sale rosado o no se ve</a:t>
            </a:r>
          </a:p>
          <a:p>
            <a:pPr algn="l">
              <a:spcAft>
                <a:spcPts val="400"/>
              </a:spcAft>
            </a:pPr>
            <a:r>
              <a:rPr sz="1300" b="0" i="0">
                <a:solidFill>
                  <a:srgbClr val="0A0E1A"/>
                </a:solidFill>
                <a:latin typeface="Calibri"/>
              </a:rPr>
              <a:t>Falta el material Sprites-Default en el Line Renderer.</a:t>
            </a:r>
          </a:p>
        </p:txBody>
      </p:sp>
      <p:sp>
        <p:nvSpPr>
          <p:cNvPr id="21"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1 · Motricidad  ·  9 de 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Escena 12_Runner (1 de 2): la música manda</a:t>
            </a:r>
          </a:p>
        </p:txBody>
      </p:sp>
      <p:sp>
        <p:nvSpPr>
          <p:cNvPr id="4" name="Oval 3"/>
          <p:cNvSpPr/>
          <p:nvPr/>
        </p:nvSpPr>
        <p:spPr>
          <a:xfrm>
            <a:off x="548640" y="164592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5" name="TextBox 4"/>
          <p:cNvSpPr txBox="1"/>
          <p:nvPr/>
        </p:nvSpPr>
        <p:spPr>
          <a:xfrm>
            <a:off x="1051560" y="1664208"/>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Fondo: arrastra </a:t>
            </a:r>
            <a:r>
              <a:rPr sz="1500" b="1" i="0">
                <a:solidFill>
                  <a:srgbClr val="0A0E1A"/>
                </a:solidFill>
                <a:latin typeface="Calibri"/>
              </a:rPr>
              <a:t>Rock</a:t>
            </a:r>
            <a:r>
              <a:rPr sz="1500" b="0" i="0">
                <a:solidFill>
                  <a:srgbClr val="0A0E1A"/>
                </a:solidFill>
                <a:latin typeface="Calibri"/>
              </a:rPr>
              <a:t> desde Comun/Arte/Fondos. Order in Layer en ‑10.</a:t>
            </a:r>
          </a:p>
        </p:txBody>
      </p:sp>
      <p:sp>
        <p:nvSpPr>
          <p:cNvPr id="6" name="Oval 5"/>
          <p:cNvSpPr/>
          <p:nvPr/>
        </p:nvSpPr>
        <p:spPr>
          <a:xfrm>
            <a:off x="548640" y="2359152"/>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7" name="TextBox 6"/>
          <p:cNvSpPr txBox="1"/>
          <p:nvPr/>
        </p:nvSpPr>
        <p:spPr>
          <a:xfrm>
            <a:off x="1051560" y="2377440"/>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Create Empty: </a:t>
            </a:r>
            <a:r>
              <a:rPr sz="1500" b="1" i="0">
                <a:solidFill>
                  <a:srgbClr val="0A0E1A"/>
                </a:solidFill>
                <a:latin typeface="Calibri"/>
              </a:rPr>
              <a:t>Conductor</a:t>
            </a:r>
            <a:r>
              <a:rPr sz="1500" b="0" i="0">
                <a:solidFill>
                  <a:srgbClr val="0A0E1A"/>
                </a:solidFill>
                <a:latin typeface="Calibri"/>
              </a:rPr>
              <a:t>. Add Component &gt; </a:t>
            </a:r>
            <a:r>
              <a:rPr sz="1500" b="1" i="0">
                <a:solidFill>
                  <a:srgbClr val="0A0E1A"/>
                </a:solidFill>
                <a:latin typeface="Calibri"/>
              </a:rPr>
              <a:t>Audio Source</a:t>
            </a:r>
            <a:r>
              <a:rPr sz="1500" b="0" i="0">
                <a:solidFill>
                  <a:srgbClr val="0A0E1A"/>
                </a:solidFill>
                <a:latin typeface="Calibri"/>
              </a:rPr>
              <a:t>, y desmarca Play On Awake.</a:t>
            </a:r>
          </a:p>
        </p:txBody>
      </p:sp>
      <p:sp>
        <p:nvSpPr>
          <p:cNvPr id="8" name="Oval 7"/>
          <p:cNvSpPr/>
          <p:nvPr/>
        </p:nvSpPr>
        <p:spPr>
          <a:xfrm>
            <a:off x="548640" y="3072384"/>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9" name="TextBox 8"/>
          <p:cNvSpPr txBox="1"/>
          <p:nvPr/>
        </p:nvSpPr>
        <p:spPr>
          <a:xfrm>
            <a:off x="1051560" y="3090672"/>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Al mismo objeto: </a:t>
            </a:r>
            <a:r>
              <a:rPr sz="1500" b="1" i="0">
                <a:solidFill>
                  <a:srgbClr val="0A0E1A"/>
                </a:solidFill>
                <a:latin typeface="Calibri"/>
              </a:rPr>
              <a:t>Conductor</a:t>
            </a:r>
            <a:r>
              <a:rPr sz="1500" b="0" i="0">
                <a:solidFill>
                  <a:srgbClr val="0A0E1A"/>
                </a:solidFill>
                <a:latin typeface="Calibri"/>
              </a:rPr>
              <a:t> y </a:t>
            </a:r>
            <a:r>
              <a:rPr sz="1500" b="1" i="0">
                <a:solidFill>
                  <a:srgbClr val="0A0E1A"/>
                </a:solidFill>
                <a:latin typeface="Calibri"/>
              </a:rPr>
              <a:t>Musica Por Genero</a:t>
            </a:r>
            <a:r>
              <a:rPr sz="1500" b="0" i="0">
                <a:solidFill>
                  <a:srgbClr val="0A0E1A"/>
                </a:solidFill>
                <a:latin typeface="Calibri"/>
              </a:rPr>
              <a:t>.</a:t>
            </a:r>
          </a:p>
        </p:txBody>
      </p:sp>
      <p:sp>
        <p:nvSpPr>
          <p:cNvPr id="10" name="Oval 9"/>
          <p:cNvSpPr/>
          <p:nvPr/>
        </p:nvSpPr>
        <p:spPr>
          <a:xfrm>
            <a:off x="548640" y="3785615"/>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1" name="TextBox 10"/>
          <p:cNvSpPr txBox="1"/>
          <p:nvPr/>
        </p:nvSpPr>
        <p:spPr>
          <a:xfrm>
            <a:off x="1051560" y="3803903"/>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En Musica Por Genero, </a:t>
            </a:r>
            <a:r>
              <a:rPr sz="1500" b="1" i="0">
                <a:solidFill>
                  <a:srgbClr val="0A0E1A"/>
                </a:solidFill>
                <a:latin typeface="Calibri"/>
              </a:rPr>
              <a:t>Opciones</a:t>
            </a:r>
            <a:r>
              <a:rPr sz="1500" b="0" i="0">
                <a:solidFill>
                  <a:srgbClr val="0A0E1A"/>
                </a:solidFill>
                <a:latin typeface="Calibri"/>
              </a:rPr>
              <a:t> en 3, y llena la tabla de la derecha.</a:t>
            </a:r>
          </a:p>
        </p:txBody>
      </p:sp>
      <p:sp>
        <p:nvSpPr>
          <p:cNvPr id="12" name="Oval 11"/>
          <p:cNvSpPr/>
          <p:nvPr/>
        </p:nvSpPr>
        <p:spPr>
          <a:xfrm>
            <a:off x="548640" y="4498848"/>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13" name="TextBox 12"/>
          <p:cNvSpPr txBox="1"/>
          <p:nvPr/>
        </p:nvSpPr>
        <p:spPr>
          <a:xfrm>
            <a:off x="1051560" y="4517136"/>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Arrastra el Fondo a la casilla </a:t>
            </a:r>
            <a:r>
              <a:rPr sz="1500" b="1" i="0">
                <a:solidFill>
                  <a:srgbClr val="0A0E1A"/>
                </a:solidFill>
                <a:latin typeface="Calibri"/>
              </a:rPr>
              <a:t>Fondo</a:t>
            </a:r>
            <a:r>
              <a:rPr sz="1500" b="0" i="0">
                <a:solidFill>
                  <a:srgbClr val="0A0E1A"/>
                </a:solidFill>
                <a:latin typeface="Calibri"/>
              </a:rPr>
              <a:t>.</a:t>
            </a:r>
          </a:p>
        </p:txBody>
      </p:sp>
      <p:sp>
        <p:nvSpPr>
          <p:cNvPr id="14" name="Rounded Rectangle 13"/>
          <p:cNvSpPr/>
          <p:nvPr/>
        </p:nvSpPr>
        <p:spPr>
          <a:xfrm>
            <a:off x="6446520" y="1645920"/>
            <a:ext cx="5212080" cy="2514600"/>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675120" y="1783080"/>
            <a:ext cx="4846320" cy="365760"/>
          </a:xfrm>
          <a:prstGeom prst="rect">
            <a:avLst/>
          </a:prstGeom>
          <a:noFill/>
        </p:spPr>
        <p:txBody>
          <a:bodyPr wrap="square" lIns="0" rIns="0" tIns="0" bIns="0" anchor="t">
            <a:spAutoFit/>
          </a:bodyPr>
          <a:lstStyle/>
          <a:p>
            <a:pPr algn="l">
              <a:spcAft>
                <a:spcPts val="600"/>
              </a:spcAft>
            </a:pPr>
            <a:r>
              <a:rPr sz="1600" b="1" i="0">
                <a:solidFill>
                  <a:srgbClr val="0A0E1A"/>
                </a:solidFill>
                <a:latin typeface="Calibri"/>
              </a:rPr>
              <a:t>Las tres opciones</a:t>
            </a:r>
          </a:p>
        </p:txBody>
      </p:sp>
      <p:sp>
        <p:nvSpPr>
          <p:cNvPr id="16" name="TextBox 15"/>
          <p:cNvSpPr txBox="1"/>
          <p:nvPr/>
        </p:nvSpPr>
        <p:spPr>
          <a:xfrm>
            <a:off x="6675120" y="2286000"/>
            <a:ext cx="4846320" cy="548640"/>
          </a:xfrm>
          <a:prstGeom prst="rect">
            <a:avLst/>
          </a:prstGeom>
          <a:noFill/>
        </p:spPr>
        <p:txBody>
          <a:bodyPr wrap="square" lIns="0" rIns="0" tIns="0" bIns="0" anchor="t">
            <a:spAutoFit/>
          </a:bodyPr>
          <a:lstStyle/>
          <a:p>
            <a:pPr algn="l">
              <a:spcAft>
                <a:spcPts val="600"/>
              </a:spcAft>
            </a:pPr>
            <a:r>
              <a:rPr sz="1400" b="1" i="0">
                <a:solidFill>
                  <a:srgbClr val="0A0E1A"/>
                </a:solidFill>
                <a:latin typeface="Consolas"/>
              </a:rPr>
              <a:t>Rock</a:t>
            </a:r>
            <a:r>
              <a:rPr sz="1400" b="0" i="0">
                <a:solidFill>
                  <a:srgbClr val="0A0E1A"/>
                </a:solidFill>
                <a:latin typeface="Calibri"/>
              </a:rPr>
              <a:t>   BPM 120</a:t>
            </a:r>
            <a:r>
              <a:rPr sz="1200" b="0" i="0">
                <a:solidFill>
                  <a:srgbClr val="4F5C75"/>
                </a:solidFill>
                <a:latin typeface="Consolas"/>
              </a:rPr>
              <a:t>   Rock_120bpm</a:t>
            </a:r>
          </a:p>
        </p:txBody>
      </p:sp>
      <p:sp>
        <p:nvSpPr>
          <p:cNvPr id="17" name="TextBox 16"/>
          <p:cNvSpPr txBox="1"/>
          <p:nvPr/>
        </p:nvSpPr>
        <p:spPr>
          <a:xfrm>
            <a:off x="6675120" y="2880360"/>
            <a:ext cx="4846320" cy="548640"/>
          </a:xfrm>
          <a:prstGeom prst="rect">
            <a:avLst/>
          </a:prstGeom>
          <a:noFill/>
        </p:spPr>
        <p:txBody>
          <a:bodyPr wrap="square" lIns="0" rIns="0" tIns="0" bIns="0" anchor="t">
            <a:spAutoFit/>
          </a:bodyPr>
          <a:lstStyle/>
          <a:p>
            <a:pPr algn="l">
              <a:spcAft>
                <a:spcPts val="600"/>
              </a:spcAft>
            </a:pPr>
            <a:r>
              <a:rPr sz="1400" b="1" i="0">
                <a:solidFill>
                  <a:srgbClr val="0A0E1A"/>
                </a:solidFill>
                <a:latin typeface="Consolas"/>
              </a:rPr>
              <a:t>Electronica</a:t>
            </a:r>
            <a:r>
              <a:rPr sz="1400" b="0" i="0">
                <a:solidFill>
                  <a:srgbClr val="0A0E1A"/>
                </a:solidFill>
                <a:latin typeface="Calibri"/>
              </a:rPr>
              <a:t>   BPM 128</a:t>
            </a:r>
            <a:r>
              <a:rPr sz="1200" b="0" i="0">
                <a:solidFill>
                  <a:srgbClr val="4F5C75"/>
                </a:solidFill>
                <a:latin typeface="Consolas"/>
              </a:rPr>
              <a:t>   Electronica_128bpm</a:t>
            </a:r>
          </a:p>
        </p:txBody>
      </p:sp>
      <p:sp>
        <p:nvSpPr>
          <p:cNvPr id="18" name="TextBox 17"/>
          <p:cNvSpPr txBox="1"/>
          <p:nvPr/>
        </p:nvSpPr>
        <p:spPr>
          <a:xfrm>
            <a:off x="6675120" y="3474720"/>
            <a:ext cx="4846320" cy="548640"/>
          </a:xfrm>
          <a:prstGeom prst="rect">
            <a:avLst/>
          </a:prstGeom>
          <a:noFill/>
        </p:spPr>
        <p:txBody>
          <a:bodyPr wrap="square" lIns="0" rIns="0" tIns="0" bIns="0" anchor="t">
            <a:spAutoFit/>
          </a:bodyPr>
          <a:lstStyle/>
          <a:p>
            <a:pPr algn="l">
              <a:spcAft>
                <a:spcPts val="600"/>
              </a:spcAft>
            </a:pPr>
            <a:r>
              <a:rPr sz="1400" b="1" i="0">
                <a:solidFill>
                  <a:srgbClr val="0A0E1A"/>
                </a:solidFill>
                <a:latin typeface="Consolas"/>
              </a:rPr>
              <a:t>Metal</a:t>
            </a:r>
            <a:r>
              <a:rPr sz="1400" b="0" i="0">
                <a:solidFill>
                  <a:srgbClr val="0A0E1A"/>
                </a:solidFill>
                <a:latin typeface="Calibri"/>
              </a:rPr>
              <a:t>   BPM 160</a:t>
            </a:r>
            <a:r>
              <a:rPr sz="1200" b="0" i="0">
                <a:solidFill>
                  <a:srgbClr val="4F5C75"/>
                </a:solidFill>
                <a:latin typeface="Consolas"/>
              </a:rPr>
              <a:t>   Metal_160bpm</a:t>
            </a:r>
          </a:p>
        </p:txBody>
      </p:sp>
      <p:sp>
        <p:nvSpPr>
          <p:cNvPr id="19" name="Rounded Rectangle 18"/>
          <p:cNvSpPr/>
          <p:nvPr/>
        </p:nvSpPr>
        <p:spPr>
          <a:xfrm>
            <a:off x="6446520" y="4343400"/>
            <a:ext cx="5212080" cy="1920240"/>
          </a:xfrm>
          <a:prstGeom prst="roundRect">
            <a:avLst>
              <a:gd name="adj" fmla="val 8000"/>
            </a:avLst>
          </a:prstGeom>
          <a:solidFill>
            <a:srgbClr val="FC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675120" y="4507992"/>
            <a:ext cx="4754880" cy="1645920"/>
          </a:xfrm>
          <a:prstGeom prst="rect">
            <a:avLst/>
          </a:prstGeom>
          <a:noFill/>
        </p:spPr>
        <p:txBody>
          <a:bodyPr wrap="square" lIns="0" rIns="0" tIns="0" bIns="0" anchor="t">
            <a:spAutoFit/>
          </a:bodyPr>
          <a:lstStyle/>
          <a:p>
            <a:pPr algn="l">
              <a:spcAft>
                <a:spcPts val="400"/>
              </a:spcAft>
            </a:pPr>
            <a:r>
              <a:rPr sz="1300" b="1" i="0">
                <a:solidFill>
                  <a:srgbClr val="875A00"/>
                </a:solidFill>
                <a:latin typeface="Calibri"/>
              </a:rPr>
              <a:t>!  Si la música no suena</a:t>
            </a:r>
          </a:p>
          <a:p>
            <a:pPr algn="l">
              <a:spcAft>
                <a:spcPts val="400"/>
              </a:spcAft>
            </a:pPr>
            <a:r>
              <a:rPr sz="1300" b="0" i="0">
                <a:solidFill>
                  <a:srgbClr val="0A0E1A"/>
                </a:solidFill>
                <a:latin typeface="Calibri"/>
              </a:rPr>
              <a:t>Falta la canción en la opción, o Play On Awake quedó marcado.</a:t>
            </a:r>
          </a:p>
          <a:p>
            <a:pPr algn="l">
              <a:spcAft>
                <a:spcPts val="400"/>
              </a:spcAft>
            </a:pPr>
            <a:r>
              <a:rPr sz="1300" b="0" i="0">
                <a:solidFill>
                  <a:srgbClr val="0A0E1A"/>
                </a:solidFill>
                <a:latin typeface="Calibri"/>
              </a:rPr>
              <a:t>El nombre del género debe ser idéntico al del botón del menú: Electronica, sin tilde.</a:t>
            </a:r>
          </a:p>
        </p:txBody>
      </p:sp>
      <p:sp>
        <p:nvSpPr>
          <p:cNvPr id="21"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1 · Motricidad  ·  10 de 17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Escena 12_Runner (2 de 2): personaje y obstáculos</a:t>
            </a:r>
          </a:p>
        </p:txBody>
      </p:sp>
      <p:sp>
        <p:nvSpPr>
          <p:cNvPr id="4" name="Oval 3"/>
          <p:cNvSpPr/>
          <p:nvPr/>
        </p:nvSpPr>
        <p:spPr>
          <a:xfrm>
            <a:off x="548640" y="164592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5" name="TextBox 4"/>
          <p:cNvSpPr txBox="1"/>
          <p:nvPr/>
        </p:nvSpPr>
        <p:spPr>
          <a:xfrm>
            <a:off x="1051560" y="1664208"/>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Arrastra </a:t>
            </a:r>
            <a:r>
              <a:rPr sz="1500" b="1" i="0">
                <a:solidFill>
                  <a:srgbClr val="0A0E1A"/>
                </a:solidFill>
                <a:latin typeface="Calibri"/>
              </a:rPr>
              <a:t>MichiFantasma</a:t>
            </a:r>
            <a:r>
              <a:rPr sz="1500" b="0" i="0">
                <a:solidFill>
                  <a:srgbClr val="0A0E1A"/>
                </a:solidFill>
                <a:latin typeface="Calibri"/>
              </a:rPr>
              <a:t>, llámalo Personaje, Position X en -6. Add Component &gt; </a:t>
            </a:r>
            <a:r>
              <a:rPr sz="1500" b="1" i="0">
                <a:solidFill>
                  <a:srgbClr val="0A0E1A"/>
                </a:solidFill>
                <a:latin typeface="Calibri"/>
              </a:rPr>
              <a:t>Personaje Corredor</a:t>
            </a:r>
            <a:r>
              <a:rPr sz="1500" b="0" i="0">
                <a:solidFill>
                  <a:srgbClr val="0A0E1A"/>
                </a:solidFill>
                <a:latin typeface="Calibri"/>
              </a:rPr>
              <a:t>.</a:t>
            </a:r>
          </a:p>
        </p:txBody>
      </p:sp>
      <p:sp>
        <p:nvSpPr>
          <p:cNvPr id="6" name="Oval 5"/>
          <p:cNvSpPr/>
          <p:nvPr/>
        </p:nvSpPr>
        <p:spPr>
          <a:xfrm>
            <a:off x="548640" y="2395728"/>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7" name="TextBox 6"/>
          <p:cNvSpPr txBox="1"/>
          <p:nvPr/>
        </p:nvSpPr>
        <p:spPr>
          <a:xfrm>
            <a:off x="1051560" y="2414016"/>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Prefab </a:t>
            </a:r>
            <a:r>
              <a:rPr sz="1500" b="1" i="0">
                <a:solidFill>
                  <a:srgbClr val="0A0E1A"/>
                </a:solidFill>
                <a:latin typeface="Calibri"/>
              </a:rPr>
              <a:t>Cursor</a:t>
            </a:r>
            <a:r>
              <a:rPr sz="1500" b="0" i="0">
                <a:solidFill>
                  <a:srgbClr val="0A0E1A"/>
                </a:solidFill>
                <a:latin typeface="Calibri"/>
              </a:rPr>
              <a:t>. En su hijo Mira, desmarca el Sprite Renderer: aquí no hace falta verla.</a:t>
            </a:r>
          </a:p>
        </p:txBody>
      </p:sp>
      <p:sp>
        <p:nvSpPr>
          <p:cNvPr id="8" name="Oval 7"/>
          <p:cNvSpPr/>
          <p:nvPr/>
        </p:nvSpPr>
        <p:spPr>
          <a:xfrm>
            <a:off x="548640" y="3145536"/>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9" name="TextBox 8"/>
          <p:cNvSpPr txBox="1"/>
          <p:nvPr/>
        </p:nvSpPr>
        <p:spPr>
          <a:xfrm>
            <a:off x="1051560" y="3163824"/>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En Conductor: Add Component &gt; </a:t>
            </a:r>
            <a:r>
              <a:rPr sz="1500" b="1" i="0">
                <a:solidFill>
                  <a:srgbClr val="0A0E1A"/>
                </a:solidFill>
                <a:latin typeface="Calibri"/>
              </a:rPr>
              <a:t>Generador De Obstaculos</a:t>
            </a:r>
            <a:r>
              <a:rPr sz="1500" b="0" i="0">
                <a:solidFill>
                  <a:srgbClr val="0A0E1A"/>
                </a:solidFill>
                <a:latin typeface="Calibri"/>
              </a:rPr>
              <a:t>.</a:t>
            </a:r>
          </a:p>
        </p:txBody>
      </p:sp>
      <p:sp>
        <p:nvSpPr>
          <p:cNvPr id="10" name="Oval 9"/>
          <p:cNvSpPr/>
          <p:nvPr/>
        </p:nvSpPr>
        <p:spPr>
          <a:xfrm>
            <a:off x="548640" y="3895344"/>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1" name="TextBox 10"/>
          <p:cNvSpPr txBox="1"/>
          <p:nvPr/>
        </p:nvSpPr>
        <p:spPr>
          <a:xfrm>
            <a:off x="1051560" y="3913631"/>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Personaje a la casilla </a:t>
            </a:r>
            <a:r>
              <a:rPr sz="1500" b="1" i="0">
                <a:solidFill>
                  <a:srgbClr val="0A0E1A"/>
                </a:solidFill>
                <a:latin typeface="Calibri"/>
              </a:rPr>
              <a:t>Personaje</a:t>
            </a:r>
            <a:r>
              <a:rPr sz="1500" b="0" i="0">
                <a:solidFill>
                  <a:srgbClr val="0A0E1A"/>
                </a:solidFill>
                <a:latin typeface="Calibri"/>
              </a:rPr>
              <a:t>. En </a:t>
            </a:r>
            <a:r>
              <a:rPr sz="1500" b="1" i="0">
                <a:solidFill>
                  <a:srgbClr val="0A0E1A"/>
                </a:solidFill>
                <a:latin typeface="Calibri"/>
              </a:rPr>
              <a:t>Prefabs</a:t>
            </a:r>
            <a:r>
              <a:rPr sz="1500" b="0" i="0">
                <a:solidFill>
                  <a:srgbClr val="0A0E1A"/>
                </a:solidFill>
                <a:latin typeface="Calibri"/>
              </a:rPr>
              <a:t> pon Pua y Sierra.</a:t>
            </a:r>
          </a:p>
        </p:txBody>
      </p:sp>
      <p:sp>
        <p:nvSpPr>
          <p:cNvPr id="12" name="Oval 11"/>
          <p:cNvSpPr/>
          <p:nvPr/>
        </p:nvSpPr>
        <p:spPr>
          <a:xfrm>
            <a:off x="548640" y="4645152"/>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13" name="TextBox 12"/>
          <p:cNvSpPr txBox="1"/>
          <p:nvPr/>
        </p:nvSpPr>
        <p:spPr>
          <a:xfrm>
            <a:off x="1051560" y="4663440"/>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Un Text arriba a </a:t>
            </a:r>
            <a:r>
              <a:rPr sz="1500" b="1" i="0">
                <a:solidFill>
                  <a:srgbClr val="0A0E1A"/>
                </a:solidFill>
                <a:latin typeface="Calibri"/>
              </a:rPr>
              <a:t>Texto Marcador</a:t>
            </a:r>
            <a:r>
              <a:rPr sz="1500" b="0" i="0">
                <a:solidFill>
                  <a:srgbClr val="0A0E1A"/>
                </a:solidFill>
                <a:latin typeface="Calibri"/>
              </a:rPr>
              <a:t>, y el prefab </a:t>
            </a:r>
            <a:r>
              <a:rPr sz="1500" b="1" i="0">
                <a:solidFill>
                  <a:srgbClr val="0A0E1A"/>
                </a:solidFill>
                <a:latin typeface="Calibri"/>
              </a:rPr>
              <a:t>PantallaFinal</a:t>
            </a:r>
            <a:r>
              <a:rPr sz="1500" b="0" i="0">
                <a:solidFill>
                  <a:srgbClr val="0A0E1A"/>
                </a:solidFill>
                <a:latin typeface="Calibri"/>
              </a:rPr>
              <a:t>.</a:t>
            </a:r>
          </a:p>
        </p:txBody>
      </p:sp>
      <p:sp>
        <p:nvSpPr>
          <p:cNvPr id="14" name="Rounded Rectangle 13"/>
          <p:cNvSpPr/>
          <p:nvPr/>
        </p:nvSpPr>
        <p:spPr>
          <a:xfrm>
            <a:off x="6409944" y="1609344"/>
            <a:ext cx="5285232" cy="3004947"/>
          </a:xfrm>
          <a:prstGeom prst="roundRect">
            <a:avLst>
              <a:gd name="adj" fmla="val 3000"/>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m12_runner.png"/>
          <p:cNvPicPr>
            <a:picLocks noChangeAspect="1"/>
          </p:cNvPicPr>
          <p:nvPr/>
        </p:nvPicPr>
        <p:blipFill>
          <a:blip r:embed="rId2"/>
          <a:stretch>
            <a:fillRect/>
          </a:stretch>
        </p:blipFill>
        <p:spPr>
          <a:xfrm>
            <a:off x="6446520" y="1645920"/>
            <a:ext cx="5212080" cy="2931795"/>
          </a:xfrm>
          <a:prstGeom prst="rect">
            <a:avLst/>
          </a:prstGeom>
        </p:spPr>
      </p:pic>
      <p:sp>
        <p:nvSpPr>
          <p:cNvPr id="16" name="TextBox 15"/>
          <p:cNvSpPr txBox="1"/>
          <p:nvPr/>
        </p:nvSpPr>
        <p:spPr>
          <a:xfrm>
            <a:off x="6446520" y="4687443"/>
            <a:ext cx="5212080" cy="320040"/>
          </a:xfrm>
          <a:prstGeom prst="rect">
            <a:avLst/>
          </a:prstGeom>
          <a:noFill/>
        </p:spPr>
        <p:txBody>
          <a:bodyPr wrap="square" lIns="0" rIns="0" tIns="0" bIns="0" anchor="t">
            <a:spAutoFit/>
          </a:bodyPr>
          <a:lstStyle/>
          <a:p>
            <a:pPr algn="l">
              <a:spcAft>
                <a:spcPts val="600"/>
              </a:spcAft>
            </a:pPr>
            <a:r>
              <a:rPr sz="1200" b="0" i="0">
                <a:solidFill>
                  <a:srgbClr val="4F5C75"/>
                </a:solidFill>
                <a:latin typeface="Calibri"/>
              </a:rPr>
              <a:t>El personaje pintado en Colorear, esquivando al ritmo del rock.</a:t>
            </a:r>
          </a:p>
        </p:txBody>
      </p:sp>
      <p:sp>
        <p:nvSpPr>
          <p:cNvPr id="17" name="Rounded Rectangle 16"/>
          <p:cNvSpPr/>
          <p:nvPr/>
        </p:nvSpPr>
        <p:spPr>
          <a:xfrm>
            <a:off x="6446520" y="5080635"/>
            <a:ext cx="5212080" cy="1234440"/>
          </a:xfrm>
          <a:prstGeom prst="roundRect">
            <a:avLst>
              <a:gd name="adj" fmla="val 5000"/>
            </a:avLst>
          </a:prstGeom>
          <a:solidFill>
            <a:srgbClr val="0F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675120" y="5263515"/>
            <a:ext cx="4754880" cy="960120"/>
          </a:xfrm>
          <a:prstGeom prst="rect">
            <a:avLst/>
          </a:prstGeom>
          <a:noFill/>
        </p:spPr>
        <p:txBody>
          <a:bodyPr wrap="square" lIns="0" rIns="0" tIns="0" bIns="0" anchor="t">
            <a:spAutoFit/>
          </a:bodyPr>
          <a:lstStyle/>
          <a:p>
            <a:pPr algn="l">
              <a:spcAft>
                <a:spcPts val="200"/>
              </a:spcAft>
            </a:pPr>
            <a:r>
              <a:rPr sz="1300" b="0" i="0">
                <a:solidFill>
                  <a:srgbClr val="E9EEFB"/>
                </a:solidFill>
                <a:latin typeface="Consolas"/>
              </a:rPr>
              <a:t>x = xPersonaje</a:t>
            </a:r>
          </a:p>
          <a:p>
            <a:pPr algn="l">
              <a:spcAft>
                <a:spcPts val="200"/>
              </a:spcAft>
            </a:pPr>
            <a:r>
              <a:rPr sz="1300" b="0" i="0">
                <a:solidFill>
                  <a:srgbClr val="E9EEFB"/>
                </a:solidFill>
                <a:latin typeface="Consolas"/>
              </a:rPr>
              <a:t>  + (pulsoDeLlegada - pulsoActual)</a:t>
            </a:r>
          </a:p>
          <a:p>
            <a:pPr algn="l">
              <a:spcAft>
                <a:spcPts val="200"/>
              </a:spcAft>
            </a:pPr>
            <a:r>
              <a:rPr sz="1300" b="0" i="0">
                <a:solidFill>
                  <a:srgbClr val="E9EEFB"/>
                </a:solidFill>
                <a:latin typeface="Consolas"/>
              </a:rPr>
              <a:t>  * unidadesPorPulso</a:t>
            </a:r>
          </a:p>
        </p:txBody>
      </p:sp>
      <p:sp>
        <p:nvSpPr>
          <p:cNvPr id="19"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1 · Motricidad  ·  11 de 17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Escena 20_Grueso: la zona que se achica</a:t>
            </a:r>
          </a:p>
        </p:txBody>
      </p:sp>
      <p:sp>
        <p:nvSpPr>
          <p:cNvPr id="4" name="Oval 3"/>
          <p:cNvSpPr/>
          <p:nvPr/>
        </p:nvSpPr>
        <p:spPr>
          <a:xfrm>
            <a:off x="548640" y="164592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5" name="TextBox 4"/>
          <p:cNvSpPr txBox="1"/>
          <p:nvPr/>
        </p:nvSpPr>
        <p:spPr>
          <a:xfrm>
            <a:off x="1051560" y="1664208"/>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Fondo: arrastra </a:t>
            </a:r>
            <a:r>
              <a:rPr sz="1500" b="1" i="0">
                <a:solidFill>
                  <a:srgbClr val="0A0E1A"/>
                </a:solidFill>
                <a:latin typeface="Calibri"/>
              </a:rPr>
              <a:t>Espacio</a:t>
            </a:r>
            <a:r>
              <a:rPr sz="1500" b="0" i="0">
                <a:solidFill>
                  <a:srgbClr val="0A0E1A"/>
                </a:solidFill>
                <a:latin typeface="Calibri"/>
              </a:rPr>
              <a:t> desde Grueso/Arte/Mundos y llámalo Mapa. Add Component &gt; </a:t>
            </a:r>
            <a:r>
              <a:rPr sz="1500" b="1" i="0">
                <a:solidFill>
                  <a:srgbClr val="0A0E1A"/>
                </a:solidFill>
                <a:latin typeface="Calibri"/>
              </a:rPr>
              <a:t>Fondo Segun Mundo</a:t>
            </a:r>
            <a:r>
              <a:rPr sz="1500" b="0" i="0">
                <a:solidFill>
                  <a:srgbClr val="0A0E1A"/>
                </a:solidFill>
                <a:latin typeface="Calibri"/>
              </a:rPr>
              <a:t>.</a:t>
            </a:r>
          </a:p>
        </p:txBody>
      </p:sp>
      <p:sp>
        <p:nvSpPr>
          <p:cNvPr id="6" name="Oval 5"/>
          <p:cNvSpPr/>
          <p:nvPr/>
        </p:nvSpPr>
        <p:spPr>
          <a:xfrm>
            <a:off x="548640" y="2395728"/>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7" name="TextBox 6"/>
          <p:cNvSpPr txBox="1"/>
          <p:nvPr/>
        </p:nvSpPr>
        <p:spPr>
          <a:xfrm>
            <a:off x="1051560" y="2414016"/>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En Fondo Segun Mundo, tres mundos: Espacio, Bosque y CiudadNeon, cada uno con su imagen.</a:t>
            </a:r>
          </a:p>
        </p:txBody>
      </p:sp>
      <p:sp>
        <p:nvSpPr>
          <p:cNvPr id="8" name="Oval 7"/>
          <p:cNvSpPr/>
          <p:nvPr/>
        </p:nvSpPr>
        <p:spPr>
          <a:xfrm>
            <a:off x="548640" y="3145536"/>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9" name="TextBox 8"/>
          <p:cNvSpPr txBox="1"/>
          <p:nvPr/>
        </p:nvSpPr>
        <p:spPr>
          <a:xfrm>
            <a:off x="1051560" y="3163824"/>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Un sprite </a:t>
            </a:r>
            <a:r>
              <a:rPr sz="1500" b="1" i="0">
                <a:solidFill>
                  <a:srgbClr val="0A0E1A"/>
                </a:solidFill>
                <a:latin typeface="Calibri"/>
              </a:rPr>
              <a:t>Circulo</a:t>
            </a:r>
            <a:r>
              <a:rPr sz="1500" b="0" i="0">
                <a:solidFill>
                  <a:srgbClr val="0A0E1A"/>
                </a:solidFill>
                <a:latin typeface="Calibri"/>
              </a:rPr>
              <a:t> llamado Zona, y los prefabs Cursor y PantallaFinal.</a:t>
            </a:r>
          </a:p>
        </p:txBody>
      </p:sp>
      <p:sp>
        <p:nvSpPr>
          <p:cNvPr id="10" name="Oval 9"/>
          <p:cNvSpPr/>
          <p:nvPr/>
        </p:nvSpPr>
        <p:spPr>
          <a:xfrm>
            <a:off x="548640" y="3895344"/>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1" name="TextBox 10"/>
          <p:cNvSpPr txBox="1"/>
          <p:nvPr/>
        </p:nvSpPr>
        <p:spPr>
          <a:xfrm>
            <a:off x="1051560" y="3913631"/>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Create Empty: Juego. Add Component &gt; </a:t>
            </a:r>
            <a:r>
              <a:rPr sz="1500" b="1" i="0">
                <a:solidFill>
                  <a:srgbClr val="0A0E1A"/>
                </a:solidFill>
                <a:latin typeface="Calibri"/>
              </a:rPr>
              <a:t>Zona Que Se Achica</a:t>
            </a:r>
            <a:r>
              <a:rPr sz="1500" b="0" i="0">
                <a:solidFill>
                  <a:srgbClr val="0A0E1A"/>
                </a:solidFill>
                <a:latin typeface="Calibri"/>
              </a:rPr>
              <a:t>. Arrastra Zona y Mapa.</a:t>
            </a:r>
          </a:p>
        </p:txBody>
      </p:sp>
      <p:sp>
        <p:nvSpPr>
          <p:cNvPr id="12" name="Oval 11"/>
          <p:cNvSpPr/>
          <p:nvPr/>
        </p:nvSpPr>
        <p:spPr>
          <a:xfrm>
            <a:off x="548640" y="4645152"/>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13" name="TextBox 12"/>
          <p:cNvSpPr txBox="1"/>
          <p:nvPr/>
        </p:nvSpPr>
        <p:spPr>
          <a:xfrm>
            <a:off x="1051560" y="4663440"/>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Un Text arriba a </a:t>
            </a:r>
            <a:r>
              <a:rPr sz="1500" b="1" i="0">
                <a:solidFill>
                  <a:srgbClr val="0A0E1A"/>
                </a:solidFill>
                <a:latin typeface="Calibri"/>
              </a:rPr>
              <a:t>Texto Escalon</a:t>
            </a:r>
            <a:r>
              <a:rPr sz="1500" b="0" i="0">
                <a:solidFill>
                  <a:srgbClr val="0A0E1A"/>
                </a:solidFill>
                <a:latin typeface="Calibri"/>
              </a:rPr>
              <a:t>.</a:t>
            </a:r>
          </a:p>
        </p:txBody>
      </p:sp>
      <p:sp>
        <p:nvSpPr>
          <p:cNvPr id="14" name="Rounded Rectangle 13"/>
          <p:cNvSpPr/>
          <p:nvPr/>
        </p:nvSpPr>
        <p:spPr>
          <a:xfrm>
            <a:off x="6409944" y="1609344"/>
            <a:ext cx="5285232" cy="3004947"/>
          </a:xfrm>
          <a:prstGeom prst="roundRect">
            <a:avLst>
              <a:gd name="adj" fmla="val 3000"/>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m20_grueso.png"/>
          <p:cNvPicPr>
            <a:picLocks noChangeAspect="1"/>
          </p:cNvPicPr>
          <p:nvPr/>
        </p:nvPicPr>
        <p:blipFill>
          <a:blip r:embed="rId2"/>
          <a:stretch>
            <a:fillRect/>
          </a:stretch>
        </p:blipFill>
        <p:spPr>
          <a:xfrm>
            <a:off x="6446520" y="1645920"/>
            <a:ext cx="5212080" cy="2931795"/>
          </a:xfrm>
          <a:prstGeom prst="rect">
            <a:avLst/>
          </a:prstGeom>
        </p:spPr>
      </p:pic>
      <p:sp>
        <p:nvSpPr>
          <p:cNvPr id="16" name="TextBox 15"/>
          <p:cNvSpPr txBox="1"/>
          <p:nvPr/>
        </p:nvSpPr>
        <p:spPr>
          <a:xfrm>
            <a:off x="6446520" y="4687443"/>
            <a:ext cx="5212080" cy="320040"/>
          </a:xfrm>
          <a:prstGeom prst="rect">
            <a:avLst/>
          </a:prstGeom>
          <a:noFill/>
        </p:spPr>
        <p:txBody>
          <a:bodyPr wrap="square" lIns="0" rIns="0" tIns="0" bIns="0" anchor="t">
            <a:spAutoFit/>
          </a:bodyPr>
          <a:lstStyle/>
          <a:p>
            <a:pPr algn="l">
              <a:spcAft>
                <a:spcPts val="600"/>
              </a:spcAft>
            </a:pPr>
            <a:r>
              <a:rPr sz="1200" b="0" i="0">
                <a:solidFill>
                  <a:srgbClr val="4F5C75"/>
                </a:solidFill>
                <a:latin typeface="Calibri"/>
              </a:rPr>
              <a:t>Escalón 6 en el bosque: la zona ya es la mitad de grande.</a:t>
            </a:r>
          </a:p>
        </p:txBody>
      </p:sp>
      <p:sp>
        <p:nvSpPr>
          <p:cNvPr id="17" name="Rounded Rectangle 16"/>
          <p:cNvSpPr/>
          <p:nvPr/>
        </p:nvSpPr>
        <p:spPr>
          <a:xfrm>
            <a:off x="6446520" y="5126355"/>
            <a:ext cx="5212080" cy="960120"/>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675120" y="5290947"/>
            <a:ext cx="4754880" cy="685800"/>
          </a:xfrm>
          <a:prstGeom prst="rect">
            <a:avLst/>
          </a:prstGeom>
          <a:noFill/>
        </p:spPr>
        <p:txBody>
          <a:bodyPr wrap="square" lIns="0" rIns="0" tIns="0" bIns="0" anchor="t">
            <a:spAutoFit/>
          </a:bodyPr>
          <a:lstStyle/>
          <a:p>
            <a:pPr algn="l">
              <a:spcAft>
                <a:spcPts val="400"/>
              </a:spcAft>
            </a:pPr>
            <a:r>
              <a:rPr sz="1300" b="1" i="0">
                <a:solidFill>
                  <a:srgbClr val="097A41"/>
                </a:solidFill>
                <a:latin typeface="Calibri"/>
              </a:rPr>
              <a:t>✓  Cómo sabes que quedó</a:t>
            </a:r>
          </a:p>
          <a:p>
            <a:pPr algn="l">
              <a:spcAft>
                <a:spcPts val="400"/>
              </a:spcAft>
            </a:pPr>
            <a:r>
              <a:rPr sz="1300" b="0" i="0">
                <a:solidFill>
                  <a:srgbClr val="0A0E1A"/>
                </a:solidFill>
                <a:latin typeface="Calibri"/>
              </a:rPr>
              <a:t>Aguantar adentro sube de escalón. Salirse desvanece el mapa. Doce escalones ganan.</a:t>
            </a:r>
          </a:p>
        </p:txBody>
      </p:sp>
      <p:sp>
        <p:nvSpPr>
          <p:cNvPr id="19"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1 · Motricidad  ·  12 de 17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Un paso que se repite: agrega la pausa a cada escena</a:t>
            </a:r>
          </a:p>
        </p:txBody>
      </p:sp>
      <p:sp>
        <p:nvSpPr>
          <p:cNvPr id="4" name="Oval 3"/>
          <p:cNvSpPr/>
          <p:nvPr/>
        </p:nvSpPr>
        <p:spPr>
          <a:xfrm>
            <a:off x="548640" y="164592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5" name="TextBox 4"/>
          <p:cNvSpPr txBox="1"/>
          <p:nvPr/>
        </p:nvSpPr>
        <p:spPr>
          <a:xfrm>
            <a:off x="1051560" y="1664208"/>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Arrastra el prefab </a:t>
            </a:r>
            <a:r>
              <a:rPr sz="1500" b="1" i="0">
                <a:solidFill>
                  <a:srgbClr val="0A0E1A"/>
                </a:solidFill>
                <a:latin typeface="Calibri"/>
              </a:rPr>
              <a:t>Pausa</a:t>
            </a:r>
            <a:r>
              <a:rPr sz="1500" b="0" i="0">
                <a:solidFill>
                  <a:srgbClr val="0A0E1A"/>
                </a:solidFill>
                <a:latin typeface="Calibri"/>
              </a:rPr>
              <a:t> (KitEquipo10/Comun/Prefabs) a 10_Colorear, 11_Camino, 12_Runner y 20_Grueso.</a:t>
            </a:r>
          </a:p>
        </p:txBody>
      </p:sp>
      <p:sp>
        <p:nvSpPr>
          <p:cNvPr id="6" name="Oval 5"/>
          <p:cNvSpPr/>
          <p:nvPr/>
        </p:nvSpPr>
        <p:spPr>
          <a:xfrm>
            <a:off x="548640" y="2395728"/>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7" name="TextBox 6"/>
          <p:cNvSpPr txBox="1"/>
          <p:nvPr/>
        </p:nvSpPr>
        <p:spPr>
          <a:xfrm>
            <a:off x="1051560" y="2414016"/>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Selecciónalo. En el Inspector escribe </a:t>
            </a:r>
            <a:r>
              <a:rPr sz="1500" b="1" i="0">
                <a:solidFill>
                  <a:srgbClr val="0A0E1A"/>
                </a:solidFill>
                <a:latin typeface="Calibri"/>
              </a:rPr>
              <a:t>Nombre Del Juego</a:t>
            </a:r>
            <a:r>
              <a:rPr sz="1500" b="0" i="0">
                <a:solidFill>
                  <a:srgbClr val="0A0E1A"/>
                </a:solidFill>
                <a:latin typeface="Calibri"/>
              </a:rPr>
              <a:t>: Colorear, Camino, Runner o Zona que se achica.</a:t>
            </a:r>
          </a:p>
        </p:txBody>
      </p:sp>
      <p:sp>
        <p:nvSpPr>
          <p:cNvPr id="8" name="Oval 7"/>
          <p:cNvSpPr/>
          <p:nvPr/>
        </p:nvSpPr>
        <p:spPr>
          <a:xfrm>
            <a:off x="548640" y="3145536"/>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9" name="TextBox 8"/>
          <p:cNvSpPr txBox="1"/>
          <p:nvPr/>
        </p:nvSpPr>
        <p:spPr>
          <a:xfrm>
            <a:off x="1051560" y="3163824"/>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En </a:t>
            </a:r>
            <a:r>
              <a:rPr sz="1500" b="1" i="0">
                <a:solidFill>
                  <a:srgbClr val="0A0E1A"/>
                </a:solidFill>
                <a:latin typeface="Calibri"/>
              </a:rPr>
              <a:t>Categoria</a:t>
            </a:r>
            <a:r>
              <a:rPr sz="1500" b="0" i="0">
                <a:solidFill>
                  <a:srgbClr val="0A0E1A"/>
                </a:solidFill>
                <a:latin typeface="Calibri"/>
              </a:rPr>
              <a:t> elige Fina (colorear, camino y runner) o Gruesa (la zona).</a:t>
            </a:r>
          </a:p>
        </p:txBody>
      </p:sp>
      <p:sp>
        <p:nvSpPr>
          <p:cNvPr id="10" name="Oval 9"/>
          <p:cNvSpPr/>
          <p:nvPr/>
        </p:nvSpPr>
        <p:spPr>
          <a:xfrm>
            <a:off x="548640" y="3895344"/>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1" name="TextBox 10"/>
          <p:cNvSpPr txBox="1"/>
          <p:nvPr/>
        </p:nvSpPr>
        <p:spPr>
          <a:xfrm>
            <a:off x="1051560" y="3913631"/>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En 12_Runner marca </a:t>
            </a:r>
            <a:r>
              <a:rPr sz="1500" b="1" i="0">
                <a:solidFill>
                  <a:srgbClr val="0A0E1A"/>
                </a:solidFill>
                <a:latin typeface="Calibri"/>
              </a:rPr>
              <a:t>Agregar Genero</a:t>
            </a:r>
            <a:r>
              <a:rPr sz="1500" b="0" i="0">
                <a:solidFill>
                  <a:srgbClr val="0A0E1A"/>
                </a:solidFill>
                <a:latin typeface="Calibri"/>
              </a:rPr>
              <a:t>. En 20_Grueso marca </a:t>
            </a:r>
            <a:r>
              <a:rPr sz="1500" b="1" i="0">
                <a:solidFill>
                  <a:srgbClr val="0A0E1A"/>
                </a:solidFill>
                <a:latin typeface="Calibri"/>
              </a:rPr>
              <a:t>Agregar Mundo</a:t>
            </a:r>
            <a:r>
              <a:rPr sz="1500" b="0" i="0">
                <a:solidFill>
                  <a:srgbClr val="0A0E1A"/>
                </a:solidFill>
                <a:latin typeface="Calibri"/>
              </a:rPr>
              <a:t>.</a:t>
            </a:r>
          </a:p>
        </p:txBody>
      </p:sp>
      <p:sp>
        <p:nvSpPr>
          <p:cNvPr id="12" name="Oval 11"/>
          <p:cNvSpPr/>
          <p:nvPr/>
        </p:nvSpPr>
        <p:spPr>
          <a:xfrm>
            <a:off x="548640" y="4645152"/>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13" name="TextBox 12"/>
          <p:cNvSpPr txBox="1"/>
          <p:nvPr/>
        </p:nvSpPr>
        <p:spPr>
          <a:xfrm>
            <a:off x="1051560" y="4663440"/>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Dale Play y pulsa </a:t>
            </a:r>
            <a:r>
              <a:rPr sz="1500" b="1" i="0">
                <a:solidFill>
                  <a:srgbClr val="0A0E1A"/>
                </a:solidFill>
                <a:latin typeface="Calibri"/>
              </a:rPr>
              <a:t>Esc</a:t>
            </a:r>
            <a:r>
              <a:rPr sz="1500" b="0" i="0">
                <a:solidFill>
                  <a:srgbClr val="0A0E1A"/>
                </a:solidFill>
                <a:latin typeface="Calibri"/>
              </a:rPr>
              <a:t>: sale el menú. Continuar cuenta 3, 2, 1.</a:t>
            </a:r>
          </a:p>
        </p:txBody>
      </p:sp>
      <p:sp>
        <p:nvSpPr>
          <p:cNvPr id="14" name="Rounded Rectangle 13"/>
          <p:cNvSpPr/>
          <p:nvPr/>
        </p:nvSpPr>
        <p:spPr>
          <a:xfrm>
            <a:off x="6684264" y="1609344"/>
            <a:ext cx="5010912" cy="2850642"/>
          </a:xfrm>
          <a:prstGeom prst="roundRect">
            <a:avLst>
              <a:gd name="adj" fmla="val 3000"/>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m12_pausa.png"/>
          <p:cNvPicPr>
            <a:picLocks noChangeAspect="1"/>
          </p:cNvPicPr>
          <p:nvPr/>
        </p:nvPicPr>
        <p:blipFill>
          <a:blip r:embed="rId2"/>
          <a:stretch>
            <a:fillRect/>
          </a:stretch>
        </p:blipFill>
        <p:spPr>
          <a:xfrm>
            <a:off x="6720840" y="1645920"/>
            <a:ext cx="4937760" cy="2777490"/>
          </a:xfrm>
          <a:prstGeom prst="rect">
            <a:avLst/>
          </a:prstGeom>
        </p:spPr>
      </p:pic>
      <p:sp>
        <p:nvSpPr>
          <p:cNvPr id="16" name="TextBox 15"/>
          <p:cNvSpPr txBox="1"/>
          <p:nvPr/>
        </p:nvSpPr>
        <p:spPr>
          <a:xfrm>
            <a:off x="6720840" y="4533138"/>
            <a:ext cx="4937760" cy="320040"/>
          </a:xfrm>
          <a:prstGeom prst="rect">
            <a:avLst/>
          </a:prstGeom>
          <a:noFill/>
        </p:spPr>
        <p:txBody>
          <a:bodyPr wrap="square" lIns="0" rIns="0" tIns="0" bIns="0" anchor="t">
            <a:spAutoFit/>
          </a:bodyPr>
          <a:lstStyle/>
          <a:p>
            <a:pPr algn="l">
              <a:spcAft>
                <a:spcPts val="600"/>
              </a:spcAft>
            </a:pPr>
            <a:r>
              <a:rPr sz="1200" b="0" i="0">
                <a:solidFill>
                  <a:srgbClr val="4F5C75"/>
                </a:solidFill>
                <a:latin typeface="Calibri"/>
              </a:rPr>
              <a:t>La pausa del runner, con el color de la categoría fina.</a:t>
            </a:r>
          </a:p>
        </p:txBody>
      </p:sp>
      <p:sp>
        <p:nvSpPr>
          <p:cNvPr id="17" name="Rounded Rectangle 16"/>
          <p:cNvSpPr/>
          <p:nvPr/>
        </p:nvSpPr>
        <p:spPr>
          <a:xfrm>
            <a:off x="6720840" y="4926330"/>
            <a:ext cx="4937760" cy="1371600"/>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0" y="5090922"/>
            <a:ext cx="4480560" cy="1097280"/>
          </a:xfrm>
          <a:prstGeom prst="rect">
            <a:avLst/>
          </a:prstGeom>
          <a:noFill/>
        </p:spPr>
        <p:txBody>
          <a:bodyPr wrap="square" lIns="0" rIns="0" tIns="0" bIns="0" anchor="t">
            <a:spAutoFit/>
          </a:bodyPr>
          <a:lstStyle/>
          <a:p>
            <a:pPr algn="l">
              <a:spcAft>
                <a:spcPts val="400"/>
              </a:spcAft>
            </a:pPr>
            <a:r>
              <a:rPr sz="1300" b="1" i="0">
                <a:solidFill>
                  <a:srgbClr val="097A41"/>
                </a:solidFill>
                <a:latin typeface="Calibri"/>
              </a:rPr>
              <a:t>✓  Cómo sabes que quedó</a:t>
            </a:r>
          </a:p>
          <a:p>
            <a:pPr algn="l">
              <a:spcAft>
                <a:spcPts val="400"/>
              </a:spcAft>
            </a:pPr>
            <a:r>
              <a:rPr sz="1300" b="0" i="0">
                <a:solidFill>
                  <a:srgbClr val="0A0E1A"/>
                </a:solidFill>
                <a:latin typeface="Calibri"/>
              </a:rPr>
              <a:t>Arriba a la derecha aparece el botón de pausa, y Esc abre el menú con la categoría y el juego.</a:t>
            </a:r>
          </a:p>
        </p:txBody>
      </p:sp>
      <p:sp>
        <p:nvSpPr>
          <p:cNvPr id="19" name="Rounded Rectangle 18"/>
          <p:cNvSpPr/>
          <p:nvPr/>
        </p:nvSpPr>
        <p:spPr>
          <a:xfrm>
            <a:off x="548640" y="5486400"/>
            <a:ext cx="5852160" cy="822960"/>
          </a:xfrm>
          <a:prstGeom prst="roundRect">
            <a:avLst>
              <a:gd name="adj" fmla="val 8000"/>
            </a:avLst>
          </a:prstGeom>
          <a:solidFill>
            <a:srgbClr val="FC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77240" y="5650992"/>
            <a:ext cx="5394960" cy="548640"/>
          </a:xfrm>
          <a:prstGeom prst="rect">
            <a:avLst/>
          </a:prstGeom>
          <a:noFill/>
        </p:spPr>
        <p:txBody>
          <a:bodyPr wrap="square" lIns="0" rIns="0" tIns="0" bIns="0" anchor="t">
            <a:spAutoFit/>
          </a:bodyPr>
          <a:lstStyle/>
          <a:p>
            <a:pPr algn="l">
              <a:spcAft>
                <a:spcPts val="400"/>
              </a:spcAft>
            </a:pPr>
            <a:r>
              <a:rPr sz="1300" b="1" i="0">
                <a:solidFill>
                  <a:srgbClr val="875A00"/>
                </a:solidFill>
                <a:latin typeface="Calibri"/>
              </a:rPr>
              <a:t>!  No hay nada más que conectar</a:t>
            </a:r>
          </a:p>
          <a:p>
            <a:pPr algn="l">
              <a:spcAft>
                <a:spcPts val="400"/>
              </a:spcAft>
            </a:pPr>
            <a:r>
              <a:rPr sz="1300" b="0" i="0">
                <a:solidFill>
                  <a:srgbClr val="0A0E1A"/>
                </a:solidFill>
                <a:latin typeface="Calibri"/>
              </a:rPr>
              <a:t>El prefab ya trae sus botones y sus sonidos: no se toca On Click.</a:t>
            </a:r>
          </a:p>
        </p:txBody>
      </p:sp>
      <p:sp>
        <p:nvSpPr>
          <p:cNvPr id="21"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1 · Motricidad  ·  13 de 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Build Settings: la lista que conecta las escenas</a:t>
            </a:r>
          </a:p>
        </p:txBody>
      </p:sp>
      <p:sp>
        <p:nvSpPr>
          <p:cNvPr id="4" name="Oval 3"/>
          <p:cNvSpPr/>
          <p:nvPr/>
        </p:nvSpPr>
        <p:spPr>
          <a:xfrm>
            <a:off x="548640" y="164592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5" name="TextBox 4"/>
          <p:cNvSpPr txBox="1"/>
          <p:nvPr/>
        </p:nvSpPr>
        <p:spPr>
          <a:xfrm>
            <a:off x="1051560" y="1664208"/>
            <a:ext cx="5257800" cy="502920"/>
          </a:xfrm>
          <a:prstGeom prst="rect">
            <a:avLst/>
          </a:prstGeom>
          <a:noFill/>
        </p:spPr>
        <p:txBody>
          <a:bodyPr wrap="square" lIns="0" rIns="0" tIns="0" bIns="0" anchor="t">
            <a:spAutoFit/>
          </a:bodyPr>
          <a:lstStyle/>
          <a:p>
            <a:pPr algn="l">
              <a:spcAft>
                <a:spcPts val="600"/>
              </a:spcAft>
            </a:pPr>
            <a:r>
              <a:rPr sz="1500" b="1" i="0">
                <a:solidFill>
                  <a:srgbClr val="0A0E1A"/>
                </a:solidFill>
                <a:latin typeface="Calibri"/>
              </a:rPr>
              <a:t>File &gt; Build Settings...</a:t>
            </a:r>
          </a:p>
        </p:txBody>
      </p:sp>
      <p:sp>
        <p:nvSpPr>
          <p:cNvPr id="6" name="Oval 5"/>
          <p:cNvSpPr/>
          <p:nvPr/>
        </p:nvSpPr>
        <p:spPr>
          <a:xfrm>
            <a:off x="548640" y="2304288"/>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7" name="TextBox 6"/>
          <p:cNvSpPr txBox="1"/>
          <p:nvPr/>
        </p:nvSpPr>
        <p:spPr>
          <a:xfrm>
            <a:off x="1051560" y="2322576"/>
            <a:ext cx="525780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Arrastra las cinco escenas desde Project a la lista Scenes In Build.</a:t>
            </a:r>
          </a:p>
        </p:txBody>
      </p:sp>
      <p:sp>
        <p:nvSpPr>
          <p:cNvPr id="8" name="Oval 7"/>
          <p:cNvSpPr/>
          <p:nvPr/>
        </p:nvSpPr>
        <p:spPr>
          <a:xfrm>
            <a:off x="548640" y="2962656"/>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9" name="TextBox 8"/>
          <p:cNvSpPr txBox="1"/>
          <p:nvPr/>
        </p:nvSpPr>
        <p:spPr>
          <a:xfrm>
            <a:off x="1051560" y="2980944"/>
            <a:ext cx="525780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Ordénalas: </a:t>
            </a:r>
            <a:r>
              <a:rPr sz="1500" b="1" i="0">
                <a:solidFill>
                  <a:srgbClr val="0A0E1A"/>
                </a:solidFill>
                <a:latin typeface="Calibri"/>
              </a:rPr>
              <a:t>01_Menu</a:t>
            </a:r>
            <a:r>
              <a:rPr sz="1500" b="0" i="0">
                <a:solidFill>
                  <a:srgbClr val="0A0E1A"/>
                </a:solidFill>
                <a:latin typeface="Calibri"/>
              </a:rPr>
              <a:t> arriba, con el número 0.</a:t>
            </a:r>
          </a:p>
        </p:txBody>
      </p:sp>
      <p:sp>
        <p:nvSpPr>
          <p:cNvPr id="10" name="Oval 9"/>
          <p:cNvSpPr/>
          <p:nvPr/>
        </p:nvSpPr>
        <p:spPr>
          <a:xfrm>
            <a:off x="548640" y="3621024"/>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1" name="TextBox 10"/>
          <p:cNvSpPr txBox="1"/>
          <p:nvPr/>
        </p:nvSpPr>
        <p:spPr>
          <a:xfrm>
            <a:off x="1051560" y="3639312"/>
            <a:ext cx="525780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Cierra la ventana. No hace falta pulsar Build todavía.</a:t>
            </a:r>
          </a:p>
        </p:txBody>
      </p:sp>
      <p:sp>
        <p:nvSpPr>
          <p:cNvPr id="12" name="Oval 11"/>
          <p:cNvSpPr/>
          <p:nvPr/>
        </p:nvSpPr>
        <p:spPr>
          <a:xfrm>
            <a:off x="548640" y="4279392"/>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13" name="TextBox 12"/>
          <p:cNvSpPr txBox="1"/>
          <p:nvPr/>
        </p:nvSpPr>
        <p:spPr>
          <a:xfrm>
            <a:off x="1051560" y="4297679"/>
            <a:ext cx="525780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Abre 01_Menu y dale Play: juega los cuatro caminos de punta a punta.</a:t>
            </a:r>
          </a:p>
        </p:txBody>
      </p:sp>
      <p:sp>
        <p:nvSpPr>
          <p:cNvPr id="14" name="Rounded Rectangle 13"/>
          <p:cNvSpPr/>
          <p:nvPr/>
        </p:nvSpPr>
        <p:spPr>
          <a:xfrm>
            <a:off x="548640" y="5074920"/>
            <a:ext cx="5760720" cy="1143000"/>
          </a:xfrm>
          <a:prstGeom prst="roundRect">
            <a:avLst>
              <a:gd name="adj" fmla="val 5000"/>
            </a:avLst>
          </a:prstGeom>
          <a:solidFill>
            <a:srgbClr val="0F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77240" y="5257800"/>
            <a:ext cx="5303520" cy="868680"/>
          </a:xfrm>
          <a:prstGeom prst="rect">
            <a:avLst/>
          </a:prstGeom>
          <a:noFill/>
        </p:spPr>
        <p:txBody>
          <a:bodyPr wrap="square" lIns="0" rIns="0" tIns="0" bIns="0" anchor="t">
            <a:spAutoFit/>
          </a:bodyPr>
          <a:lstStyle/>
          <a:p>
            <a:pPr algn="l">
              <a:spcAft>
                <a:spcPts val="200"/>
              </a:spcAft>
            </a:pPr>
            <a:r>
              <a:rPr sz="1300" b="0" i="0">
                <a:solidFill>
                  <a:srgbClr val="E9EEFB"/>
                </a:solidFill>
                <a:latin typeface="Consolas"/>
              </a:rPr>
              <a:t>Scene '12_Runner' couldn't be loaded because it has</a:t>
            </a:r>
          </a:p>
          <a:p>
            <a:pPr algn="l">
              <a:spcAft>
                <a:spcPts val="200"/>
              </a:spcAft>
            </a:pPr>
            <a:r>
              <a:rPr sz="1300" b="0" i="0">
                <a:solidFill>
                  <a:srgbClr val="E9EEFB"/>
                </a:solidFill>
                <a:latin typeface="Consolas"/>
              </a:rPr>
              <a:t>not been added to the build settings</a:t>
            </a:r>
          </a:p>
        </p:txBody>
      </p:sp>
      <p:sp>
        <p:nvSpPr>
          <p:cNvPr id="16" name="Rounded Rectangle 15"/>
          <p:cNvSpPr/>
          <p:nvPr/>
        </p:nvSpPr>
        <p:spPr>
          <a:xfrm>
            <a:off x="6675120" y="1645920"/>
            <a:ext cx="4983480" cy="4572000"/>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903720" y="1783080"/>
            <a:ext cx="4572000" cy="365760"/>
          </a:xfrm>
          <a:prstGeom prst="rect">
            <a:avLst/>
          </a:prstGeom>
          <a:noFill/>
        </p:spPr>
        <p:txBody>
          <a:bodyPr wrap="square" lIns="0" rIns="0" tIns="0" bIns="0" anchor="t">
            <a:spAutoFit/>
          </a:bodyPr>
          <a:lstStyle/>
          <a:p>
            <a:pPr algn="l">
              <a:spcAft>
                <a:spcPts val="600"/>
              </a:spcAft>
            </a:pPr>
            <a:r>
              <a:rPr sz="1700" b="1" i="0">
                <a:solidFill>
                  <a:srgbClr val="0A0E1A"/>
                </a:solidFill>
                <a:latin typeface="Calibri"/>
              </a:rPr>
              <a:t>La prueba completa</a:t>
            </a:r>
          </a:p>
        </p:txBody>
      </p:sp>
      <p:sp>
        <p:nvSpPr>
          <p:cNvPr id="18" name="TextBox 17"/>
          <p:cNvSpPr txBox="1"/>
          <p:nvPr/>
        </p:nvSpPr>
        <p:spPr>
          <a:xfrm>
            <a:off x="6903720" y="2286000"/>
            <a:ext cx="4572000" cy="548640"/>
          </a:xfrm>
          <a:prstGeom prst="rect">
            <a:avLst/>
          </a:prstGeom>
          <a:noFill/>
        </p:spPr>
        <p:txBody>
          <a:bodyPr wrap="square" lIns="0" rIns="0" tIns="0" bIns="0" anchor="t">
            <a:spAutoFit/>
          </a:bodyPr>
          <a:lstStyle/>
          <a:p>
            <a:pPr algn="l">
              <a:spcAft>
                <a:spcPts val="600"/>
              </a:spcAft>
            </a:pPr>
            <a:r>
              <a:rPr sz="1600" b="0" i="0">
                <a:solidFill>
                  <a:srgbClr val="7317C9"/>
                </a:solidFill>
                <a:latin typeface="Calibri"/>
              </a:rPr>
              <a:t>☐  </a:t>
            </a:r>
            <a:r>
              <a:rPr sz="1400" b="0" i="0">
                <a:solidFill>
                  <a:srgbClr val="0A0E1A"/>
                </a:solidFill>
                <a:latin typeface="Calibri"/>
              </a:rPr>
              <a:t>Menú: mano derecha, luego Colorear.</a:t>
            </a:r>
          </a:p>
        </p:txBody>
      </p:sp>
      <p:sp>
        <p:nvSpPr>
          <p:cNvPr id="19" name="TextBox 18"/>
          <p:cNvSpPr txBox="1"/>
          <p:nvPr/>
        </p:nvSpPr>
        <p:spPr>
          <a:xfrm>
            <a:off x="6903720" y="2907792"/>
            <a:ext cx="4572000" cy="548640"/>
          </a:xfrm>
          <a:prstGeom prst="rect">
            <a:avLst/>
          </a:prstGeom>
          <a:noFill/>
        </p:spPr>
        <p:txBody>
          <a:bodyPr wrap="square" lIns="0" rIns="0" tIns="0" bIns="0" anchor="t">
            <a:spAutoFit/>
          </a:bodyPr>
          <a:lstStyle/>
          <a:p>
            <a:pPr algn="l">
              <a:spcAft>
                <a:spcPts val="600"/>
              </a:spcAft>
            </a:pPr>
            <a:r>
              <a:rPr sz="1600" b="0" i="0">
                <a:solidFill>
                  <a:srgbClr val="7317C9"/>
                </a:solidFill>
                <a:latin typeface="Calibri"/>
              </a:rPr>
              <a:t>☐  </a:t>
            </a:r>
            <a:r>
              <a:rPr sz="1400" b="0" i="0">
                <a:solidFill>
                  <a:srgbClr val="0A0E1A"/>
                </a:solidFill>
                <a:latin typeface="Calibri"/>
              </a:rPr>
              <a:t>Colorear: pinta, elige otro color, pulsa Listo.</a:t>
            </a:r>
          </a:p>
        </p:txBody>
      </p:sp>
      <p:sp>
        <p:nvSpPr>
          <p:cNvPr id="20" name="TextBox 19"/>
          <p:cNvSpPr txBox="1"/>
          <p:nvPr/>
        </p:nvSpPr>
        <p:spPr>
          <a:xfrm>
            <a:off x="6903720" y="3529584"/>
            <a:ext cx="4572000" cy="548640"/>
          </a:xfrm>
          <a:prstGeom prst="rect">
            <a:avLst/>
          </a:prstGeom>
          <a:noFill/>
        </p:spPr>
        <p:txBody>
          <a:bodyPr wrap="square" lIns="0" rIns="0" tIns="0" bIns="0" anchor="t">
            <a:spAutoFit/>
          </a:bodyPr>
          <a:lstStyle/>
          <a:p>
            <a:pPr algn="l">
              <a:spcAft>
                <a:spcPts val="600"/>
              </a:spcAft>
            </a:pPr>
            <a:r>
              <a:rPr sz="1600" b="0" i="0">
                <a:solidFill>
                  <a:srgbClr val="7317C9"/>
                </a:solidFill>
                <a:latin typeface="Calibri"/>
              </a:rPr>
              <a:t>☐  </a:t>
            </a:r>
            <a:r>
              <a:rPr sz="1400" b="0" i="0">
                <a:solidFill>
                  <a:srgbClr val="0A0E1A"/>
                </a:solidFill>
                <a:latin typeface="Calibri"/>
              </a:rPr>
              <a:t>Runner: tu personaje esquiva hasta el final.</a:t>
            </a:r>
          </a:p>
        </p:txBody>
      </p:sp>
      <p:sp>
        <p:nvSpPr>
          <p:cNvPr id="21" name="TextBox 20"/>
          <p:cNvSpPr txBox="1"/>
          <p:nvPr/>
        </p:nvSpPr>
        <p:spPr>
          <a:xfrm>
            <a:off x="6903720" y="4151376"/>
            <a:ext cx="4572000" cy="548640"/>
          </a:xfrm>
          <a:prstGeom prst="rect">
            <a:avLst/>
          </a:prstGeom>
          <a:noFill/>
        </p:spPr>
        <p:txBody>
          <a:bodyPr wrap="square" lIns="0" rIns="0" tIns="0" bIns="0" anchor="t">
            <a:spAutoFit/>
          </a:bodyPr>
          <a:lstStyle/>
          <a:p>
            <a:pPr algn="l">
              <a:spcAft>
                <a:spcPts val="600"/>
              </a:spcAft>
            </a:pPr>
            <a:r>
              <a:rPr sz="1600" b="0" i="0">
                <a:solidFill>
                  <a:srgbClr val="7317C9"/>
                </a:solidFill>
                <a:latin typeface="Calibri"/>
              </a:rPr>
              <a:t>☐  </a:t>
            </a:r>
            <a:r>
              <a:rPr sz="1400" b="0" i="0">
                <a:solidFill>
                  <a:srgbClr val="0A0E1A"/>
                </a:solidFill>
                <a:latin typeface="Calibri"/>
              </a:rPr>
              <a:t>Otra vez desde el menú: Camino.</a:t>
            </a:r>
          </a:p>
        </p:txBody>
      </p:sp>
      <p:sp>
        <p:nvSpPr>
          <p:cNvPr id="22" name="TextBox 21"/>
          <p:cNvSpPr txBox="1"/>
          <p:nvPr/>
        </p:nvSpPr>
        <p:spPr>
          <a:xfrm>
            <a:off x="6903720" y="4773168"/>
            <a:ext cx="4572000" cy="548640"/>
          </a:xfrm>
          <a:prstGeom prst="rect">
            <a:avLst/>
          </a:prstGeom>
          <a:noFill/>
        </p:spPr>
        <p:txBody>
          <a:bodyPr wrap="square" lIns="0" rIns="0" tIns="0" bIns="0" anchor="t">
            <a:spAutoFit/>
          </a:bodyPr>
          <a:lstStyle/>
          <a:p>
            <a:pPr algn="l">
              <a:spcAft>
                <a:spcPts val="600"/>
              </a:spcAft>
            </a:pPr>
            <a:r>
              <a:rPr sz="1600" b="0" i="0">
                <a:solidFill>
                  <a:srgbClr val="7317C9"/>
                </a:solidFill>
                <a:latin typeface="Calibri"/>
              </a:rPr>
              <a:t>☐  </a:t>
            </a:r>
            <a:r>
              <a:rPr sz="1400" b="0" i="0">
                <a:solidFill>
                  <a:srgbClr val="0A0E1A"/>
                </a:solidFill>
                <a:latin typeface="Calibri"/>
              </a:rPr>
              <a:t>Y por último un mundo del Grueso.</a:t>
            </a:r>
          </a:p>
        </p:txBody>
      </p:sp>
      <p:sp>
        <p:nvSpPr>
          <p:cNvPr id="23" name="TextBox 22"/>
          <p:cNvSpPr txBox="1"/>
          <p:nvPr/>
        </p:nvSpPr>
        <p:spPr>
          <a:xfrm>
            <a:off x="6903720" y="5394960"/>
            <a:ext cx="4572000" cy="548640"/>
          </a:xfrm>
          <a:prstGeom prst="rect">
            <a:avLst/>
          </a:prstGeom>
          <a:noFill/>
        </p:spPr>
        <p:txBody>
          <a:bodyPr wrap="square" lIns="0" rIns="0" tIns="0" bIns="0" anchor="t">
            <a:spAutoFit/>
          </a:bodyPr>
          <a:lstStyle/>
          <a:p>
            <a:pPr algn="l">
              <a:spcAft>
                <a:spcPts val="600"/>
              </a:spcAft>
            </a:pPr>
            <a:r>
              <a:rPr sz="1600" b="0" i="0">
                <a:solidFill>
                  <a:srgbClr val="7317C9"/>
                </a:solidFill>
                <a:latin typeface="Calibri"/>
              </a:rPr>
              <a:t>☐  </a:t>
            </a:r>
            <a:r>
              <a:rPr sz="1400" b="0" i="0">
                <a:solidFill>
                  <a:srgbClr val="0A0E1A"/>
                </a:solidFill>
                <a:latin typeface="Calibri"/>
              </a:rPr>
              <a:t>Repite con la mano izquierda.</a:t>
            </a:r>
          </a:p>
        </p:txBody>
      </p:sp>
      <p:sp>
        <p:nvSpPr>
          <p:cNvPr id="24"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1 · Motricidad  ·  14 de 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Los datos que deja cada partida</a:t>
            </a:r>
          </a:p>
        </p:txBody>
      </p:sp>
      <p:sp>
        <p:nvSpPr>
          <p:cNvPr id="4" name="TextBox 3"/>
          <p:cNvSpPr txBox="1"/>
          <p:nvPr/>
        </p:nvSpPr>
        <p:spPr>
          <a:xfrm>
            <a:off x="548640" y="1645920"/>
            <a:ext cx="11064240" cy="7315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Cada juego escribe un archivo CSV con una fila por partida. Esta fila es real: la dejó el juego de referencia el 21 de octubre.</a:t>
            </a:r>
          </a:p>
        </p:txBody>
      </p:sp>
      <p:sp>
        <p:nvSpPr>
          <p:cNvPr id="5" name="Rounded Rectangle 4"/>
          <p:cNvSpPr/>
          <p:nvPr/>
        </p:nvSpPr>
        <p:spPr>
          <a:xfrm>
            <a:off x="548640" y="2377440"/>
            <a:ext cx="11109960" cy="1143000"/>
          </a:xfrm>
          <a:prstGeom prst="roundRect">
            <a:avLst>
              <a:gd name="adj" fmla="val 5000"/>
            </a:avLst>
          </a:prstGeom>
          <a:solidFill>
            <a:srgbClr val="0F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2560320"/>
            <a:ext cx="10652760" cy="868680"/>
          </a:xfrm>
          <a:prstGeom prst="rect">
            <a:avLst/>
          </a:prstGeom>
          <a:noFill/>
        </p:spPr>
        <p:txBody>
          <a:bodyPr wrap="square" lIns="0" rIns="0" tIns="0" bIns="0" anchor="t">
            <a:spAutoFit/>
          </a:bodyPr>
          <a:lstStyle/>
          <a:p>
            <a:pPr algn="l">
              <a:spcAft>
                <a:spcPts val="200"/>
              </a:spcAft>
            </a:pPr>
            <a:r>
              <a:rPr sz="1200" b="0" i="0">
                <a:solidFill>
                  <a:srgbClr val="E9EEFB"/>
                </a:solidFill>
                <a:latin typeface="Consolas"/>
              </a:rPr>
              <a:t>fecha;mano;sensibilidad;mundo;escalones;gano;diametroFinal;segundos;segundosFuera;salidas;llegadaPromedioSeg</a:t>
            </a:r>
          </a:p>
          <a:p>
            <a:pPr algn="l">
              <a:spcAft>
                <a:spcPts val="200"/>
              </a:spcAft>
            </a:pPr>
            <a:r>
              <a:rPr sz="1200" b="0" i="0">
                <a:solidFill>
                  <a:srgbClr val="E9EEFB"/>
                </a:solidFill>
                <a:latin typeface="Consolas"/>
              </a:rPr>
              <a:t>2026-10-21 08:28:35;Derecha;0,25;Bosque;13;si;0,50;15,0;0,0;0;0,90</a:t>
            </a:r>
          </a:p>
        </p:txBody>
      </p:sp>
      <p:sp>
        <p:nvSpPr>
          <p:cNvPr id="7" name="Rounded Rectangle 6"/>
          <p:cNvSpPr/>
          <p:nvPr/>
        </p:nvSpPr>
        <p:spPr>
          <a:xfrm>
            <a:off x="548640" y="3749039"/>
            <a:ext cx="5394960" cy="2514600"/>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3886200"/>
            <a:ext cx="5029200" cy="2286000"/>
          </a:xfrm>
          <a:prstGeom prst="rect">
            <a:avLst/>
          </a:prstGeom>
          <a:noFill/>
        </p:spPr>
        <p:txBody>
          <a:bodyPr wrap="square" lIns="0" rIns="0" tIns="0" bIns="0" anchor="t">
            <a:spAutoFit/>
          </a:bodyPr>
          <a:lstStyle/>
          <a:p>
            <a:pPr algn="l">
              <a:spcAft>
                <a:spcPts val="600"/>
              </a:spcAft>
            </a:pPr>
            <a:r>
              <a:rPr sz="1400" b="1" i="0">
                <a:solidFill>
                  <a:srgbClr val="0A0E1A"/>
                </a:solidFill>
                <a:latin typeface="Calibri"/>
              </a:rPr>
              <a:t>Dónde quedan</a:t>
            </a:r>
          </a:p>
          <a:p>
            <a:pPr algn="l">
              <a:spcAft>
                <a:spcPts val="600"/>
              </a:spcAft>
            </a:pPr>
            <a:r>
              <a:rPr sz="1300" b="0" i="0">
                <a:solidFill>
                  <a:srgbClr val="0A0E1A"/>
                </a:solidFill>
                <a:latin typeface="Consolas"/>
              </a:rPr>
              <a:t>C:\Users\&lt;usuario&gt;\AppData\LocalLow\</a:t>
            </a:r>
          </a:p>
          <a:p>
            <a:pPr algn="l">
              <a:spcAft>
                <a:spcPts val="600"/>
              </a:spcAft>
            </a:pPr>
            <a:r>
              <a:rPr sz="1300" b="0" i="0">
                <a:solidFill>
                  <a:srgbClr val="0A0E1A"/>
                </a:solidFill>
                <a:latin typeface="Consolas"/>
              </a:rPr>
              <a:t>&lt;empresa&gt;\&lt;proyecto&gt;\resultados_&lt;juego&gt;.csv</a:t>
            </a:r>
          </a:p>
          <a:p>
            <a:pPr algn="l">
              <a:spcAft>
                <a:spcPts val="600"/>
              </a:spcAft>
            </a:pPr>
            <a:r>
              <a:rPr sz="1400" b="0" i="0">
                <a:solidFill>
                  <a:srgbClr val="0A0E1A"/>
                </a:solidFill>
                <a:latin typeface="Calibri"/>
              </a:rPr>
              <a:t>La ruta exacta sale en la Console cada vez que se guarda.</a:t>
            </a:r>
          </a:p>
        </p:txBody>
      </p:sp>
      <p:sp>
        <p:nvSpPr>
          <p:cNvPr id="9" name="Rounded Rectangle 8"/>
          <p:cNvSpPr/>
          <p:nvPr/>
        </p:nvSpPr>
        <p:spPr>
          <a:xfrm>
            <a:off x="6263640" y="3749039"/>
            <a:ext cx="5394960" cy="2514600"/>
          </a:xfrm>
          <a:prstGeom prst="roundRect">
            <a:avLst>
              <a:gd name="adj" fmla="val 6000"/>
            </a:avLst>
          </a:prstGeom>
          <a:solidFill>
            <a:srgbClr val="F1E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92240" y="3886200"/>
            <a:ext cx="5029200" cy="2286000"/>
          </a:xfrm>
          <a:prstGeom prst="rect">
            <a:avLst/>
          </a:prstGeom>
          <a:noFill/>
        </p:spPr>
        <p:txBody>
          <a:bodyPr wrap="square" lIns="0" rIns="0" tIns="0" bIns="0" anchor="t">
            <a:spAutoFit/>
          </a:bodyPr>
          <a:lstStyle/>
          <a:p>
            <a:pPr algn="l">
              <a:spcAft>
                <a:spcPts val="800"/>
              </a:spcAft>
            </a:pPr>
            <a:r>
              <a:rPr sz="1400" b="1" i="0">
                <a:solidFill>
                  <a:srgbClr val="0A0E1A"/>
                </a:solidFill>
                <a:latin typeface="Calibri"/>
              </a:rPr>
              <a:t>Para el artículo</a:t>
            </a:r>
          </a:p>
          <a:p>
            <a:pPr algn="l">
              <a:spcAft>
                <a:spcPts val="800"/>
              </a:spcAft>
            </a:pPr>
            <a:r>
              <a:rPr sz="1400" b="0" i="0">
                <a:solidFill>
                  <a:srgbClr val="0A0E1A"/>
                </a:solidFill>
                <a:latin typeface="Calibri"/>
              </a:rPr>
              <a:t>Se abre con doble clic en Excel: el punto y coma separa columnas y la coma es el decimal.</a:t>
            </a:r>
          </a:p>
          <a:p>
            <a:pPr algn="l">
              <a:spcAft>
                <a:spcPts val="800"/>
              </a:spcAft>
            </a:pPr>
            <a:r>
              <a:rPr sz="1400" b="0" i="0">
                <a:solidFill>
                  <a:srgbClr val="0A0E1A"/>
                </a:solidFill>
                <a:latin typeface="Calibri"/>
              </a:rPr>
              <a:t>Con la columna mano comparas derecha contra izquierda; con sensibilidad, fino contra grueso.</a:t>
            </a:r>
          </a:p>
        </p:txBody>
      </p:sp>
      <p:sp>
        <p:nvSpPr>
          <p:cNvPr id="11"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1 · Motricidad  ·  15 de 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Si algo falla, busca aquí primero</a:t>
            </a:r>
          </a:p>
        </p:txBody>
      </p:sp>
      <p:sp>
        <p:nvSpPr>
          <p:cNvPr id="4" name="Rounded Rectangle 3"/>
          <p:cNvSpPr/>
          <p:nvPr/>
        </p:nvSpPr>
        <p:spPr>
          <a:xfrm>
            <a:off x="548640" y="1645920"/>
            <a:ext cx="5440680" cy="1371600"/>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1801368"/>
            <a:ext cx="5029200" cy="1143000"/>
          </a:xfrm>
          <a:prstGeom prst="rect">
            <a:avLst/>
          </a:prstGeom>
          <a:noFill/>
        </p:spPr>
        <p:txBody>
          <a:bodyPr wrap="square" lIns="0" rIns="0" tIns="0" bIns="0" anchor="t">
            <a:spAutoFit/>
          </a:bodyPr>
          <a:lstStyle/>
          <a:p>
            <a:pPr algn="l">
              <a:spcAft>
                <a:spcPts val="400"/>
              </a:spcAft>
            </a:pPr>
            <a:r>
              <a:rPr sz="1300" b="1" i="0">
                <a:solidFill>
                  <a:srgbClr val="B3261E"/>
                </a:solidFill>
                <a:latin typeface="Consolas"/>
              </a:rPr>
              <a:t>UnassignedReferenceException</a:t>
            </a:r>
          </a:p>
          <a:p>
            <a:pPr algn="l">
              <a:spcAft>
                <a:spcPts val="400"/>
              </a:spcAft>
            </a:pPr>
            <a:r>
              <a:rPr sz="1400" b="0" i="0">
                <a:solidFill>
                  <a:srgbClr val="0A0E1A"/>
                </a:solidFill>
                <a:latin typeface="Calibri"/>
              </a:rPr>
              <a:t>Una casilla del Inspector quedó vacía. El mensaje dice cuál: arrastra el objeto.</a:t>
            </a:r>
          </a:p>
        </p:txBody>
      </p:sp>
      <p:sp>
        <p:nvSpPr>
          <p:cNvPr id="6" name="Rounded Rectangle 5"/>
          <p:cNvSpPr/>
          <p:nvPr/>
        </p:nvSpPr>
        <p:spPr>
          <a:xfrm>
            <a:off x="6172200" y="1645920"/>
            <a:ext cx="5440680" cy="1371600"/>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00800" y="1801368"/>
            <a:ext cx="5029200" cy="1143000"/>
          </a:xfrm>
          <a:prstGeom prst="rect">
            <a:avLst/>
          </a:prstGeom>
          <a:noFill/>
        </p:spPr>
        <p:txBody>
          <a:bodyPr wrap="square" lIns="0" rIns="0" tIns="0" bIns="0" anchor="t">
            <a:spAutoFit/>
          </a:bodyPr>
          <a:lstStyle/>
          <a:p>
            <a:pPr algn="l">
              <a:spcAft>
                <a:spcPts val="400"/>
              </a:spcAft>
            </a:pPr>
            <a:r>
              <a:rPr sz="1300" b="1" i="0">
                <a:solidFill>
                  <a:srgbClr val="B3261E"/>
                </a:solidFill>
                <a:latin typeface="Consolas"/>
              </a:rPr>
              <a:t>Texture is not readable</a:t>
            </a:r>
          </a:p>
          <a:p>
            <a:pPr algn="l">
              <a:spcAft>
                <a:spcPts val="400"/>
              </a:spcAft>
            </a:pPr>
            <a:r>
              <a:rPr sz="1400" b="0" i="0">
                <a:solidFill>
                  <a:srgbClr val="0A0E1A"/>
                </a:solidFill>
                <a:latin typeface="Calibri"/>
              </a:rPr>
              <a:t>La imagen del personaje perdió Read/Write Enabled. Márcalo y pulsa Apply.</a:t>
            </a:r>
          </a:p>
        </p:txBody>
      </p:sp>
      <p:sp>
        <p:nvSpPr>
          <p:cNvPr id="8" name="Rounded Rectangle 7"/>
          <p:cNvSpPr/>
          <p:nvPr/>
        </p:nvSpPr>
        <p:spPr>
          <a:xfrm>
            <a:off x="548640" y="3182112"/>
            <a:ext cx="5440680" cy="1371600"/>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3337560"/>
            <a:ext cx="5029200" cy="1143000"/>
          </a:xfrm>
          <a:prstGeom prst="rect">
            <a:avLst/>
          </a:prstGeom>
          <a:noFill/>
        </p:spPr>
        <p:txBody>
          <a:bodyPr wrap="square" lIns="0" rIns="0" tIns="0" bIns="0" anchor="t">
            <a:spAutoFit/>
          </a:bodyPr>
          <a:lstStyle/>
          <a:p>
            <a:pPr algn="l">
              <a:spcAft>
                <a:spcPts val="400"/>
              </a:spcAft>
            </a:pPr>
            <a:r>
              <a:rPr sz="1300" b="1" i="0">
                <a:solidFill>
                  <a:srgbClr val="B3261E"/>
                </a:solidFill>
                <a:latin typeface="Consolas"/>
              </a:rPr>
              <a:t>Los botones del menú no responden</a:t>
            </a:r>
          </a:p>
          <a:p>
            <a:pPr algn="l">
              <a:spcAft>
                <a:spcPts val="400"/>
              </a:spcAft>
            </a:pPr>
            <a:r>
              <a:rPr sz="1400" b="0" i="0">
                <a:solidFill>
                  <a:srgbClr val="0A0E1A"/>
                </a:solidFill>
                <a:latin typeface="Calibri"/>
              </a:rPr>
              <a:t>Falta el EventSystem. GameObject &gt; UI &gt; Event System.</a:t>
            </a:r>
          </a:p>
        </p:txBody>
      </p:sp>
      <p:sp>
        <p:nvSpPr>
          <p:cNvPr id="10" name="Rounded Rectangle 9"/>
          <p:cNvSpPr/>
          <p:nvPr/>
        </p:nvSpPr>
        <p:spPr>
          <a:xfrm>
            <a:off x="6172200" y="3182112"/>
            <a:ext cx="5440680" cy="1371600"/>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800" y="3337560"/>
            <a:ext cx="5029200" cy="1143000"/>
          </a:xfrm>
          <a:prstGeom prst="rect">
            <a:avLst/>
          </a:prstGeom>
          <a:noFill/>
        </p:spPr>
        <p:txBody>
          <a:bodyPr wrap="square" lIns="0" rIns="0" tIns="0" bIns="0" anchor="t">
            <a:spAutoFit/>
          </a:bodyPr>
          <a:lstStyle/>
          <a:p>
            <a:pPr algn="l">
              <a:spcAft>
                <a:spcPts val="400"/>
              </a:spcAft>
            </a:pPr>
            <a:r>
              <a:rPr sz="1300" b="1" i="0">
                <a:solidFill>
                  <a:srgbClr val="B3261E"/>
                </a:solidFill>
                <a:latin typeface="Consolas"/>
              </a:rPr>
              <a:t>El clic no pinta ni pulsa</a:t>
            </a:r>
          </a:p>
          <a:p>
            <a:pPr algn="l">
              <a:spcAft>
                <a:spcPts val="400"/>
              </a:spcAft>
            </a:pPr>
            <a:r>
              <a:rPr sz="1400" b="0" i="0">
                <a:solidFill>
                  <a:srgbClr val="0A0E1A"/>
                </a:solidFill>
                <a:latin typeface="Calibri"/>
              </a:rPr>
              <a:t>Haz un clic en la ventana Game: el navegador y Unity piden permiso para capturar el mouse.</a:t>
            </a:r>
          </a:p>
        </p:txBody>
      </p:sp>
      <p:sp>
        <p:nvSpPr>
          <p:cNvPr id="12" name="Rounded Rectangle 11"/>
          <p:cNvSpPr/>
          <p:nvPr/>
        </p:nvSpPr>
        <p:spPr>
          <a:xfrm>
            <a:off x="548640" y="4718304"/>
            <a:ext cx="5440680" cy="1371600"/>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77240" y="4873752"/>
            <a:ext cx="5029200" cy="1143000"/>
          </a:xfrm>
          <a:prstGeom prst="rect">
            <a:avLst/>
          </a:prstGeom>
          <a:noFill/>
        </p:spPr>
        <p:txBody>
          <a:bodyPr wrap="square" lIns="0" rIns="0" tIns="0" bIns="0" anchor="t">
            <a:spAutoFit/>
          </a:bodyPr>
          <a:lstStyle/>
          <a:p>
            <a:pPr algn="l">
              <a:spcAft>
                <a:spcPts val="400"/>
              </a:spcAft>
            </a:pPr>
            <a:r>
              <a:rPr sz="1300" b="1" i="0">
                <a:solidFill>
                  <a:srgbClr val="B3261E"/>
                </a:solidFill>
                <a:latin typeface="Consolas"/>
              </a:rPr>
              <a:t>No salen obstáculos ni suena nada</a:t>
            </a:r>
          </a:p>
          <a:p>
            <a:pPr algn="l">
              <a:spcAft>
                <a:spcPts val="400"/>
              </a:spcAft>
            </a:pPr>
            <a:r>
              <a:rPr sz="1400" b="0" i="0">
                <a:solidFill>
                  <a:srgbClr val="0A0E1A"/>
                </a:solidFill>
                <a:latin typeface="Calibri"/>
              </a:rPr>
              <a:t>El género del botón y el de Musica Por Genero no se escriben igual.</a:t>
            </a:r>
          </a:p>
        </p:txBody>
      </p:sp>
      <p:sp>
        <p:nvSpPr>
          <p:cNvPr id="14" name="Rounded Rectangle 13"/>
          <p:cNvSpPr/>
          <p:nvPr/>
        </p:nvSpPr>
        <p:spPr>
          <a:xfrm>
            <a:off x="6172200" y="4718304"/>
            <a:ext cx="5440680" cy="1371600"/>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0" y="4873752"/>
            <a:ext cx="5029200" cy="1143000"/>
          </a:xfrm>
          <a:prstGeom prst="rect">
            <a:avLst/>
          </a:prstGeom>
          <a:noFill/>
        </p:spPr>
        <p:txBody>
          <a:bodyPr wrap="square" lIns="0" rIns="0" tIns="0" bIns="0" anchor="t">
            <a:spAutoFit/>
          </a:bodyPr>
          <a:lstStyle/>
          <a:p>
            <a:pPr algn="l">
              <a:spcAft>
                <a:spcPts val="400"/>
              </a:spcAft>
            </a:pPr>
            <a:r>
              <a:rPr sz="1300" b="1" i="0">
                <a:solidFill>
                  <a:srgbClr val="B3261E"/>
                </a:solidFill>
                <a:latin typeface="Consolas"/>
              </a:rPr>
              <a:t>Escape y el mouse queda suelto</a:t>
            </a:r>
          </a:p>
          <a:p>
            <a:pPr algn="l">
              <a:spcAft>
                <a:spcPts val="400"/>
              </a:spcAft>
            </a:pPr>
            <a:r>
              <a:rPr sz="1400" b="0" i="0">
                <a:solidFill>
                  <a:srgbClr val="0A0E1A"/>
                </a:solidFill>
                <a:latin typeface="Calibri"/>
              </a:rPr>
              <a:t>Es a propósito, para poder salir. Un clic lo vuelve a capturar.</a:t>
            </a:r>
          </a:p>
        </p:txBody>
      </p:sp>
      <p:sp>
        <p:nvSpPr>
          <p:cNvPr id="16"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1 · Motricidad  ·  16 de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70B18"/>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C59BFF"/>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E9EEFB"/>
                </a:solidFill>
                <a:latin typeface="Cambria"/>
              </a:rPr>
              <a:t>Antes de salir, y lo que sigue</a:t>
            </a:r>
          </a:p>
        </p:txBody>
      </p:sp>
      <p:sp>
        <p:nvSpPr>
          <p:cNvPr id="4" name="TextBox 3"/>
          <p:cNvSpPr txBox="1"/>
          <p:nvPr/>
        </p:nvSpPr>
        <p:spPr>
          <a:xfrm>
            <a:off x="548640" y="1737360"/>
            <a:ext cx="6949440" cy="594360"/>
          </a:xfrm>
          <a:prstGeom prst="rect">
            <a:avLst/>
          </a:prstGeom>
          <a:noFill/>
        </p:spPr>
        <p:txBody>
          <a:bodyPr wrap="square" lIns="0" rIns="0" tIns="0" bIns="0" anchor="t">
            <a:spAutoFit/>
          </a:bodyPr>
          <a:lstStyle/>
          <a:p>
            <a:pPr algn="l">
              <a:spcAft>
                <a:spcPts val="600"/>
              </a:spcAft>
            </a:pPr>
            <a:r>
              <a:rPr sz="2000" b="0" i="0">
                <a:solidFill>
                  <a:srgbClr val="C59BFF"/>
                </a:solidFill>
                <a:latin typeface="Calibri"/>
              </a:rPr>
              <a:t>☐   </a:t>
            </a:r>
            <a:r>
              <a:rPr sz="1600" b="0" i="0">
                <a:solidFill>
                  <a:srgbClr val="E9EEFB"/>
                </a:solidFill>
                <a:latin typeface="Calibri"/>
              </a:rPr>
              <a:t>Las cinco escenas guardadas y en Build Settings.</a:t>
            </a:r>
          </a:p>
        </p:txBody>
      </p:sp>
      <p:sp>
        <p:nvSpPr>
          <p:cNvPr id="5" name="TextBox 4"/>
          <p:cNvSpPr txBox="1"/>
          <p:nvPr/>
        </p:nvSpPr>
        <p:spPr>
          <a:xfrm>
            <a:off x="548640" y="2423160"/>
            <a:ext cx="6949440" cy="594360"/>
          </a:xfrm>
          <a:prstGeom prst="rect">
            <a:avLst/>
          </a:prstGeom>
          <a:noFill/>
        </p:spPr>
        <p:txBody>
          <a:bodyPr wrap="square" lIns="0" rIns="0" tIns="0" bIns="0" anchor="t">
            <a:spAutoFit/>
          </a:bodyPr>
          <a:lstStyle/>
          <a:p>
            <a:pPr algn="l">
              <a:spcAft>
                <a:spcPts val="600"/>
              </a:spcAft>
            </a:pPr>
            <a:r>
              <a:rPr sz="2000" b="0" i="0">
                <a:solidFill>
                  <a:srgbClr val="C59BFF"/>
                </a:solidFill>
                <a:latin typeface="Calibri"/>
              </a:rPr>
              <a:t>☐   </a:t>
            </a:r>
            <a:r>
              <a:rPr sz="1600" b="0" i="0">
                <a:solidFill>
                  <a:srgbClr val="E9EEFB"/>
                </a:solidFill>
                <a:latin typeface="Calibri"/>
              </a:rPr>
              <a:t>La prueba completa jugada con las dos manos.</a:t>
            </a:r>
          </a:p>
        </p:txBody>
      </p:sp>
      <p:sp>
        <p:nvSpPr>
          <p:cNvPr id="6" name="TextBox 5"/>
          <p:cNvSpPr txBox="1"/>
          <p:nvPr/>
        </p:nvSpPr>
        <p:spPr>
          <a:xfrm>
            <a:off x="548640" y="3108960"/>
            <a:ext cx="6949440" cy="594360"/>
          </a:xfrm>
          <a:prstGeom prst="rect">
            <a:avLst/>
          </a:prstGeom>
          <a:noFill/>
        </p:spPr>
        <p:txBody>
          <a:bodyPr wrap="square" lIns="0" rIns="0" tIns="0" bIns="0" anchor="t">
            <a:spAutoFit/>
          </a:bodyPr>
          <a:lstStyle/>
          <a:p>
            <a:pPr algn="l">
              <a:spcAft>
                <a:spcPts val="600"/>
              </a:spcAft>
            </a:pPr>
            <a:r>
              <a:rPr sz="2000" b="0" i="0">
                <a:solidFill>
                  <a:srgbClr val="C59BFF"/>
                </a:solidFill>
                <a:latin typeface="Calibri"/>
              </a:rPr>
              <a:t>☐   </a:t>
            </a:r>
            <a:r>
              <a:rPr sz="1600" b="0" i="0">
                <a:solidFill>
                  <a:srgbClr val="E9EEFB"/>
                </a:solidFill>
                <a:latin typeface="Calibri"/>
              </a:rPr>
              <a:t>Un video de un minuto jugando, grabado con la tecla Windows + Alt + R.</a:t>
            </a:r>
          </a:p>
        </p:txBody>
      </p:sp>
      <p:sp>
        <p:nvSpPr>
          <p:cNvPr id="7" name="TextBox 6"/>
          <p:cNvSpPr txBox="1"/>
          <p:nvPr/>
        </p:nvSpPr>
        <p:spPr>
          <a:xfrm>
            <a:off x="548640" y="3794760"/>
            <a:ext cx="6949440" cy="594360"/>
          </a:xfrm>
          <a:prstGeom prst="rect">
            <a:avLst/>
          </a:prstGeom>
          <a:noFill/>
        </p:spPr>
        <p:txBody>
          <a:bodyPr wrap="square" lIns="0" rIns="0" tIns="0" bIns="0" anchor="t">
            <a:spAutoFit/>
          </a:bodyPr>
          <a:lstStyle/>
          <a:p>
            <a:pPr algn="l">
              <a:spcAft>
                <a:spcPts val="600"/>
              </a:spcAft>
            </a:pPr>
            <a:r>
              <a:rPr sz="2000" b="0" i="0">
                <a:solidFill>
                  <a:srgbClr val="C59BFF"/>
                </a:solidFill>
                <a:latin typeface="Calibri"/>
              </a:rPr>
              <a:t>☐   </a:t>
            </a:r>
            <a:r>
              <a:rPr sz="1600" b="0" i="0">
                <a:solidFill>
                  <a:srgbClr val="E9EEFB"/>
                </a:solidFill>
                <a:latin typeface="Calibri"/>
              </a:rPr>
              <a:t>Los cuatro archivos CSV copiados a la carpeta del equipo en Drive.</a:t>
            </a:r>
          </a:p>
        </p:txBody>
      </p:sp>
      <p:sp>
        <p:nvSpPr>
          <p:cNvPr id="8" name="TextBox 7"/>
          <p:cNvSpPr txBox="1"/>
          <p:nvPr/>
        </p:nvSpPr>
        <p:spPr>
          <a:xfrm>
            <a:off x="548640" y="4480560"/>
            <a:ext cx="6949440" cy="594360"/>
          </a:xfrm>
          <a:prstGeom prst="rect">
            <a:avLst/>
          </a:prstGeom>
          <a:noFill/>
        </p:spPr>
        <p:txBody>
          <a:bodyPr wrap="square" lIns="0" rIns="0" tIns="0" bIns="0" anchor="t">
            <a:spAutoFit/>
          </a:bodyPr>
          <a:lstStyle/>
          <a:p>
            <a:pPr algn="l">
              <a:spcAft>
                <a:spcPts val="600"/>
              </a:spcAft>
            </a:pPr>
            <a:r>
              <a:rPr sz="2000" b="0" i="0">
                <a:solidFill>
                  <a:srgbClr val="C59BFF"/>
                </a:solidFill>
                <a:latin typeface="Calibri"/>
              </a:rPr>
              <a:t>☐   </a:t>
            </a:r>
            <a:r>
              <a:rPr sz="1600" b="0" i="0">
                <a:solidFill>
                  <a:srgbClr val="E9EEFB"/>
                </a:solidFill>
                <a:latin typeface="Calibri"/>
              </a:rPr>
              <a:t>En Barreras.docx, lo que no salió, con el número de diapositiva.</a:t>
            </a:r>
          </a:p>
        </p:txBody>
      </p:sp>
      <p:sp>
        <p:nvSpPr>
          <p:cNvPr id="9" name="Rounded Rectangle 8"/>
          <p:cNvSpPr/>
          <p:nvPr/>
        </p:nvSpPr>
        <p:spPr>
          <a:xfrm>
            <a:off x="7909560" y="1737360"/>
            <a:ext cx="3749039" cy="2514600"/>
          </a:xfrm>
          <a:prstGeom prst="roundRect">
            <a:avLst>
              <a:gd name="adj" fmla="val 5000"/>
            </a:avLst>
          </a:prstGeom>
          <a:solidFill>
            <a:srgbClr val="141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183879" y="1965960"/>
            <a:ext cx="3246120" cy="2926080"/>
          </a:xfrm>
          <a:prstGeom prst="rect">
            <a:avLst/>
          </a:prstGeom>
          <a:noFill/>
        </p:spPr>
        <p:txBody>
          <a:bodyPr wrap="square" lIns="0" rIns="0" tIns="0" bIns="0" anchor="t">
            <a:spAutoFit/>
          </a:bodyPr>
          <a:lstStyle/>
          <a:p>
            <a:pPr algn="l">
              <a:spcAft>
                <a:spcPts val="800"/>
              </a:spcAft>
            </a:pPr>
            <a:r>
              <a:rPr sz="1300" b="1" i="0">
                <a:solidFill>
                  <a:srgbClr val="C59BFF"/>
                </a:solidFill>
                <a:latin typeface="Calibri"/>
              </a:rPr>
              <a:t>LO QUE SIGUE</a:t>
            </a:r>
          </a:p>
          <a:p>
            <a:pPr algn="l">
              <a:spcAft>
                <a:spcPts val="800"/>
              </a:spcAft>
            </a:pPr>
            <a:r>
              <a:rPr sz="2400" b="1" i="0">
                <a:solidFill>
                  <a:srgbClr val="E9EEFB"/>
                </a:solidFill>
                <a:latin typeface="Cambria"/>
              </a:rPr>
              <a:t>31 oct al 13 nov</a:t>
            </a:r>
          </a:p>
          <a:p>
            <a:pPr algn="l">
              <a:spcAft>
                <a:spcPts val="800"/>
              </a:spcAft>
            </a:pPr>
            <a:r>
              <a:rPr sz="1400" b="0" i="0">
                <a:solidFill>
                  <a:srgbClr val="94A4C6"/>
                </a:solidFill>
                <a:latin typeface="Calibri"/>
              </a:rPr>
              <a:t>Que alguien de fuera lo juegue y ajustar lo que no entienda. Después, exportar el juego para la página web.</a:t>
            </a:r>
          </a:p>
        </p:txBody>
      </p:sp>
      <p:sp>
        <p:nvSpPr>
          <p:cNvPr id="11"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94A4C6"/>
                </a:solidFill>
                <a:latin typeface="Calibri"/>
              </a:rPr>
              <a:t>Guía 1 · Motricidad  ·  17 de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