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jzs0wXpE/2hV9rpUQNIv8lbcI39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9418320" y="-1554480"/>
            <a:ext cx="5120640" cy="5120640"/>
          </a:xfrm>
          <a:prstGeom prst="ellipse">
            <a:avLst/>
          </a:prstGeom>
          <a:solidFill>
            <a:srgbClr val="141C46"/>
          </a:solidFill>
          <a:ln cap="flat" cmpd="sng" w="12700">
            <a:solidFill>
              <a:srgbClr val="141C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10789920" y="4480560"/>
            <a:ext cx="2926080" cy="2926080"/>
          </a:xfrm>
          <a:prstGeom prst="ellipse">
            <a:avLst/>
          </a:prstGeom>
          <a:solidFill>
            <a:srgbClr val="141C46"/>
          </a:solidFill>
          <a:ln cap="flat" cmpd="sng" w="12700">
            <a:solidFill>
              <a:srgbClr val="141C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822960" y="1234440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71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2A71B"/>
                </a:solidFill>
                <a:latin typeface="Calibri"/>
                <a:ea typeface="Calibri"/>
                <a:cs typeface="Calibri"/>
                <a:sym typeface="Calibri"/>
              </a:rPr>
              <a:t>SESIÓN DEL 5 Y 6 DE AGOSTO · PASO A PASO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822960" y="1691640"/>
            <a:ext cx="859536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Qué necesito, qué debo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aprender y cuándo lo hago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822960" y="3520440"/>
            <a:ext cx="8412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Hoy no adivinamos el cronograma: primero miramos qué hace falta y solo después lo organizamos en el tiempo.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868680" y="4544568"/>
            <a:ext cx="164592" cy="164592"/>
          </a:xfrm>
          <a:prstGeom prst="rect">
            <a:avLst/>
          </a:prstGeom>
          <a:solidFill>
            <a:srgbClr val="F2A71B"/>
          </a:solidFill>
          <a:ln cap="flat" cmpd="sng" w="12700">
            <a:solidFill>
              <a:srgbClr val="F2A7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1234440" y="4434840"/>
            <a:ext cx="8686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Formato 1 · Qué necesitamos y qué debemos aprender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868680" y="5047488"/>
            <a:ext cx="164592" cy="164592"/>
          </a:xfrm>
          <a:prstGeom prst="rect">
            <a:avLst/>
          </a:prstGeom>
          <a:solidFill>
            <a:srgbClr val="F2A71B"/>
          </a:solidFill>
          <a:ln cap="flat" cmpd="sng" w="12700">
            <a:solidFill>
              <a:srgbClr val="F2A7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1234440" y="4937760"/>
            <a:ext cx="8686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Formato 2 · Acuerdos de trabajo del equipo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868680" y="5550408"/>
            <a:ext cx="164592" cy="164592"/>
          </a:xfrm>
          <a:prstGeom prst="rect">
            <a:avLst/>
          </a:prstGeom>
          <a:solidFill>
            <a:srgbClr val="F2A71B"/>
          </a:solidFill>
          <a:ln cap="flat" cmpd="sng" w="12700">
            <a:solidFill>
              <a:srgbClr val="F2A7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1234440" y="5440680"/>
            <a:ext cx="8686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Cronograma de tareas en Excel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"/>
          <p:cNvSpPr/>
          <p:nvPr/>
        </p:nvSpPr>
        <p:spPr>
          <a:xfrm>
            <a:off x="548640" y="347472"/>
            <a:ext cx="8778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100"/>
              <a:buFont typeface="Cambria"/>
              <a:buNone/>
            </a:pPr>
            <a:r>
              <a:rPr b="1" i="0" lang="en-US" sz="31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La ruta de hoy, en cinco pasos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Cada paso alimenta al siguiente. Por eso el cronograma va de último y no de primero.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548640" y="2103120"/>
            <a:ext cx="2057400" cy="2743200"/>
          </a:xfrm>
          <a:prstGeom prst="roundRect">
            <a:avLst>
              <a:gd fmla="val 5333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548640" y="2286000"/>
            <a:ext cx="2057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71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2A71B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640080" y="2852928"/>
            <a:ext cx="1874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Mira el final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658368" y="3383280"/>
            <a:ext cx="1828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Qué debe existir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el 29 de octubre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2606040" y="3200400"/>
            <a:ext cx="19202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9B7D9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9B7D9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2798064" y="2103120"/>
            <a:ext cx="2057400" cy="2743200"/>
          </a:xfrm>
          <a:prstGeom prst="roundRect">
            <a:avLst>
              <a:gd fmla="val 5333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2798064" y="2286000"/>
            <a:ext cx="2057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71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2A71B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2889504" y="2852928"/>
            <a:ext cx="1874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Qué recursos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2907792" y="3383280"/>
            <a:ext cx="1828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Materiales, software,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equipos, permisos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855464" y="3200400"/>
            <a:ext cx="19202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9B7D9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9B7D9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5047488" y="2103120"/>
            <a:ext cx="2057400" cy="2743200"/>
          </a:xfrm>
          <a:prstGeom prst="roundRect">
            <a:avLst>
              <a:gd fmla="val 5333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5047488" y="2286000"/>
            <a:ext cx="2057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71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2A71B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5138928" y="2852928"/>
            <a:ext cx="1874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Qué aprender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5157216" y="3383280"/>
            <a:ext cx="1828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Habilidades concretas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y tutoriales que pides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7104888" y="3200400"/>
            <a:ext cx="19202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9B7D9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9B7D9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7296912" y="2103120"/>
            <a:ext cx="2057400" cy="2743200"/>
          </a:xfrm>
          <a:prstGeom prst="roundRect">
            <a:avLst>
              <a:gd fmla="val 5333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7296912" y="2286000"/>
            <a:ext cx="2057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71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2A71B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7388352" y="2852928"/>
            <a:ext cx="1874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Cómo se organizan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7406640" y="3383280"/>
            <a:ext cx="1828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Frentes de trabajo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y acuerdos del equipo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9354312" y="3200400"/>
            <a:ext cx="19202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9B7D9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9B7D9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9546336" y="2103120"/>
            <a:ext cx="2057400" cy="2743200"/>
          </a:xfrm>
          <a:prstGeom prst="roundRect">
            <a:avLst>
              <a:gd fmla="val 5333" name="adj"/>
            </a:avLst>
          </a:prstGeom>
          <a:solidFill>
            <a:srgbClr val="F2A71B"/>
          </a:solidFill>
          <a:ln cap="flat" cmpd="sng" w="12700">
            <a:solidFill>
              <a:srgbClr val="F2A7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9546336" y="2286000"/>
            <a:ext cx="2057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9637776" y="2852928"/>
            <a:ext cx="1874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El cronograma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9656064" y="3383280"/>
            <a:ext cx="1828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2C0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A2C00"/>
                </a:solidFill>
                <a:latin typeface="Calibri"/>
                <a:ea typeface="Calibri"/>
                <a:cs typeface="Calibri"/>
                <a:sym typeface="Calibri"/>
              </a:rPr>
              <a:t>Tareas semanales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2C0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A2C00"/>
                </a:solidFill>
                <a:latin typeface="Calibri"/>
                <a:ea typeface="Calibri"/>
                <a:cs typeface="Calibri"/>
                <a:sym typeface="Calibri"/>
              </a:rPr>
              <a:t>con responsables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548640" y="521208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Un cronograma hecho antes de saber qué se necesita se cae en la segunda semana. Por eso el orden importa.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/>
          <p:nvPr/>
        </p:nvSpPr>
        <p:spPr>
          <a:xfrm>
            <a:off x="548640" y="347472"/>
            <a:ext cx="8778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100"/>
              <a:buFont typeface="Cambria"/>
              <a:buNone/>
            </a:pPr>
            <a:r>
              <a:rPr b="1" i="0" lang="en-US" sz="31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Los tres archivos de hoy y dónde van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El docente se los comparte. Ustedes los copian a su carpeta y les cambian el nombre.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548640" y="1828800"/>
            <a:ext cx="11064240" cy="1051560"/>
          </a:xfrm>
          <a:prstGeom prst="roundRect">
            <a:avLst>
              <a:gd fmla="val 8696" name="adj"/>
            </a:avLst>
          </a:prstGeom>
          <a:solidFill>
            <a:srgbClr val="E9EF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777240" y="2029968"/>
            <a:ext cx="1417320" cy="640080"/>
          </a:xfrm>
          <a:prstGeom prst="roundRect">
            <a:avLst>
              <a:gd fmla="val 11429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777240" y="2029968"/>
            <a:ext cx="1417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Formato 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2377440" y="1993392"/>
            <a:ext cx="39319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Qué necesitamos y qué debemos aprender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446520" y="2103120"/>
            <a:ext cx="1920240" cy="502920"/>
          </a:xfrm>
          <a:prstGeom prst="roundRect">
            <a:avLst>
              <a:gd fmla="val 10909" name="adj"/>
            </a:avLst>
          </a:prstGeom>
          <a:solidFill>
            <a:srgbClr val="F2A71B"/>
          </a:solidFill>
          <a:ln cap="flat" cmpd="sng" w="12700">
            <a:solidFill>
              <a:srgbClr val="F2A7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6446520" y="210312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2C00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3A2C00"/>
                </a:solidFill>
                <a:latin typeface="Courier New"/>
                <a:ea typeface="Courier New"/>
                <a:cs typeface="Courier New"/>
                <a:sym typeface="Courier New"/>
              </a:rPr>
              <a:t>04_Desarrollo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8549640" y="2103120"/>
            <a:ext cx="2926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Formato1_Necesidades_EquipoXX.docx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548640" y="3063240"/>
            <a:ext cx="11064240" cy="1051560"/>
          </a:xfrm>
          <a:prstGeom prst="roundRect">
            <a:avLst>
              <a:gd fmla="val 8696" name="adj"/>
            </a:avLst>
          </a:prstGeom>
          <a:solidFill>
            <a:srgbClr val="E9EF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777240" y="3264408"/>
            <a:ext cx="1417320" cy="640080"/>
          </a:xfrm>
          <a:prstGeom prst="roundRect">
            <a:avLst>
              <a:gd fmla="val 11429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777240" y="3264408"/>
            <a:ext cx="1417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Formato 2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2377440" y="3227832"/>
            <a:ext cx="39319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Acuerdos de trabajo del equipo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6446520" y="3337560"/>
            <a:ext cx="1920240" cy="502920"/>
          </a:xfrm>
          <a:prstGeom prst="roundRect">
            <a:avLst>
              <a:gd fmla="val 10909" name="adj"/>
            </a:avLst>
          </a:prstGeom>
          <a:solidFill>
            <a:srgbClr val="F2A71B"/>
          </a:solidFill>
          <a:ln cap="flat" cmpd="sng" w="12700">
            <a:solidFill>
              <a:srgbClr val="F2A7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6446520" y="333756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2C00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3A2C00"/>
                </a:solidFill>
                <a:latin typeface="Courier New"/>
                <a:ea typeface="Courier New"/>
                <a:cs typeface="Courier New"/>
                <a:sym typeface="Courier New"/>
              </a:rPr>
              <a:t>02_Cronograma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8549640" y="3337560"/>
            <a:ext cx="2926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Formato2_Acuerdos_EquipoXX.docx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548640" y="4297680"/>
            <a:ext cx="11064240" cy="1051560"/>
          </a:xfrm>
          <a:prstGeom prst="roundRect">
            <a:avLst>
              <a:gd fmla="val 8696" name="adj"/>
            </a:avLst>
          </a:prstGeom>
          <a:solidFill>
            <a:srgbClr val="E9EF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777240" y="4498848"/>
            <a:ext cx="1417320" cy="640080"/>
          </a:xfrm>
          <a:prstGeom prst="roundRect">
            <a:avLst>
              <a:gd fmla="val 11429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777240" y="4498848"/>
            <a:ext cx="1417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Cronograma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2377440" y="4462272"/>
            <a:ext cx="39319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Tareas semanales con responsables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6446520" y="4572000"/>
            <a:ext cx="1920240" cy="502920"/>
          </a:xfrm>
          <a:prstGeom prst="roundRect">
            <a:avLst>
              <a:gd fmla="val 10909" name="adj"/>
            </a:avLst>
          </a:prstGeom>
          <a:solidFill>
            <a:srgbClr val="F2A71B"/>
          </a:solidFill>
          <a:ln cap="flat" cmpd="sng" w="12700">
            <a:solidFill>
              <a:srgbClr val="F2A7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6446520" y="457200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2C00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3A2C00"/>
                </a:solidFill>
                <a:latin typeface="Courier New"/>
                <a:ea typeface="Courier New"/>
                <a:cs typeface="Courier New"/>
                <a:sym typeface="Courier New"/>
              </a:rPr>
              <a:t>02_Cronograma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8549640" y="4572000"/>
            <a:ext cx="2926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Cronograma_tareas_EquipoXX.xlsx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Cambien XX por el número de su equipo. Si el archivo no tiene ese nombre, se pierde entre los demás.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"/>
          <p:cNvSpPr/>
          <p:nvPr/>
        </p:nvSpPr>
        <p:spPr>
          <a:xfrm>
            <a:off x="9555480" y="384048"/>
            <a:ext cx="2057400" cy="475488"/>
          </a:xfrm>
          <a:prstGeom prst="roundRect">
            <a:avLst>
              <a:gd fmla="val 19231" name="adj"/>
            </a:avLst>
          </a:prstGeom>
          <a:solidFill>
            <a:srgbClr val="F2A71B"/>
          </a:solidFill>
          <a:ln cap="flat" cmpd="sng" w="12700">
            <a:solidFill>
              <a:srgbClr val="F2A7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9555480" y="384048"/>
            <a:ext cx="2057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PASO 1 · 12 min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548640" y="347472"/>
            <a:ext cx="8778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100"/>
              <a:buFont typeface="Cambria"/>
              <a:buNone/>
            </a:pPr>
            <a:r>
              <a:rPr b="1" i="0" lang="en-US" sz="31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Miren el final primero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Escriban lo que va a existir el 29 de octubre, no lo que van a estar haciendo.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548640" y="1737360"/>
            <a:ext cx="5440680" cy="1828800"/>
          </a:xfrm>
          <a:prstGeom prst="roundRect">
            <a:avLst>
              <a:gd fmla="val 6000" name="adj"/>
            </a:avLst>
          </a:prstGeom>
          <a:solidFill>
            <a:srgbClr val="FBEDED"/>
          </a:solidFill>
          <a:ln cap="flat" cmpd="sng" w="12700">
            <a:solidFill>
              <a:srgbClr val="E4C2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822960" y="1938528"/>
            <a:ext cx="4892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✗  Esto no es un entregable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822960" y="2359152"/>
            <a:ext cx="48920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"Trabajar en el modelo"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"Avanzar en la programación"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"Investigar sobre el tema"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6172200" y="1737360"/>
            <a:ext cx="5440680" cy="1828800"/>
          </a:xfrm>
          <a:prstGeom prst="roundRect">
            <a:avLst>
              <a:gd fmla="val 6000" name="adj"/>
            </a:avLst>
          </a:prstGeom>
          <a:solidFill>
            <a:srgbClr val="EAF4EE"/>
          </a:solidFill>
          <a:ln cap="flat" cmpd="sng" w="12700">
            <a:solidFill>
              <a:srgbClr val="BFD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6446520" y="1938528"/>
            <a:ext cx="4892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✓  Esto sí lo 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6446520" y="2359152"/>
            <a:ext cx="48920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"Una pieza impresa que encaja en el soporte"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"Un menú que abre las tres pantallas"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"Un video de dos minutos con subtítulos"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548640" y="370332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La prueba: si no se puede señalar con el dedo o abrir en un computador, no es un entregable.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548640" y="4206240"/>
            <a:ext cx="731520" cy="4572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594360" y="4206240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N.º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1280160" y="4206240"/>
            <a:ext cx="4480560" cy="4572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1325880" y="4206240"/>
            <a:ext cx="4389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Qué debe existir el 29 de octubre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5760720" y="4206240"/>
            <a:ext cx="3291840" cy="4572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5806440" y="420624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¿Cómo sabremos que quedó bien?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9052560" y="4206240"/>
            <a:ext cx="2560320" cy="4572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9098280" y="420624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¿Para qué sesión?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548640" y="4663440"/>
            <a:ext cx="731520" cy="50292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621792" y="4663440"/>
            <a:ext cx="58521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Ej.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1280160" y="4663440"/>
            <a:ext cx="4480560" cy="50292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1353312" y="4663440"/>
            <a:ext cx="433425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Un prototipo que un estudiante de sexto use sin ayuda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5760720" y="4663440"/>
            <a:ext cx="3291840" cy="50292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5833872" y="4663440"/>
            <a:ext cx="314553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Tres personas lo usan sin explicación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9052560" y="4663440"/>
            <a:ext cx="2560320" cy="50292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9125712" y="4663440"/>
            <a:ext cx="241401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23 y 24 de sep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548640" y="5166360"/>
            <a:ext cx="73152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621792" y="5166360"/>
            <a:ext cx="58521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1280160" y="5166360"/>
            <a:ext cx="448056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5760720" y="5166360"/>
            <a:ext cx="329184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9052560" y="5166360"/>
            <a:ext cx="256032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548640" y="5669280"/>
            <a:ext cx="731520" cy="502920"/>
          </a:xfrm>
          <a:prstGeom prst="rect">
            <a:avLst/>
          </a:prstGeom>
          <a:solidFill>
            <a:srgbClr val="FBFCFE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621792" y="5669280"/>
            <a:ext cx="58521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1280160" y="5669280"/>
            <a:ext cx="4480560" cy="502920"/>
          </a:xfrm>
          <a:prstGeom prst="rect">
            <a:avLst/>
          </a:prstGeom>
          <a:solidFill>
            <a:srgbClr val="FBFCFE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5760720" y="5669280"/>
            <a:ext cx="3291840" cy="502920"/>
          </a:xfrm>
          <a:prstGeom prst="rect">
            <a:avLst/>
          </a:prstGeom>
          <a:solidFill>
            <a:srgbClr val="FBFCFE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9052560" y="5669280"/>
            <a:ext cx="2560320" cy="502920"/>
          </a:xfrm>
          <a:prstGeom prst="rect">
            <a:avLst/>
          </a:prstGeom>
          <a:solidFill>
            <a:srgbClr val="FBFCFE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/>
          <p:nvPr/>
        </p:nvSpPr>
        <p:spPr>
          <a:xfrm>
            <a:off x="9555480" y="384048"/>
            <a:ext cx="2057400" cy="475488"/>
          </a:xfrm>
          <a:prstGeom prst="roundRect">
            <a:avLst>
              <a:gd fmla="val 19231" name="adj"/>
            </a:avLst>
          </a:prstGeom>
          <a:solidFill>
            <a:srgbClr val="F2A71B"/>
          </a:solidFill>
          <a:ln cap="flat" cmpd="sng" w="12700">
            <a:solidFill>
              <a:srgbClr val="F2A7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9555480" y="384048"/>
            <a:ext cx="2057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PASO 2 · 15 min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548640" y="347472"/>
            <a:ext cx="8778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100"/>
              <a:buFont typeface="Cambria"/>
              <a:buNone/>
            </a:pPr>
            <a:r>
              <a:rPr b="1" i="0" lang="en-US" sz="31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Qué recursos necesitamos conseguir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Revisen las cinco categorías, incluso las que crean que no aplican.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548640" y="1828800"/>
            <a:ext cx="2057400" cy="1920240"/>
          </a:xfrm>
          <a:prstGeom prst="roundRect">
            <a:avLst>
              <a:gd fmla="val 5714" name="adj"/>
            </a:avLst>
          </a:prstGeom>
          <a:solidFill>
            <a:srgbClr val="E9EF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548640" y="1828800"/>
            <a:ext cx="2057400" cy="502920"/>
          </a:xfrm>
          <a:prstGeom prst="roundRect">
            <a:avLst>
              <a:gd fmla="val 18182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548640" y="1828800"/>
            <a:ext cx="2057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Materiales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685800" y="2514600"/>
            <a:ext cx="17830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¿Qué hay que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comprar o conseguir?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2798064" y="1828800"/>
            <a:ext cx="2057400" cy="1920240"/>
          </a:xfrm>
          <a:prstGeom prst="roundRect">
            <a:avLst>
              <a:gd fmla="val 5714" name="adj"/>
            </a:avLst>
          </a:prstGeom>
          <a:solidFill>
            <a:srgbClr val="E9EF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2798064" y="1828800"/>
            <a:ext cx="2057400" cy="502920"/>
          </a:xfrm>
          <a:prstGeom prst="roundRect">
            <a:avLst>
              <a:gd fmla="val 18182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2798064" y="1828800"/>
            <a:ext cx="2057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Software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2935224" y="2514600"/>
            <a:ext cx="17830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¿Qué programas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hay que instalar?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5047488" y="1828800"/>
            <a:ext cx="2057400" cy="1920240"/>
          </a:xfrm>
          <a:prstGeom prst="roundRect">
            <a:avLst>
              <a:gd fmla="val 5714" name="adj"/>
            </a:avLst>
          </a:prstGeom>
          <a:solidFill>
            <a:srgbClr val="E9EF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5047488" y="1828800"/>
            <a:ext cx="2057400" cy="502920"/>
          </a:xfrm>
          <a:prstGeom prst="roundRect">
            <a:avLst>
              <a:gd fmla="val 18182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5047488" y="1828800"/>
            <a:ext cx="2057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Equipos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5184648" y="2514600"/>
            <a:ext cx="17830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¿Qué máquinas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 dispositivos?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7296912" y="1828800"/>
            <a:ext cx="2057400" cy="1920240"/>
          </a:xfrm>
          <a:prstGeom prst="roundRect">
            <a:avLst>
              <a:gd fmla="val 5714" name="adj"/>
            </a:avLst>
          </a:prstGeom>
          <a:solidFill>
            <a:srgbClr val="E9EF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7296912" y="1828800"/>
            <a:ext cx="2057400" cy="502920"/>
          </a:xfrm>
          <a:prstGeom prst="roundRect">
            <a:avLst>
              <a:gd fmla="val 18182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"/>
          <p:cNvSpPr/>
          <p:nvPr/>
        </p:nvSpPr>
        <p:spPr>
          <a:xfrm>
            <a:off x="7296912" y="1828800"/>
            <a:ext cx="2057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Permisos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7434072" y="2514600"/>
            <a:ext cx="17830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¿A quién hay que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pedirle autorización?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9546336" y="1828800"/>
            <a:ext cx="2057400" cy="1920240"/>
          </a:xfrm>
          <a:prstGeom prst="roundRect">
            <a:avLst>
              <a:gd fmla="val 5714" name="adj"/>
            </a:avLst>
          </a:prstGeom>
          <a:solidFill>
            <a:srgbClr val="E9EF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"/>
          <p:cNvSpPr/>
          <p:nvPr/>
        </p:nvSpPr>
        <p:spPr>
          <a:xfrm>
            <a:off x="9546336" y="1828800"/>
            <a:ext cx="2057400" cy="502920"/>
          </a:xfrm>
          <a:prstGeom prst="roundRect">
            <a:avLst>
              <a:gd fmla="val 18182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9546336" y="1828800"/>
            <a:ext cx="2057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Personas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9683496" y="2514600"/>
            <a:ext cx="17830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¿Quiénes van 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probar el prototipo?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548640" y="4023360"/>
            <a:ext cx="11064240" cy="1737360"/>
          </a:xfrm>
          <a:prstGeom prst="roundRect">
            <a:avLst>
              <a:gd fmla="val 6316" name="adj"/>
            </a:avLst>
          </a:prstGeom>
          <a:solidFill>
            <a:srgbClr val="FDF3DE"/>
          </a:solidFill>
          <a:ln cap="flat" cmpd="sng" w="12700">
            <a:solidFill>
              <a:srgbClr val="E8D3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"/>
          <p:cNvSpPr/>
          <p:nvPr/>
        </p:nvSpPr>
        <p:spPr>
          <a:xfrm>
            <a:off x="914400" y="420624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5A00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8A5A00"/>
                </a:solidFill>
                <a:latin typeface="Cambria"/>
                <a:ea typeface="Cambria"/>
                <a:cs typeface="Cambria"/>
                <a:sym typeface="Cambria"/>
              </a:rPr>
              <a:t>Lo que de verdad atrasa un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914400" y="4617720"/>
            <a:ext cx="10332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A400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5A4000"/>
                </a:solidFill>
                <a:latin typeface="Calibri"/>
                <a:ea typeface="Calibri"/>
                <a:cs typeface="Calibri"/>
                <a:sym typeface="Calibri"/>
              </a:rPr>
              <a:t>Casi nunca es la falta de ideas. Es el permiso que nadie pidió, el cable que nadie consiguió o el programa que no se pudo instalar en los computadores del colegio. Por cada recurso escriban quién lo consigue y para cuándo.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"/>
          <p:cNvSpPr/>
          <p:nvPr/>
        </p:nvSpPr>
        <p:spPr>
          <a:xfrm>
            <a:off x="9555480" y="384048"/>
            <a:ext cx="2057400" cy="475488"/>
          </a:xfrm>
          <a:prstGeom prst="roundRect">
            <a:avLst>
              <a:gd fmla="val 19231" name="adj"/>
            </a:avLst>
          </a:prstGeom>
          <a:solidFill>
            <a:srgbClr val="F2A71B"/>
          </a:solidFill>
          <a:ln cap="flat" cmpd="sng" w="12700">
            <a:solidFill>
              <a:srgbClr val="F2A7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9555480" y="384048"/>
            <a:ext cx="2057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PASO 3 · 20 min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548640" y="347472"/>
            <a:ext cx="8778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100"/>
              <a:buFont typeface="Cambria"/>
              <a:buNone/>
            </a:pPr>
            <a:r>
              <a:rPr b="1" i="0" lang="en-US" sz="31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Pidan acciones, no programas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De esta tabla salen los tutoriales que el docente prepara para su equipo.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548640" y="1737360"/>
            <a:ext cx="5440680" cy="1691640"/>
          </a:xfrm>
          <a:prstGeom prst="roundRect">
            <a:avLst>
              <a:gd fmla="val 6486" name="adj"/>
            </a:avLst>
          </a:prstGeom>
          <a:solidFill>
            <a:srgbClr val="FBEDED"/>
          </a:solidFill>
          <a:ln cap="flat" cmpd="sng" w="12700">
            <a:solidFill>
              <a:srgbClr val="E4C2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"/>
          <p:cNvSpPr/>
          <p:nvPr/>
        </p:nvSpPr>
        <p:spPr>
          <a:xfrm>
            <a:off x="822960" y="1938528"/>
            <a:ext cx="4892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✗  No cabe en un tutorial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822960" y="2359152"/>
            <a:ext cx="4892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"Queremos aprender Unity"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"Necesitamos saber Blender"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"Enséñenos electrónica"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6172200" y="1737360"/>
            <a:ext cx="5440680" cy="1691640"/>
          </a:xfrm>
          <a:prstGeom prst="roundRect">
            <a:avLst>
              <a:gd fmla="val 6486" name="adj"/>
            </a:avLst>
          </a:prstGeom>
          <a:solidFill>
            <a:srgbClr val="EAF4EE"/>
          </a:solidFill>
          <a:ln cap="flat" cmpd="sng" w="12700">
            <a:solidFill>
              <a:srgbClr val="BFD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6446520" y="1938528"/>
            <a:ext cx="4892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✓  Sí cabe, y dura ocho minutos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6446520" y="2359152"/>
            <a:ext cx="4892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"Guardar el puntaje entre escenas"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"Exportar en STL sin errores de malla"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"Leer un sensor y mostrarlo en pantalla"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548640" y="3611880"/>
            <a:ext cx="7040880" cy="2514600"/>
          </a:xfrm>
          <a:prstGeom prst="roundRect">
            <a:avLst>
              <a:gd fmla="val 3636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"/>
          <p:cNvSpPr/>
          <p:nvPr/>
        </p:nvSpPr>
        <p:spPr>
          <a:xfrm>
            <a:off x="804672" y="3758184"/>
            <a:ext cx="65288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71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2A71B"/>
                </a:solidFill>
                <a:latin typeface="Calibri"/>
                <a:ea typeface="Calibri"/>
                <a:cs typeface="Calibri"/>
                <a:sym typeface="Calibri"/>
              </a:rPr>
              <a:t>PROMPT 1 · DESCOMPONER LA SOLUCIÓN EN HABILIDADES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804672" y="4105656"/>
            <a:ext cx="6528816" cy="1801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Nuestra solución es: [tres frases].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Línea: [3D / electrónica / software / multimedia].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Vamos a usar: [programa o materiales].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Sabemos hacer: [lo que ya manejan].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Descompón la solución en habilidades concretas 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verificables, de la más básica a la más avanzada.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Indica cuáles son indispensables y cuáles opcionales.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7772400" y="3611880"/>
            <a:ext cx="3840480" cy="2514600"/>
          </a:xfrm>
          <a:prstGeom prst="roundRect">
            <a:avLst>
              <a:gd fmla="val 4364" name="adj"/>
            </a:avLst>
          </a:prstGeom>
          <a:solidFill>
            <a:srgbClr val="E9EF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"/>
          <p:cNvSpPr/>
          <p:nvPr/>
        </p:nvSpPr>
        <p:spPr>
          <a:xfrm>
            <a:off x="8046720" y="3813048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Señal de alerta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8046720" y="4233672"/>
            <a:ext cx="329184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Si la lista pasa de doce habilidades, la solución es demasiado ambiciosa para tres meses.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Simplifíquenla ahora, no en octubre.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"/>
          <p:cNvSpPr/>
          <p:nvPr/>
        </p:nvSpPr>
        <p:spPr>
          <a:xfrm>
            <a:off x="9555480" y="384048"/>
            <a:ext cx="2057400" cy="475488"/>
          </a:xfrm>
          <a:prstGeom prst="roundRect">
            <a:avLst>
              <a:gd fmla="val 19231" name="adj"/>
            </a:avLst>
          </a:prstGeom>
          <a:solidFill>
            <a:srgbClr val="F2A71B"/>
          </a:solidFill>
          <a:ln cap="flat" cmpd="sng" w="12700">
            <a:solidFill>
              <a:srgbClr val="F2A7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9555480" y="384048"/>
            <a:ext cx="2057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PASO 3 · formato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548640" y="347472"/>
            <a:ext cx="8778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100"/>
              <a:buFont typeface="Cambria"/>
              <a:buNone/>
            </a:pPr>
            <a:r>
              <a:rPr b="1" i="0" lang="en-US" sz="31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La tabla que va a leer el docente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Entre más precisa la solicitud, más útil el tutorial que reciben.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548640" y="1783080"/>
            <a:ext cx="777240" cy="50292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594360" y="1783080"/>
            <a:ext cx="685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N.º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1325880" y="1783080"/>
            <a:ext cx="4892040" cy="50292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"/>
          <p:cNvSpPr/>
          <p:nvPr/>
        </p:nvSpPr>
        <p:spPr>
          <a:xfrm>
            <a:off x="1371600" y="1783080"/>
            <a:ext cx="4800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Qué necesitamos saber hacer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6217920" y="1783080"/>
            <a:ext cx="1920240" cy="50292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7"/>
          <p:cNvSpPr/>
          <p:nvPr/>
        </p:nvSpPr>
        <p:spPr>
          <a:xfrm>
            <a:off x="6263640" y="178308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¿Alguien ya sabe?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8138160" y="1783080"/>
            <a:ext cx="2103120" cy="50292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7"/>
          <p:cNvSpPr/>
          <p:nvPr/>
        </p:nvSpPr>
        <p:spPr>
          <a:xfrm>
            <a:off x="8183880" y="178308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¿Para qué sesión?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10241280" y="1783080"/>
            <a:ext cx="1371600" cy="50292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7"/>
          <p:cNvSpPr/>
          <p:nvPr/>
        </p:nvSpPr>
        <p:spPr>
          <a:xfrm>
            <a:off x="10287000" y="1783080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Prioridad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548640" y="2286000"/>
            <a:ext cx="777240" cy="530352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7"/>
          <p:cNvSpPr/>
          <p:nvPr/>
        </p:nvSpPr>
        <p:spPr>
          <a:xfrm>
            <a:off x="621792" y="2286000"/>
            <a:ext cx="630936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Ej.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1325880" y="2286000"/>
            <a:ext cx="4892040" cy="530352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7"/>
          <p:cNvSpPr/>
          <p:nvPr/>
        </p:nvSpPr>
        <p:spPr>
          <a:xfrm>
            <a:off x="1399032" y="2286000"/>
            <a:ext cx="4745736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Exportar un modelo de Blender en STL para impresión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6217920" y="2286000"/>
            <a:ext cx="1920240" cy="530352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"/>
          <p:cNvSpPr/>
          <p:nvPr/>
        </p:nvSpPr>
        <p:spPr>
          <a:xfrm>
            <a:off x="6291072" y="2286000"/>
            <a:ext cx="1773936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8138160" y="2286000"/>
            <a:ext cx="2103120" cy="530352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7"/>
          <p:cNvSpPr/>
          <p:nvPr/>
        </p:nvSpPr>
        <p:spPr>
          <a:xfrm>
            <a:off x="8211312" y="2286000"/>
            <a:ext cx="1956816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26 y 27 de agosto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10241280" y="2286000"/>
            <a:ext cx="1371600" cy="530352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"/>
          <p:cNvSpPr/>
          <p:nvPr/>
        </p:nvSpPr>
        <p:spPr>
          <a:xfrm>
            <a:off x="10314432" y="2286000"/>
            <a:ext cx="1225296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Alta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548640" y="2816352"/>
            <a:ext cx="777240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7"/>
          <p:cNvSpPr/>
          <p:nvPr/>
        </p:nvSpPr>
        <p:spPr>
          <a:xfrm>
            <a:off x="621792" y="2816352"/>
            <a:ext cx="630936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1325880" y="2816352"/>
            <a:ext cx="4892040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7"/>
          <p:cNvSpPr/>
          <p:nvPr/>
        </p:nvSpPr>
        <p:spPr>
          <a:xfrm>
            <a:off x="6217920" y="2816352"/>
            <a:ext cx="1920240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7"/>
          <p:cNvSpPr/>
          <p:nvPr/>
        </p:nvSpPr>
        <p:spPr>
          <a:xfrm>
            <a:off x="8138160" y="2816352"/>
            <a:ext cx="2103120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"/>
          <p:cNvSpPr/>
          <p:nvPr/>
        </p:nvSpPr>
        <p:spPr>
          <a:xfrm>
            <a:off x="10241280" y="2816352"/>
            <a:ext cx="1371600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7"/>
          <p:cNvSpPr/>
          <p:nvPr/>
        </p:nvSpPr>
        <p:spPr>
          <a:xfrm>
            <a:off x="548640" y="3346704"/>
            <a:ext cx="777240" cy="530352"/>
          </a:xfrm>
          <a:prstGeom prst="rect">
            <a:avLst/>
          </a:prstGeom>
          <a:solidFill>
            <a:srgbClr val="FBFCFE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7"/>
          <p:cNvSpPr/>
          <p:nvPr/>
        </p:nvSpPr>
        <p:spPr>
          <a:xfrm>
            <a:off x="621792" y="3346704"/>
            <a:ext cx="630936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1325880" y="3346704"/>
            <a:ext cx="4892040" cy="530352"/>
          </a:xfrm>
          <a:prstGeom prst="rect">
            <a:avLst/>
          </a:prstGeom>
          <a:solidFill>
            <a:srgbClr val="FBFCFE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7"/>
          <p:cNvSpPr/>
          <p:nvPr/>
        </p:nvSpPr>
        <p:spPr>
          <a:xfrm>
            <a:off x="6217920" y="3346704"/>
            <a:ext cx="1920240" cy="530352"/>
          </a:xfrm>
          <a:prstGeom prst="rect">
            <a:avLst/>
          </a:prstGeom>
          <a:solidFill>
            <a:srgbClr val="FBFCFE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7"/>
          <p:cNvSpPr/>
          <p:nvPr/>
        </p:nvSpPr>
        <p:spPr>
          <a:xfrm>
            <a:off x="8138160" y="3346704"/>
            <a:ext cx="2103120" cy="530352"/>
          </a:xfrm>
          <a:prstGeom prst="rect">
            <a:avLst/>
          </a:prstGeom>
          <a:solidFill>
            <a:srgbClr val="FBFCFE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7"/>
          <p:cNvSpPr/>
          <p:nvPr/>
        </p:nvSpPr>
        <p:spPr>
          <a:xfrm>
            <a:off x="10241280" y="3346704"/>
            <a:ext cx="1371600" cy="530352"/>
          </a:xfrm>
          <a:prstGeom prst="rect">
            <a:avLst/>
          </a:prstGeom>
          <a:solidFill>
            <a:srgbClr val="FBFCFE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7"/>
          <p:cNvSpPr/>
          <p:nvPr/>
        </p:nvSpPr>
        <p:spPr>
          <a:xfrm>
            <a:off x="548640" y="3877056"/>
            <a:ext cx="777240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7"/>
          <p:cNvSpPr/>
          <p:nvPr/>
        </p:nvSpPr>
        <p:spPr>
          <a:xfrm>
            <a:off x="621792" y="3877056"/>
            <a:ext cx="630936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1325880" y="3877056"/>
            <a:ext cx="4892040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7"/>
          <p:cNvSpPr/>
          <p:nvPr/>
        </p:nvSpPr>
        <p:spPr>
          <a:xfrm>
            <a:off x="6217920" y="3877056"/>
            <a:ext cx="1920240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7"/>
          <p:cNvSpPr/>
          <p:nvPr/>
        </p:nvSpPr>
        <p:spPr>
          <a:xfrm>
            <a:off x="8138160" y="3877056"/>
            <a:ext cx="2103120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"/>
          <p:cNvSpPr/>
          <p:nvPr/>
        </p:nvSpPr>
        <p:spPr>
          <a:xfrm>
            <a:off x="10241280" y="3877056"/>
            <a:ext cx="1371600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7"/>
          <p:cNvSpPr/>
          <p:nvPr/>
        </p:nvSpPr>
        <p:spPr>
          <a:xfrm>
            <a:off x="548640" y="4407408"/>
            <a:ext cx="777240" cy="530352"/>
          </a:xfrm>
          <a:prstGeom prst="rect">
            <a:avLst/>
          </a:prstGeom>
          <a:solidFill>
            <a:srgbClr val="FBFCFE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7"/>
          <p:cNvSpPr/>
          <p:nvPr/>
        </p:nvSpPr>
        <p:spPr>
          <a:xfrm>
            <a:off x="621792" y="4407408"/>
            <a:ext cx="630936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1325880" y="4407408"/>
            <a:ext cx="4892040" cy="530352"/>
          </a:xfrm>
          <a:prstGeom prst="rect">
            <a:avLst/>
          </a:prstGeom>
          <a:solidFill>
            <a:srgbClr val="FBFCFE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7"/>
          <p:cNvSpPr/>
          <p:nvPr/>
        </p:nvSpPr>
        <p:spPr>
          <a:xfrm>
            <a:off x="6217920" y="4407408"/>
            <a:ext cx="1920240" cy="530352"/>
          </a:xfrm>
          <a:prstGeom prst="rect">
            <a:avLst/>
          </a:prstGeom>
          <a:solidFill>
            <a:srgbClr val="FBFCFE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7"/>
          <p:cNvSpPr/>
          <p:nvPr/>
        </p:nvSpPr>
        <p:spPr>
          <a:xfrm>
            <a:off x="8138160" y="4407408"/>
            <a:ext cx="2103120" cy="530352"/>
          </a:xfrm>
          <a:prstGeom prst="rect">
            <a:avLst/>
          </a:prstGeom>
          <a:solidFill>
            <a:srgbClr val="FBFCFE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7"/>
          <p:cNvSpPr/>
          <p:nvPr/>
        </p:nvSpPr>
        <p:spPr>
          <a:xfrm>
            <a:off x="10241280" y="4407408"/>
            <a:ext cx="1371600" cy="530352"/>
          </a:xfrm>
          <a:prstGeom prst="rect">
            <a:avLst/>
          </a:prstGeom>
          <a:solidFill>
            <a:srgbClr val="FBFCFE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7"/>
          <p:cNvSpPr/>
          <p:nvPr/>
        </p:nvSpPr>
        <p:spPr>
          <a:xfrm>
            <a:off x="548640" y="4892040"/>
            <a:ext cx="11064240" cy="1051560"/>
          </a:xfrm>
          <a:prstGeom prst="roundRect">
            <a:avLst>
              <a:gd fmla="val 8696" name="adj"/>
            </a:avLst>
          </a:prstGeom>
          <a:solidFill>
            <a:srgbClr val="E9EF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7"/>
          <p:cNvSpPr/>
          <p:nvPr/>
        </p:nvSpPr>
        <p:spPr>
          <a:xfrm>
            <a:off x="914400" y="4892040"/>
            <a:ext cx="103327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Cuando terminen, avisen al docente. Los tutoriales llegan a la subcarpeta Tutoriales dentro de 04_Desarrollo. Si varios equipos piden lo mismo, el tutorial se hace grupal; lo que sea único de su proyecto se hace aparte.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"/>
          <p:cNvSpPr/>
          <p:nvPr/>
        </p:nvSpPr>
        <p:spPr>
          <a:xfrm>
            <a:off x="9555480" y="384048"/>
            <a:ext cx="2057400" cy="475488"/>
          </a:xfrm>
          <a:prstGeom prst="roundRect">
            <a:avLst>
              <a:gd fmla="val 19231" name="adj"/>
            </a:avLst>
          </a:prstGeom>
          <a:solidFill>
            <a:srgbClr val="F2A71B"/>
          </a:solidFill>
          <a:ln cap="flat" cmpd="sng" w="12700">
            <a:solidFill>
              <a:srgbClr val="F2A7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8"/>
          <p:cNvSpPr/>
          <p:nvPr/>
        </p:nvSpPr>
        <p:spPr>
          <a:xfrm>
            <a:off x="9555480" y="384048"/>
            <a:ext cx="2057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PASO 4 · 12 min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548640" y="347472"/>
            <a:ext cx="8778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100"/>
              <a:buFont typeface="Cambria"/>
              <a:buNone/>
            </a:pPr>
            <a:r>
              <a:rPr b="1" i="0" lang="en-US" sz="31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Ustedes deciden cómo se organizan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No hay roles impuestos. Lo único obligatorio es que quede por escrito.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548640" y="1737360"/>
            <a:ext cx="3520440" cy="1737360"/>
          </a:xfrm>
          <a:prstGeom prst="roundRect">
            <a:avLst>
              <a:gd fmla="val 6316" name="adj"/>
            </a:avLst>
          </a:prstGeom>
          <a:solidFill>
            <a:srgbClr val="E9EF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8"/>
          <p:cNvSpPr/>
          <p:nvPr/>
        </p:nvSpPr>
        <p:spPr>
          <a:xfrm>
            <a:off x="822960" y="1938528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Si son 3 o 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822960" y="2359152"/>
            <a:ext cx="2971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Cada quien responde por uno o dos frentes de trabajo.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4315968" y="1737360"/>
            <a:ext cx="3520440" cy="1737360"/>
          </a:xfrm>
          <a:prstGeom prst="roundRect">
            <a:avLst>
              <a:gd fmla="val 6316" name="adj"/>
            </a:avLst>
          </a:prstGeom>
          <a:solidFill>
            <a:srgbClr val="E9EF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8"/>
          <p:cNvSpPr/>
          <p:nvPr/>
        </p:nvSpPr>
        <p:spPr>
          <a:xfrm>
            <a:off x="4590288" y="1938528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Si son 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4590288" y="2359152"/>
            <a:ext cx="2971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Se reparten los frentes y se apoyan mutuamente en los pesados.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8092440" y="1737360"/>
            <a:ext cx="3520440" cy="1737360"/>
          </a:xfrm>
          <a:prstGeom prst="roundRect">
            <a:avLst>
              <a:gd fmla="val 6316" name="adj"/>
            </a:avLst>
          </a:prstGeom>
          <a:solidFill>
            <a:srgbClr val="E9EF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8"/>
          <p:cNvSpPr/>
          <p:nvPr/>
        </p:nvSpPr>
        <p:spPr>
          <a:xfrm>
            <a:off x="8366760" y="1938528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Si trabajas solo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8366760" y="2359152"/>
            <a:ext cx="2971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Repartes entre semanas: en qué momento te dedicas a cada frente.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548640" y="370332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Los cinco acuerdos que evitan casi todos los problemas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777240" y="4233672"/>
            <a:ext cx="256032" cy="256032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8"/>
          <p:cNvSpPr/>
          <p:nvPr/>
        </p:nvSpPr>
        <p:spPr>
          <a:xfrm>
            <a:off x="777240" y="4233672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1234440" y="4160520"/>
            <a:ext cx="10058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¿Cómo nos comunicamos entre sesiones?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777240" y="4645152"/>
            <a:ext cx="256032" cy="256032"/>
          </a:xfrm>
          <a:prstGeom prst="ellipse">
            <a:avLst/>
          </a:prstGeom>
          <a:solidFill>
            <a:srgbClr val="F2A71B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8"/>
          <p:cNvSpPr/>
          <p:nvPr/>
        </p:nvSpPr>
        <p:spPr>
          <a:xfrm>
            <a:off x="777240" y="4645152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1234440" y="4572000"/>
            <a:ext cx="10058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¿Qué hacemos si alguien no cumple lo que le tocaba?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777240" y="5056632"/>
            <a:ext cx="256032" cy="256032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8"/>
          <p:cNvSpPr/>
          <p:nvPr/>
        </p:nvSpPr>
        <p:spPr>
          <a:xfrm>
            <a:off x="777240" y="5056632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1234440" y="4983480"/>
            <a:ext cx="10058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¿Cómo decidimos cuando no estamos de acuerdo?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777240" y="5468112"/>
            <a:ext cx="256032" cy="256032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8"/>
          <p:cNvSpPr/>
          <p:nvPr/>
        </p:nvSpPr>
        <p:spPr>
          <a:xfrm>
            <a:off x="777240" y="5468112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1234440" y="5394960"/>
            <a:ext cx="10058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¿Cada cuánto revisamos el cronograma?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777240" y="5879592"/>
            <a:ext cx="256032" cy="256032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8"/>
          <p:cNvSpPr/>
          <p:nvPr/>
        </p:nvSpPr>
        <p:spPr>
          <a:xfrm>
            <a:off x="777240" y="5879592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1234440" y="5806440"/>
            <a:ext cx="10058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¿Cuándo cambian los responsables de cada frente?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El acuerdo 2 es el que nadie escribe y el que más falta hace. Háganlo hoy, cuando todavía no ha pasado nada.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9"/>
          <p:cNvSpPr/>
          <p:nvPr/>
        </p:nvSpPr>
        <p:spPr>
          <a:xfrm>
            <a:off x="9555480" y="384048"/>
            <a:ext cx="2057400" cy="475488"/>
          </a:xfrm>
          <a:prstGeom prst="roundRect">
            <a:avLst>
              <a:gd fmla="val 19231" name="adj"/>
            </a:avLst>
          </a:prstGeom>
          <a:solidFill>
            <a:srgbClr val="F2A71B"/>
          </a:solidFill>
          <a:ln cap="flat" cmpd="sng" w="12700">
            <a:solidFill>
              <a:srgbClr val="F2A7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9"/>
          <p:cNvSpPr/>
          <p:nvPr/>
        </p:nvSpPr>
        <p:spPr>
          <a:xfrm>
            <a:off x="9555480" y="384048"/>
            <a:ext cx="2057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PASO 5 · 20 min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548640" y="347472"/>
            <a:ext cx="8778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100"/>
              <a:buFont typeface="Cambria"/>
              <a:buNone/>
            </a:pPr>
            <a:r>
              <a:rPr b="1" i="0" lang="en-US" sz="31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Ahora sí, el cronograma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Con el Formato 1 y el Formato 2 al lado. Si no los llenaron, este prompt no sirve.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548640" y="1691640"/>
            <a:ext cx="7589520" cy="4434840"/>
          </a:xfrm>
          <a:prstGeom prst="roundRect">
            <a:avLst>
              <a:gd fmla="val 2062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9"/>
          <p:cNvSpPr/>
          <p:nvPr/>
        </p:nvSpPr>
        <p:spPr>
          <a:xfrm>
            <a:off x="804672" y="1837944"/>
            <a:ext cx="70774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71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2A71B"/>
                </a:solidFill>
                <a:latin typeface="Calibri"/>
                <a:ea typeface="Calibri"/>
                <a:cs typeface="Calibri"/>
                <a:sym typeface="Calibri"/>
              </a:rPr>
              <a:t>PROMPT 2 · CRONOGRAMA DE TAREAS SEMANALES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804672" y="2185416"/>
            <a:ext cx="7077456" cy="3721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Actúa como asesor de proyectos escolares.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NUESTRO PROYECTO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Solución: [tres frases]. Objetivos: [pégalos].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Línea: [3D / electrónica / software / multimedia].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Somos [1 a 4]: [nombres y de qué responde cada uno].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Entregables: [pega la parte A del Formato 1].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Recursos que faltan: [parte B]. Aprendizajes: [parte C].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CALENDARIO, 90 minutos por sesión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5-6 ago, 12-13 ago, 19-20 ago, 26-27 ago, 2-3 sep,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9-10 sep, 16-17 sep, 23-24 sep, 30 sep-1 oct,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receso 3-12 oct, 14-15 oct, 21-22 oct, 28-29 oct.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PARA CADA SESIÓN DAME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- máximo tres tareas que quepan en 90 minutos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- quién de nosotros responde por cada tarea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- el entregable que queda guardado en Drive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- qué necesitamos del docente: tutorial, revisión,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fecha de entrega, préstamo de equipo, gestión de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espacio o permiso, apoyo de otro equipo, usuarios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8366760" y="1691640"/>
            <a:ext cx="3246120" cy="2103120"/>
          </a:xfrm>
          <a:prstGeom prst="roundRect">
            <a:avLst>
              <a:gd fmla="val 5217" name="adj"/>
            </a:avLst>
          </a:prstGeom>
          <a:solidFill>
            <a:srgbClr val="FDF3DE"/>
          </a:solidFill>
          <a:ln cap="flat" cmpd="sng" w="12700">
            <a:solidFill>
              <a:srgbClr val="E8D3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9"/>
          <p:cNvSpPr/>
          <p:nvPr/>
        </p:nvSpPr>
        <p:spPr>
          <a:xfrm>
            <a:off x="8641080" y="1892808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Lo nuevo aquí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9"/>
          <p:cNvSpPr/>
          <p:nvPr/>
        </p:nvSpPr>
        <p:spPr>
          <a:xfrm>
            <a:off x="8641080" y="2313432"/>
            <a:ext cx="26974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El prompt pide también las tareas del docente. Eso no es un favor: es lo que ustedes necesitan para poder cumplir.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Cierren pidiendo que reparta la carga pareja entre los integrantes.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8366760" y="4023360"/>
            <a:ext cx="3246120" cy="2103120"/>
          </a:xfrm>
          <a:prstGeom prst="roundRect">
            <a:avLst>
              <a:gd fmla="val 5217" name="adj"/>
            </a:avLst>
          </a:prstGeom>
          <a:solidFill>
            <a:srgbClr val="E9EF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9"/>
          <p:cNvSpPr/>
          <p:nvPr/>
        </p:nvSpPr>
        <p:spPr>
          <a:xfrm>
            <a:off x="8641080" y="4224528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El prompt completo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8641080" y="4645152"/>
            <a:ext cx="26974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Está en la hoja Instrucciones del Excel, listo para copiar. Tengan abiertos los formatos 1 y 2.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0"/>
          <p:cNvSpPr/>
          <p:nvPr/>
        </p:nvSpPr>
        <p:spPr>
          <a:xfrm>
            <a:off x="548640" y="347472"/>
            <a:ext cx="8778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100"/>
              <a:buFont typeface="Cambria"/>
              <a:buNone/>
            </a:pPr>
            <a:r>
              <a:rPr b="1" i="0" lang="en-US" sz="31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Revisen lo que devolvió antes de copiarlo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0"/>
          <p:cNvSpPr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La IA no conoce su colegio ni sus horarios. Cinco cosas que casi siempre hay que corregir.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548640" y="1783080"/>
            <a:ext cx="11064240" cy="731520"/>
          </a:xfrm>
          <a:prstGeom prst="roundRect">
            <a:avLst>
              <a:gd fmla="val 12500" name="adj"/>
            </a:avLst>
          </a:prstGeom>
          <a:solidFill>
            <a:srgbClr val="E9EF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0"/>
          <p:cNvSpPr/>
          <p:nvPr/>
        </p:nvSpPr>
        <p:spPr>
          <a:xfrm>
            <a:off x="822960" y="1783080"/>
            <a:ext cx="457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71B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2A71B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1417320" y="1783080"/>
            <a:ext cx="5669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Tareas que no caben en 90 minutos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7223760" y="1783080"/>
            <a:ext cx="4114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▶   Divídanlas en dos sesiones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548640" y="2651760"/>
            <a:ext cx="11064240" cy="731520"/>
          </a:xfrm>
          <a:prstGeom prst="roundRect">
            <a:avLst>
              <a:gd fmla="val 12500" name="adj"/>
            </a:avLst>
          </a:prstGeom>
          <a:solidFill>
            <a:srgbClr val="F4F7FD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0"/>
          <p:cNvSpPr/>
          <p:nvPr/>
        </p:nvSpPr>
        <p:spPr>
          <a:xfrm>
            <a:off x="822960" y="2651760"/>
            <a:ext cx="457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71B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2A71B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0"/>
          <p:cNvSpPr/>
          <p:nvPr/>
        </p:nvSpPr>
        <p:spPr>
          <a:xfrm>
            <a:off x="1417320" y="2651760"/>
            <a:ext cx="5669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Un integrante con el doble de tareas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0"/>
          <p:cNvSpPr/>
          <p:nvPr/>
        </p:nvSpPr>
        <p:spPr>
          <a:xfrm>
            <a:off x="7223760" y="2651760"/>
            <a:ext cx="4114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▶   Repártanlas de nuevo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548640" y="3520440"/>
            <a:ext cx="11064240" cy="731520"/>
          </a:xfrm>
          <a:prstGeom prst="roundRect">
            <a:avLst>
              <a:gd fmla="val 12500" name="adj"/>
            </a:avLst>
          </a:prstGeom>
          <a:solidFill>
            <a:srgbClr val="E9EF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0"/>
          <p:cNvSpPr/>
          <p:nvPr/>
        </p:nvSpPr>
        <p:spPr>
          <a:xfrm>
            <a:off x="822960" y="3520440"/>
            <a:ext cx="457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71B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2A71B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0"/>
          <p:cNvSpPr/>
          <p:nvPr/>
        </p:nvSpPr>
        <p:spPr>
          <a:xfrm>
            <a:off x="1417320" y="3520440"/>
            <a:ext cx="5669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Tareas escritas en general, tipo "avanzar"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0"/>
          <p:cNvSpPr/>
          <p:nvPr/>
        </p:nvSpPr>
        <p:spPr>
          <a:xfrm>
            <a:off x="7223760" y="3520440"/>
            <a:ext cx="4114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▶   Reescríbanlas con un verbo concreto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0"/>
          <p:cNvSpPr/>
          <p:nvPr/>
        </p:nvSpPr>
        <p:spPr>
          <a:xfrm>
            <a:off x="548640" y="4389120"/>
            <a:ext cx="11064240" cy="731520"/>
          </a:xfrm>
          <a:prstGeom prst="roundRect">
            <a:avLst>
              <a:gd fmla="val 12500" name="adj"/>
            </a:avLst>
          </a:prstGeom>
          <a:solidFill>
            <a:srgbClr val="F4F7FD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0"/>
          <p:cNvSpPr/>
          <p:nvPr/>
        </p:nvSpPr>
        <p:spPr>
          <a:xfrm>
            <a:off x="822960" y="4389120"/>
            <a:ext cx="457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71B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2A71B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0"/>
          <p:cNvSpPr/>
          <p:nvPr/>
        </p:nvSpPr>
        <p:spPr>
          <a:xfrm>
            <a:off x="1417320" y="4389120"/>
            <a:ext cx="5669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Apoyos del docente que nunca pidieron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0"/>
          <p:cNvSpPr/>
          <p:nvPr/>
        </p:nvSpPr>
        <p:spPr>
          <a:xfrm>
            <a:off x="7223760" y="4389120"/>
            <a:ext cx="4114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▶   Bórrenlos o cámbienlos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0"/>
          <p:cNvSpPr/>
          <p:nvPr/>
        </p:nvSpPr>
        <p:spPr>
          <a:xfrm>
            <a:off x="548640" y="5257800"/>
            <a:ext cx="11064240" cy="731520"/>
          </a:xfrm>
          <a:prstGeom prst="roundRect">
            <a:avLst>
              <a:gd fmla="val 12500" name="adj"/>
            </a:avLst>
          </a:prstGeom>
          <a:solidFill>
            <a:srgbClr val="E9EF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0"/>
          <p:cNvSpPr/>
          <p:nvPr/>
        </p:nvSpPr>
        <p:spPr>
          <a:xfrm>
            <a:off x="822960" y="5257800"/>
            <a:ext cx="457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71B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2A71B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0"/>
          <p:cNvSpPr/>
          <p:nvPr/>
        </p:nvSpPr>
        <p:spPr>
          <a:xfrm>
            <a:off x="1417320" y="5257800"/>
            <a:ext cx="5669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Semanas sin ningún entregable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0"/>
          <p:cNvSpPr/>
          <p:nvPr/>
        </p:nvSpPr>
        <p:spPr>
          <a:xfrm>
            <a:off x="7223760" y="5257800"/>
            <a:ext cx="4114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▶   Algo tiene que quedar guardado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0"/>
          <p:cNvSpPr/>
          <p:nvPr/>
        </p:nvSpPr>
        <p:spPr>
          <a:xfrm>
            <a:off x="548640" y="6217920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El cronograma es de ustedes. La IA solo hizo un borrador y casi siempre se equivoca en los tiempos.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1"/>
          <p:cNvSpPr/>
          <p:nvPr/>
        </p:nvSpPr>
        <p:spPr>
          <a:xfrm>
            <a:off x="548640" y="347472"/>
            <a:ext cx="8778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100"/>
              <a:buFont typeface="Cambria"/>
              <a:buNone/>
            </a:pPr>
            <a:r>
              <a:rPr b="1" i="0" lang="en-US" sz="31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Cómo se llena el Excel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1"/>
          <p:cNvSpPr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Tres colores, tres reglas. Cada semana tiene tres renglones para tareas.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1"/>
          <p:cNvSpPr/>
          <p:nvPr/>
        </p:nvSpPr>
        <p:spPr>
          <a:xfrm>
            <a:off x="548640" y="1828800"/>
            <a:ext cx="11064240" cy="960120"/>
          </a:xfrm>
          <a:prstGeom prst="roundRect">
            <a:avLst>
              <a:gd fmla="val 9524" name="adj"/>
            </a:avLst>
          </a:prstGeom>
          <a:solidFill>
            <a:srgbClr val="CADCFC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1"/>
          <p:cNvSpPr/>
          <p:nvPr/>
        </p:nvSpPr>
        <p:spPr>
          <a:xfrm>
            <a:off x="868680" y="1828800"/>
            <a:ext cx="1371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Azul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1"/>
          <p:cNvSpPr/>
          <p:nvPr/>
        </p:nvSpPr>
        <p:spPr>
          <a:xfrm>
            <a:off x="2377440" y="1828800"/>
            <a:ext cx="39319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Semana, fechas, sesión y fase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1"/>
          <p:cNvSpPr/>
          <p:nvPr/>
        </p:nvSpPr>
        <p:spPr>
          <a:xfrm>
            <a:off x="6492240" y="1828800"/>
            <a:ext cx="48463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Ya viene puesto. No se modifica.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1"/>
          <p:cNvSpPr/>
          <p:nvPr/>
        </p:nvSpPr>
        <p:spPr>
          <a:xfrm>
            <a:off x="548640" y="2971800"/>
            <a:ext cx="11064240" cy="960120"/>
          </a:xfrm>
          <a:prstGeom prst="roundRect">
            <a:avLst>
              <a:gd fmla="val 9524" name="adj"/>
            </a:avLst>
          </a:prstGeom>
          <a:solidFill>
            <a:srgbClr val="FFF2CC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1"/>
          <p:cNvSpPr/>
          <p:nvPr/>
        </p:nvSpPr>
        <p:spPr>
          <a:xfrm>
            <a:off x="868680" y="2971800"/>
            <a:ext cx="1371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5A00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8A5A00"/>
                </a:solidFill>
                <a:latin typeface="Cambria"/>
                <a:ea typeface="Cambria"/>
                <a:cs typeface="Cambria"/>
                <a:sym typeface="Cambria"/>
              </a:rPr>
              <a:t>Amarillo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1"/>
          <p:cNvSpPr/>
          <p:nvPr/>
        </p:nvSpPr>
        <p:spPr>
          <a:xfrm>
            <a:off x="2377440" y="2971800"/>
            <a:ext cx="39319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Tarea, responsable y entregable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1"/>
          <p:cNvSpPr/>
          <p:nvPr/>
        </p:nvSpPr>
        <p:spPr>
          <a:xfrm>
            <a:off x="6492240" y="2971800"/>
            <a:ext cx="48463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Lo llenan hoy, para todo el semestre.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1"/>
          <p:cNvSpPr/>
          <p:nvPr/>
        </p:nvSpPr>
        <p:spPr>
          <a:xfrm>
            <a:off x="548640" y="4114800"/>
            <a:ext cx="11064240" cy="960120"/>
          </a:xfrm>
          <a:prstGeom prst="roundRect">
            <a:avLst>
              <a:gd fmla="val 9524" name="adj"/>
            </a:avLst>
          </a:prstGeom>
          <a:solidFill>
            <a:srgbClr val="E2EFDA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1"/>
          <p:cNvSpPr/>
          <p:nvPr/>
        </p:nvSpPr>
        <p:spPr>
          <a:xfrm>
            <a:off x="868680" y="4114800"/>
            <a:ext cx="1371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7A4B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2C7A4B"/>
                </a:solidFill>
                <a:latin typeface="Cambria"/>
                <a:ea typeface="Cambria"/>
                <a:cs typeface="Cambria"/>
                <a:sym typeface="Cambria"/>
              </a:rPr>
              <a:t>Verde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1"/>
          <p:cNvSpPr/>
          <p:nvPr/>
        </p:nvSpPr>
        <p:spPr>
          <a:xfrm>
            <a:off x="2377440" y="4114800"/>
            <a:ext cx="39319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Apoyo del docente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1"/>
          <p:cNvSpPr/>
          <p:nvPr/>
        </p:nvSpPr>
        <p:spPr>
          <a:xfrm>
            <a:off x="6492240" y="4114800"/>
            <a:ext cx="48463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Lo que necesitan de él. Se confirma en clase.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1"/>
          <p:cNvSpPr/>
          <p:nvPr/>
        </p:nvSpPr>
        <p:spPr>
          <a:xfrm>
            <a:off x="548640" y="5349240"/>
            <a:ext cx="11064240" cy="914400"/>
          </a:xfrm>
          <a:prstGeom prst="roundRect">
            <a:avLst>
              <a:gd fmla="val 10000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1"/>
          <p:cNvSpPr/>
          <p:nvPr/>
        </p:nvSpPr>
        <p:spPr>
          <a:xfrm>
            <a:off x="914400" y="5349240"/>
            <a:ext cx="10332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Desde la próxima sesión: al terminar cada clase se llenan estado, porcentaje de avance, avance real y ajuste. Dos minutos, y hace parte de la evaluación del proceso.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2"/>
          <p:cNvSpPr/>
          <p:nvPr/>
        </p:nvSpPr>
        <p:spPr>
          <a:xfrm>
            <a:off x="-1737360" y="4023360"/>
            <a:ext cx="4206240" cy="4206240"/>
          </a:xfrm>
          <a:prstGeom prst="ellipse">
            <a:avLst/>
          </a:prstGeom>
          <a:solidFill>
            <a:srgbClr val="141C46"/>
          </a:solidFill>
          <a:ln cap="flat" cmpd="sng" w="12700">
            <a:solidFill>
              <a:srgbClr val="141C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2"/>
          <p:cNvSpPr/>
          <p:nvPr/>
        </p:nvSpPr>
        <p:spPr>
          <a:xfrm>
            <a:off x="822960" y="68580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Lista de salida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2"/>
          <p:cNvSpPr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Lo que quede sin marcar, díganlo en voz alta antes de irse.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2"/>
          <p:cNvSpPr/>
          <p:nvPr/>
        </p:nvSpPr>
        <p:spPr>
          <a:xfrm>
            <a:off x="822960" y="2057400"/>
            <a:ext cx="292608" cy="292608"/>
          </a:xfrm>
          <a:prstGeom prst="roundRect">
            <a:avLst>
              <a:gd fmla="val 15625" name="adj"/>
            </a:avLst>
          </a:prstGeom>
          <a:solidFill>
            <a:srgbClr val="141C46"/>
          </a:solidFill>
          <a:ln cap="flat" cmpd="sng" w="19050">
            <a:solidFill>
              <a:srgbClr val="F2A7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2"/>
          <p:cNvSpPr/>
          <p:nvPr/>
        </p:nvSpPr>
        <p:spPr>
          <a:xfrm>
            <a:off x="1325880" y="1993392"/>
            <a:ext cx="10058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Formato 1 lleno en sus tres partes, guardado en 04_Desarrollo.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2"/>
          <p:cNvSpPr/>
          <p:nvPr/>
        </p:nvSpPr>
        <p:spPr>
          <a:xfrm>
            <a:off x="822960" y="2606040"/>
            <a:ext cx="292608" cy="292608"/>
          </a:xfrm>
          <a:prstGeom prst="roundRect">
            <a:avLst>
              <a:gd fmla="val 15625" name="adj"/>
            </a:avLst>
          </a:prstGeom>
          <a:solidFill>
            <a:srgbClr val="141C46"/>
          </a:solidFill>
          <a:ln cap="flat" cmpd="sng" w="19050">
            <a:solidFill>
              <a:srgbClr val="F2A7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2"/>
          <p:cNvSpPr/>
          <p:nvPr/>
        </p:nvSpPr>
        <p:spPr>
          <a:xfrm>
            <a:off x="1325880" y="2542032"/>
            <a:ext cx="10058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Mínimo cuatro habilidades pedidas en la tabla de tutoriales.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2"/>
          <p:cNvSpPr/>
          <p:nvPr/>
        </p:nvSpPr>
        <p:spPr>
          <a:xfrm>
            <a:off x="822960" y="3154680"/>
            <a:ext cx="292608" cy="292608"/>
          </a:xfrm>
          <a:prstGeom prst="roundRect">
            <a:avLst>
              <a:gd fmla="val 15625" name="adj"/>
            </a:avLst>
          </a:prstGeom>
          <a:solidFill>
            <a:srgbClr val="141C46"/>
          </a:solidFill>
          <a:ln cap="flat" cmpd="sng" w="19050">
            <a:solidFill>
              <a:srgbClr val="F2A7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2"/>
          <p:cNvSpPr/>
          <p:nvPr/>
        </p:nvSpPr>
        <p:spPr>
          <a:xfrm>
            <a:off x="1325880" y="3090672"/>
            <a:ext cx="10058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Formato 2 lleno y firmado, guardado en 02_Cronograma.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2"/>
          <p:cNvSpPr/>
          <p:nvPr/>
        </p:nvSpPr>
        <p:spPr>
          <a:xfrm>
            <a:off x="822960" y="3703320"/>
            <a:ext cx="292608" cy="292608"/>
          </a:xfrm>
          <a:prstGeom prst="roundRect">
            <a:avLst>
              <a:gd fmla="val 15625" name="adj"/>
            </a:avLst>
          </a:prstGeom>
          <a:solidFill>
            <a:srgbClr val="141C46"/>
          </a:solidFill>
          <a:ln cap="flat" cmpd="sng" w="19050">
            <a:solidFill>
              <a:srgbClr val="F2A7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2"/>
          <p:cNvSpPr/>
          <p:nvPr/>
        </p:nvSpPr>
        <p:spPr>
          <a:xfrm>
            <a:off x="1325880" y="3639312"/>
            <a:ext cx="10058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Excel tiene tareas y responsable en todas las semanas.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2"/>
          <p:cNvSpPr/>
          <p:nvPr/>
        </p:nvSpPr>
        <p:spPr>
          <a:xfrm>
            <a:off x="822960" y="4251960"/>
            <a:ext cx="292608" cy="292608"/>
          </a:xfrm>
          <a:prstGeom prst="roundRect">
            <a:avLst>
              <a:gd fmla="val 15625" name="adj"/>
            </a:avLst>
          </a:prstGeom>
          <a:solidFill>
            <a:srgbClr val="141C46"/>
          </a:solidFill>
          <a:ln cap="flat" cmpd="sng" w="19050">
            <a:solidFill>
              <a:srgbClr val="F2A7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2"/>
          <p:cNvSpPr/>
          <p:nvPr/>
        </p:nvSpPr>
        <p:spPr>
          <a:xfrm>
            <a:off x="1325880" y="4187952"/>
            <a:ext cx="10058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 columna verde dice qué necesitamos del docente y cuándo.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2"/>
          <p:cNvSpPr/>
          <p:nvPr/>
        </p:nvSpPr>
        <p:spPr>
          <a:xfrm>
            <a:off x="822960" y="4800600"/>
            <a:ext cx="292608" cy="292608"/>
          </a:xfrm>
          <a:prstGeom prst="roundRect">
            <a:avLst>
              <a:gd fmla="val 15625" name="adj"/>
            </a:avLst>
          </a:prstGeom>
          <a:solidFill>
            <a:srgbClr val="141C46"/>
          </a:solidFill>
          <a:ln cap="flat" cmpd="sng" w="19050">
            <a:solidFill>
              <a:srgbClr val="F2A7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2"/>
          <p:cNvSpPr/>
          <p:nvPr/>
        </p:nvSpPr>
        <p:spPr>
          <a:xfrm>
            <a:off x="1325880" y="4736592"/>
            <a:ext cx="10058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Revisamos el borrador de la IA y corregimos lo que no cuadraba.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2"/>
          <p:cNvSpPr/>
          <p:nvPr/>
        </p:nvSpPr>
        <p:spPr>
          <a:xfrm>
            <a:off x="822960" y="5349240"/>
            <a:ext cx="292608" cy="292608"/>
          </a:xfrm>
          <a:prstGeom prst="roundRect">
            <a:avLst>
              <a:gd fmla="val 15625" name="adj"/>
            </a:avLst>
          </a:prstGeom>
          <a:solidFill>
            <a:srgbClr val="141C46"/>
          </a:solidFill>
          <a:ln cap="flat" cmpd="sng" w="19050">
            <a:solidFill>
              <a:srgbClr val="F2A7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2"/>
          <p:cNvSpPr/>
          <p:nvPr/>
        </p:nvSpPr>
        <p:spPr>
          <a:xfrm>
            <a:off x="1325880" y="5285232"/>
            <a:ext cx="10058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Los tres archivos tienen el número de nuestro equipo en el nombre.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2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0DE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9FB0DE"/>
                </a:solidFill>
                <a:latin typeface="Calibri"/>
                <a:ea typeface="Calibri"/>
                <a:cs typeface="Calibri"/>
                <a:sym typeface="Calibri"/>
              </a:rPr>
              <a:t>Próxima sesión, 12 y 13 de agosto: completar la matriz hasta cinco antecedentes verificados y redactar ese apartado.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2026-08-05T09:12:02Z</dcterms:created>
  <dc:creator>PptxGenJS</dc:creator>
</cp:coreProperties>
</file>